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4" r:id="rId2"/>
  </p:sldMasterIdLst>
  <p:sldIdLst>
    <p:sldId id="256" r:id="rId3"/>
    <p:sldId id="257" r:id="rId4"/>
    <p:sldId id="258" r:id="rId5"/>
    <p:sldId id="259" r:id="rId6"/>
    <p:sldId id="260" r:id="rId7"/>
    <p:sldId id="261" r:id="rId8"/>
    <p:sldId id="262" r:id="rId9"/>
    <p:sldId id="263" r:id="rId10"/>
    <p:sldId id="264" r:id="rId11"/>
    <p:sldId id="265" r:id="rId12"/>
    <p:sldId id="267" r:id="rId13"/>
    <p:sldId id="268" r:id="rId14"/>
    <p:sldId id="269" r:id="rId15"/>
    <p:sldId id="271" r:id="rId16"/>
    <p:sldId id="272" r:id="rId17"/>
    <p:sldId id="274" r:id="rId18"/>
    <p:sldId id="273"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9" r:id="rId35"/>
    <p:sldId id="297" r:id="rId36"/>
    <p:sldId id="298" r:id="rId37"/>
    <p:sldId id="300" r:id="rId38"/>
    <p:sldId id="301" r:id="rId39"/>
    <p:sldId id="302" r:id="rId40"/>
    <p:sldId id="303" r:id="rId41"/>
    <p:sldId id="304" r:id="rId42"/>
    <p:sldId id="306" r:id="rId43"/>
    <p:sldId id="305"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5" r:id="rId62"/>
    <p:sldId id="324"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38" r:id="rId76"/>
    <p:sldId id="339" r:id="rId77"/>
    <p:sldId id="340" r:id="rId78"/>
    <p:sldId id="341" r:id="rId79"/>
    <p:sldId id="342" r:id="rId80"/>
    <p:sldId id="343" r:id="rId81"/>
    <p:sldId id="358" r:id="rId82"/>
    <p:sldId id="359" r:id="rId83"/>
    <p:sldId id="360" r:id="rId84"/>
    <p:sldId id="344" r:id="rId85"/>
    <p:sldId id="345" r:id="rId86"/>
    <p:sldId id="361" r:id="rId87"/>
    <p:sldId id="362" r:id="rId88"/>
    <p:sldId id="346" r:id="rId89"/>
    <p:sldId id="347" r:id="rId90"/>
    <p:sldId id="363" r:id="rId91"/>
    <p:sldId id="348" r:id="rId92"/>
    <p:sldId id="364" r:id="rId93"/>
    <p:sldId id="270" r:id="rId94"/>
    <p:sldId id="275" r:id="rId95"/>
    <p:sldId id="276" r:id="rId96"/>
    <p:sldId id="277" r:id="rId97"/>
    <p:sldId id="278" r:id="rId98"/>
    <p:sldId id="279" r:id="rId99"/>
    <p:sldId id="280" r:id="rId100"/>
    <p:sldId id="281" r:id="rId10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27" autoAdjust="0"/>
    <p:restoredTop sz="94660"/>
  </p:normalViewPr>
  <p:slideViewPr>
    <p:cSldViewPr snapToGrid="0">
      <p:cViewPr varScale="1">
        <p:scale>
          <a:sx n="63" d="100"/>
          <a:sy n="63" d="100"/>
        </p:scale>
        <p:origin x="8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39" name="Content Placeholder"/>
          <p:cNvSpPr txBox="1">
            <a:spLocks noGrp="1"/>
          </p:cNvSpPr>
          <p:nvPr>
            <p:ph type="body" idx="1"/>
          </p:nvPr>
        </p:nvSpPr>
        <p:spPr>
          <a:xfrm>
            <a:off x="609600" y="816429"/>
            <a:ext cx="109728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pPr lvl="0"/>
            <a:r>
              <a:rPr lang="en-US"/>
              <a:t>Click to edit Master text styles</a:t>
            </a:r>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609601" y="1600201"/>
            <a:ext cx="5863167"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6705600" y="1600200"/>
            <a:ext cx="48768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6705600" y="3252789"/>
            <a:ext cx="4876800" cy="2873375"/>
          </a:xfrm>
        </p:spPr>
        <p:txBody>
          <a:bodyPr/>
          <a:lstStyle>
            <a:lvl1pPr marL="101600" indent="0">
              <a:buNone/>
              <a:defRPr sz="2200"/>
            </a:lvl1pPr>
          </a:lstStyle>
          <a:p>
            <a:pPr lvl="0"/>
            <a:r>
              <a:rPr lang="en-US" dirty="0"/>
              <a:t>Chapter name</a:t>
            </a: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fld id="{2747252F-8587-41D2-B568-B4C12DC64E5C}" type="slidenum">
              <a:rPr lang="en-US" smtClean="0"/>
              <a:t>‹#›</a:t>
            </a:fld>
            <a:endParaRPr lang="en-US"/>
          </a:p>
        </p:txBody>
      </p:sp>
    </p:spTree>
    <p:extLst>
      <p:ext uri="{BB962C8B-B14F-4D97-AF65-F5344CB8AC3E}">
        <p14:creationId xmlns:p14="http://schemas.microsoft.com/office/powerpoint/2010/main" val="1393299132"/>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20" name="Content Placeholder"/>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r>
              <a:rPr lang="en-US"/>
              <a:t>Click to edit Master subtitle style</a:t>
            </a:r>
            <a:endParaRPr dirty="0"/>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fld id="{2747252F-8587-41D2-B568-B4C12DC64E5C}" type="slidenum">
              <a:rPr lang="en-US" smtClean="0"/>
              <a:t>‹#›</a:t>
            </a:fld>
            <a:endParaRPr lang="en-US"/>
          </a:p>
        </p:txBody>
      </p:sp>
    </p:spTree>
    <p:extLst>
      <p:ext uri="{BB962C8B-B14F-4D97-AF65-F5344CB8AC3E}">
        <p14:creationId xmlns:p14="http://schemas.microsoft.com/office/powerpoint/2010/main" val="3103727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E336-DCD4-1F17-E217-5C485191D3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36D6E2-0608-F09B-554F-8070C3DD67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0B79CD-4ABF-D3D7-0A41-CA36F53783C9}"/>
              </a:ext>
            </a:extLst>
          </p:cNvPr>
          <p:cNvSpPr>
            <a:spLocks noGrp="1"/>
          </p:cNvSpPr>
          <p:nvPr>
            <p:ph type="dt" sz="half" idx="10"/>
          </p:nvPr>
        </p:nvSpPr>
        <p:spPr/>
        <p:txBody>
          <a:bodyPr/>
          <a:lstStyle/>
          <a:p>
            <a:fld id="{BBC917E2-FEAC-45B2-B704-100693152B5E}" type="datetimeFigureOut">
              <a:rPr lang="en-US" smtClean="0"/>
              <a:t>6/14/2025</a:t>
            </a:fld>
            <a:endParaRPr lang="en-US"/>
          </a:p>
        </p:txBody>
      </p:sp>
      <p:sp>
        <p:nvSpPr>
          <p:cNvPr id="5" name="Footer Placeholder 4">
            <a:extLst>
              <a:ext uri="{FF2B5EF4-FFF2-40B4-BE49-F238E27FC236}">
                <a16:creationId xmlns:a16="http://schemas.microsoft.com/office/drawing/2014/main" id="{A7ECA0A3-ED16-D7A5-046D-FA616704A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7025E-6232-1B86-AA7E-008885D0B8BE}"/>
              </a:ext>
            </a:extLst>
          </p:cNvPr>
          <p:cNvSpPr>
            <a:spLocks noGrp="1"/>
          </p:cNvSpPr>
          <p:nvPr>
            <p:ph type="sldNum" sz="quarter" idx="12"/>
          </p:nvPr>
        </p:nvSpPr>
        <p:spPr/>
        <p:txBody>
          <a:bodyPr/>
          <a:lstStyle/>
          <a:p>
            <a:fld id="{2747252F-8587-41D2-B568-B4C12DC64E5C}" type="slidenum">
              <a:rPr lang="en-US" smtClean="0"/>
              <a:t>‹#›</a:t>
            </a:fld>
            <a:endParaRPr lang="en-US"/>
          </a:p>
        </p:txBody>
      </p:sp>
    </p:spTree>
    <p:extLst>
      <p:ext uri="{BB962C8B-B14F-4D97-AF65-F5344CB8AC3E}">
        <p14:creationId xmlns:p14="http://schemas.microsoft.com/office/powerpoint/2010/main" val="2049302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609601" y="1441450"/>
            <a:ext cx="10977033" cy="4709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6382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a:t>Click to 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a:t>Click to 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856591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609601" y="1556328"/>
            <a:ext cx="4847167" cy="4520623"/>
          </a:xfrm>
        </p:spPr>
        <p:txBody>
          <a:bodyPr/>
          <a:lstStyle/>
          <a:p>
            <a:pPr lvl="0"/>
            <a:r>
              <a:rPr lang="en-US"/>
              <a:t>Click to 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5646057" y="1556327"/>
            <a:ext cx="5936343" cy="2267528"/>
          </a:xfrm>
        </p:spPr>
        <p:txBody>
          <a:bodyPr/>
          <a:lstStyle/>
          <a:p>
            <a:pPr lvl="0"/>
            <a:r>
              <a:rPr lang="en-US"/>
              <a:t>Click to 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5646056" y="3971926"/>
            <a:ext cx="5936344" cy="2105025"/>
          </a:xfrm>
        </p:spPr>
        <p:txBody>
          <a:bodyPr/>
          <a:lstStyle/>
          <a:p>
            <a:pPr lvl="0"/>
            <a:r>
              <a:rPr lang="en-US"/>
              <a:t>Click to 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094059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5322627"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259773" y="1552575"/>
            <a:ext cx="5322627"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438766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09602" y="1552575"/>
            <a:ext cx="3460804"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365599" y="1552575"/>
            <a:ext cx="3460803"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8121597" y="1552575"/>
            <a:ext cx="3460804"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262233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251460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3430124" y="1552575"/>
            <a:ext cx="251460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250648" y="1552575"/>
            <a:ext cx="251460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9071171" y="1552575"/>
            <a:ext cx="251460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32274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609600" y="228601"/>
            <a:ext cx="109728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609601" y="1512889"/>
            <a:ext cx="10977033" cy="3417887"/>
          </a:xfrm>
        </p:spPr>
        <p:txBody>
          <a:bodyPr/>
          <a:lstStyle/>
          <a:p>
            <a:r>
              <a:rPr lang="en-US"/>
              <a:t>Click icon to add picture</a:t>
            </a:r>
            <a:endParaRPr lang="en-US" dirty="0"/>
          </a:p>
        </p:txBody>
      </p:sp>
      <p:sp>
        <p:nvSpPr>
          <p:cNvPr id="55" name="Content Placeholder"/>
          <p:cNvSpPr txBox="1">
            <a:spLocks noGrp="1"/>
          </p:cNvSpPr>
          <p:nvPr>
            <p:ph type="body" idx="1" hasCustomPrompt="1"/>
          </p:nvPr>
        </p:nvSpPr>
        <p:spPr>
          <a:xfrm>
            <a:off x="609600" y="5050972"/>
            <a:ext cx="109728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dk1"/>
                </a:solidFill>
              </a:rPr>
              <a:pPr algn="r">
                <a:buSzPct val="25000"/>
              </a:pPr>
              <a:t>‹#›</a:t>
            </a:fld>
            <a:endParaRPr lang="en-US" sz="900">
              <a:solidFill>
                <a:schemeClr val="dk1"/>
              </a:solidFill>
            </a:endParaRPr>
          </a:p>
        </p:txBody>
      </p:sp>
    </p:spTree>
    <p:extLst>
      <p:ext uri="{BB962C8B-B14F-4D97-AF65-F5344CB8AC3E}">
        <p14:creationId xmlns:p14="http://schemas.microsoft.com/office/powerpoint/2010/main" val="216324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609600" y="1481139"/>
            <a:ext cx="5979584"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6731000" y="1481139"/>
            <a:ext cx="485140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609600" y="5343525"/>
            <a:ext cx="109728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a:xfrm>
            <a:off x="8447617" y="113072"/>
            <a:ext cx="2844799" cy="182879"/>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074921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3977218" y="4359276"/>
            <a:ext cx="4643967"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3977217" y="1681163"/>
            <a:ext cx="4643967"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1077479" y="1681163"/>
            <a:ext cx="1627621"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1077479" y="2647157"/>
            <a:ext cx="1608667"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1077479" y="3613151"/>
            <a:ext cx="1608667"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9842499" y="1681163"/>
            <a:ext cx="1739900"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9842499" y="2651590"/>
            <a:ext cx="1739900"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9842499" y="3613152"/>
            <a:ext cx="1739900"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a:xfrm>
            <a:off x="8447617" y="113072"/>
            <a:ext cx="2844799" cy="182879"/>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4010595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a:t>Click to edit Master title style</a:t>
            </a:r>
            <a:endParaRPr lang="en-US" dirty="0"/>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609602" y="4392614"/>
            <a:ext cx="2809764"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609600" y="1817688"/>
            <a:ext cx="2809765"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3699497" y="1794947"/>
            <a:ext cx="204615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3699497" y="2707482"/>
            <a:ext cx="204615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3699497" y="3597276"/>
            <a:ext cx="204615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6575462" y="4347440"/>
            <a:ext cx="2809764"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6575462" y="1806537"/>
            <a:ext cx="2809764"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9739441" y="1794947"/>
            <a:ext cx="204615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9739439" y="2707481"/>
            <a:ext cx="204615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9739439" y="3579818"/>
            <a:ext cx="204616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a:xfrm>
            <a:off x="8447617" y="113072"/>
            <a:ext cx="2844799" cy="182879"/>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934416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914400" y="1447801"/>
            <a:ext cx="103632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899583" y="3962400"/>
            <a:ext cx="1039283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pPr lvl="0"/>
            <a:r>
              <a:rPr lang="en-US"/>
              <a:t>Click to edit Master text styles</a:t>
            </a:r>
          </a:p>
        </p:txBody>
      </p:sp>
      <p:sp>
        <p:nvSpPr>
          <p:cNvPr id="72" name="Shape 7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467798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E336-DCD4-1F17-E217-5C485191D3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36D6E2-0608-F09B-554F-8070C3DD67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0B79CD-4ABF-D3D7-0A41-CA36F53783C9}"/>
              </a:ext>
            </a:extLst>
          </p:cNvPr>
          <p:cNvSpPr>
            <a:spLocks noGrp="1"/>
          </p:cNvSpPr>
          <p:nvPr>
            <p:ph type="dt" sz="half" idx="10"/>
          </p:nvPr>
        </p:nvSpPr>
        <p:spPr/>
        <p:txBody>
          <a:bodyPr/>
          <a:lstStyle/>
          <a:p>
            <a:fld id="{BBC917E2-FEAC-45B2-B704-100693152B5E}" type="datetimeFigureOut">
              <a:rPr lang="en-US" smtClean="0"/>
              <a:t>6/14/2025</a:t>
            </a:fld>
            <a:endParaRPr lang="en-US"/>
          </a:p>
        </p:txBody>
      </p:sp>
      <p:sp>
        <p:nvSpPr>
          <p:cNvPr id="5" name="Footer Placeholder 4">
            <a:extLst>
              <a:ext uri="{FF2B5EF4-FFF2-40B4-BE49-F238E27FC236}">
                <a16:creationId xmlns:a16="http://schemas.microsoft.com/office/drawing/2014/main" id="{A7ECA0A3-ED16-D7A5-046D-FA616704A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7025E-6232-1B86-AA7E-008885D0B8BE}"/>
              </a:ext>
            </a:extLst>
          </p:cNvPr>
          <p:cNvSpPr>
            <a:spLocks noGrp="1"/>
          </p:cNvSpPr>
          <p:nvPr>
            <p:ph type="sldNum" sz="quarter" idx="12"/>
          </p:nvPr>
        </p:nvSpPr>
        <p:spPr/>
        <p:txBody>
          <a:bodyPr/>
          <a:lstStyle/>
          <a:p>
            <a:fld id="{2747252F-8587-41D2-B568-B4C12DC64E5C}" type="slidenum">
              <a:rPr lang="en-US" smtClean="0"/>
              <a:t>‹#›</a:t>
            </a:fld>
            <a:endParaRPr lang="en-US"/>
          </a:p>
        </p:txBody>
      </p:sp>
    </p:spTree>
    <p:extLst>
      <p:ext uri="{BB962C8B-B14F-4D97-AF65-F5344CB8AC3E}">
        <p14:creationId xmlns:p14="http://schemas.microsoft.com/office/powerpoint/2010/main" val="25796568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fld id="{2747252F-8587-41D2-B568-B4C12DC64E5C}" type="slidenum">
              <a:rPr lang="en-US" smtClean="0"/>
              <a:t>‹#›</a:t>
            </a:fld>
            <a:endParaRPr lang="en-US"/>
          </a:p>
        </p:txBody>
      </p:sp>
      <p:sp>
        <p:nvSpPr>
          <p:cNvPr id="9" name="TextBox 8">
            <a:extLst>
              <a:ext uri="{FF2B5EF4-FFF2-40B4-BE49-F238E27FC236}">
                <a16:creationId xmlns:a16="http://schemas.microsoft.com/office/drawing/2014/main" id="{898403F3-1A1C-4086-9B8B-3CC54035999C}"/>
              </a:ext>
            </a:extLst>
          </p:cNvPr>
          <p:cNvSpPr txBox="1"/>
          <p:nvPr/>
        </p:nvSpPr>
        <p:spPr>
          <a:xfrm flipH="1">
            <a:off x="8273141" y="6313176"/>
            <a:ext cx="3309256" cy="369332"/>
          </a:xfrm>
          <a:prstGeom prst="rect">
            <a:avLst/>
          </a:prstGeom>
          <a:noFill/>
        </p:spPr>
        <p:txBody>
          <a:bodyPr wrap="square" rtlCol="0">
            <a:spAutoFit/>
          </a:bodyPr>
          <a:lstStyle/>
          <a:p>
            <a:pPr algn="r"/>
            <a:r>
              <a:rPr lang="en-US" sz="1800" b="1" dirty="0" err="1">
                <a:solidFill>
                  <a:schemeClr val="accent1">
                    <a:lumMod val="60000"/>
                    <a:lumOff val="40000"/>
                  </a:schemeClr>
                </a:solidFill>
              </a:rPr>
              <a:t>Jayasri</a:t>
            </a:r>
            <a:endParaRPr lang="en-US" sz="1800" b="1" dirty="0">
              <a:solidFill>
                <a:schemeClr val="accent1">
                  <a:lumMod val="60000"/>
                  <a:lumOff val="40000"/>
                </a:schemeClr>
              </a:solidFill>
            </a:endParaRPr>
          </a:p>
        </p:txBody>
      </p:sp>
      <p:pic>
        <p:nvPicPr>
          <p:cNvPr id="4" name="Picture 3">
            <a:extLst>
              <a:ext uri="{FF2B5EF4-FFF2-40B4-BE49-F238E27FC236}">
                <a16:creationId xmlns:a16="http://schemas.microsoft.com/office/drawing/2014/main" id="{2CB7AEAF-F11F-442F-B3DB-0DC8E1DDF69E}"/>
              </a:ext>
            </a:extLst>
          </p:cNvPr>
          <p:cNvPicPr>
            <a:picLocks noChangeAspect="1"/>
          </p:cNvPicPr>
          <p:nvPr/>
        </p:nvPicPr>
        <p:blipFill>
          <a:blip r:embed="rId5"/>
          <a:stretch>
            <a:fillRect/>
          </a:stretch>
        </p:blipFill>
        <p:spPr>
          <a:xfrm>
            <a:off x="618311" y="5949723"/>
            <a:ext cx="1228453" cy="921340"/>
          </a:xfrm>
          <a:prstGeom prst="rect">
            <a:avLst/>
          </a:prstGeom>
        </p:spPr>
      </p:pic>
      <p:sp>
        <p:nvSpPr>
          <p:cNvPr id="12" name="TextBox 11">
            <a:extLst>
              <a:ext uri="{FF2B5EF4-FFF2-40B4-BE49-F238E27FC236}">
                <a16:creationId xmlns:a16="http://schemas.microsoft.com/office/drawing/2014/main" id="{0949580F-9F00-4F99-B6B1-26597E6562DF}"/>
              </a:ext>
            </a:extLst>
          </p:cNvPr>
          <p:cNvSpPr txBox="1"/>
          <p:nvPr/>
        </p:nvSpPr>
        <p:spPr>
          <a:xfrm flipH="1">
            <a:off x="1596554" y="6313177"/>
            <a:ext cx="4325273" cy="369332"/>
          </a:xfrm>
          <a:prstGeom prst="rect">
            <a:avLst/>
          </a:prstGeom>
          <a:noFill/>
        </p:spPr>
        <p:txBody>
          <a:bodyPr wrap="square" rtlCol="0">
            <a:spAutoFit/>
          </a:bodyPr>
          <a:lstStyle/>
          <a:p>
            <a:r>
              <a:rPr lang="en-US" sz="1800" b="1" dirty="0">
                <a:solidFill>
                  <a:schemeClr val="accent1">
                    <a:lumMod val="60000"/>
                    <a:lumOff val="40000"/>
                  </a:schemeClr>
                </a:solidFill>
              </a:rPr>
              <a:t>ACE ENGINEERING COLLEGE</a:t>
            </a:r>
          </a:p>
        </p:txBody>
      </p:sp>
    </p:spTree>
    <p:extLst>
      <p:ext uri="{BB962C8B-B14F-4D97-AF65-F5344CB8AC3E}">
        <p14:creationId xmlns:p14="http://schemas.microsoft.com/office/powerpoint/2010/main" val="28160221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7" name="TextBox 16">
            <a:extLst>
              <a:ext uri="{FF2B5EF4-FFF2-40B4-BE49-F238E27FC236}">
                <a16:creationId xmlns:a16="http://schemas.microsoft.com/office/drawing/2014/main" id="{27CC3BB5-1D86-46D5-AE48-71ABDA16B66D}"/>
              </a:ext>
            </a:extLst>
          </p:cNvPr>
          <p:cNvSpPr txBox="1"/>
          <p:nvPr/>
        </p:nvSpPr>
        <p:spPr>
          <a:xfrm flipH="1">
            <a:off x="8273141" y="6313177"/>
            <a:ext cx="3309256" cy="307777"/>
          </a:xfrm>
          <a:prstGeom prst="rect">
            <a:avLst/>
          </a:prstGeom>
          <a:noFill/>
        </p:spPr>
        <p:txBody>
          <a:bodyPr wrap="square" rtlCol="0">
            <a:spAutoFit/>
          </a:bodyPr>
          <a:lstStyle/>
          <a:p>
            <a:pPr algn="r"/>
            <a:r>
              <a:rPr lang="en-US" sz="1400" b="1" dirty="0" err="1">
                <a:solidFill>
                  <a:schemeClr val="accent1">
                    <a:lumMod val="60000"/>
                    <a:lumOff val="40000"/>
                  </a:schemeClr>
                </a:solidFill>
              </a:rPr>
              <a:t>Jayasri</a:t>
            </a:r>
            <a:endParaRPr lang="en-US" sz="1400" b="1" dirty="0">
              <a:solidFill>
                <a:schemeClr val="accent1">
                  <a:lumMod val="60000"/>
                  <a:lumOff val="40000"/>
                </a:schemeClr>
              </a:solidFill>
            </a:endParaRPr>
          </a:p>
        </p:txBody>
      </p:sp>
      <p:pic>
        <p:nvPicPr>
          <p:cNvPr id="18" name="Picture 17">
            <a:extLst>
              <a:ext uri="{FF2B5EF4-FFF2-40B4-BE49-F238E27FC236}">
                <a16:creationId xmlns:a16="http://schemas.microsoft.com/office/drawing/2014/main" id="{756D831A-AB11-4A8B-AC7C-3135AE31E270}"/>
              </a:ext>
            </a:extLst>
          </p:cNvPr>
          <p:cNvPicPr>
            <a:picLocks noChangeAspect="1"/>
          </p:cNvPicPr>
          <p:nvPr/>
        </p:nvPicPr>
        <p:blipFill>
          <a:blip r:embed="rId14"/>
          <a:stretch>
            <a:fillRect/>
          </a:stretch>
        </p:blipFill>
        <p:spPr>
          <a:xfrm>
            <a:off x="618311" y="5949723"/>
            <a:ext cx="1228453" cy="921340"/>
          </a:xfrm>
          <a:prstGeom prst="rect">
            <a:avLst/>
          </a:prstGeom>
        </p:spPr>
      </p:pic>
      <p:sp>
        <p:nvSpPr>
          <p:cNvPr id="19" name="TextBox 18">
            <a:extLst>
              <a:ext uri="{FF2B5EF4-FFF2-40B4-BE49-F238E27FC236}">
                <a16:creationId xmlns:a16="http://schemas.microsoft.com/office/drawing/2014/main" id="{6FC6E57E-D093-4D52-8424-9F52C27ED41D}"/>
              </a:ext>
            </a:extLst>
          </p:cNvPr>
          <p:cNvSpPr txBox="1"/>
          <p:nvPr/>
        </p:nvSpPr>
        <p:spPr>
          <a:xfrm flipH="1">
            <a:off x="1596554" y="6313177"/>
            <a:ext cx="4325273" cy="307777"/>
          </a:xfrm>
          <a:prstGeom prst="rect">
            <a:avLst/>
          </a:prstGeom>
          <a:noFill/>
        </p:spPr>
        <p:txBody>
          <a:bodyPr wrap="square" rtlCol="0">
            <a:spAutoFit/>
          </a:bodyPr>
          <a:lstStyle/>
          <a:p>
            <a:r>
              <a:rPr lang="en-US" sz="1400" b="1" dirty="0">
                <a:solidFill>
                  <a:schemeClr val="accent1">
                    <a:lumMod val="60000"/>
                    <a:lumOff val="40000"/>
                  </a:schemeClr>
                </a:solidFill>
              </a:rPr>
              <a:t>ACE ENGINEERING COLLEGE</a:t>
            </a:r>
          </a:p>
        </p:txBody>
      </p:sp>
      <p:sp>
        <p:nvSpPr>
          <p:cNvPr id="20" name="TextBox 19">
            <a:extLst>
              <a:ext uri="{FF2B5EF4-FFF2-40B4-BE49-F238E27FC236}">
                <a16:creationId xmlns:a16="http://schemas.microsoft.com/office/drawing/2014/main" id="{65EFD184-3B21-4269-92E2-AA0C1D0CECA1}"/>
              </a:ext>
            </a:extLst>
          </p:cNvPr>
          <p:cNvSpPr txBox="1"/>
          <p:nvPr/>
        </p:nvSpPr>
        <p:spPr>
          <a:xfrm rot="5400000">
            <a:off x="10582987" y="3135087"/>
            <a:ext cx="2762295" cy="307777"/>
          </a:xfrm>
          <a:prstGeom prst="rect">
            <a:avLst/>
          </a:prstGeom>
          <a:noFill/>
        </p:spPr>
        <p:txBody>
          <a:bodyPr wrap="none" rtlCol="0">
            <a:spAutoFit/>
          </a:bodyPr>
          <a:lstStyle/>
          <a:p>
            <a:r>
              <a:rPr lang="en-US" sz="1400" b="1" dirty="0">
                <a:solidFill>
                  <a:schemeClr val="accent1">
                    <a:lumMod val="60000"/>
                    <a:lumOff val="40000"/>
                  </a:schemeClr>
                </a:solidFill>
              </a:rPr>
              <a:t>Information Retrieval Systems</a:t>
            </a:r>
          </a:p>
        </p:txBody>
      </p:sp>
      <p:sp>
        <p:nvSpPr>
          <p:cNvPr id="2" name="TextBox 1">
            <a:extLst>
              <a:ext uri="{FF2B5EF4-FFF2-40B4-BE49-F238E27FC236}">
                <a16:creationId xmlns:a16="http://schemas.microsoft.com/office/drawing/2014/main" id="{341856B6-7AA4-4EE6-8533-B06E980F891C}"/>
              </a:ext>
            </a:extLst>
          </p:cNvPr>
          <p:cNvSpPr txBox="1"/>
          <p:nvPr/>
        </p:nvSpPr>
        <p:spPr>
          <a:xfrm>
            <a:off x="11425647" y="45553"/>
            <a:ext cx="674003" cy="307777"/>
          </a:xfrm>
          <a:prstGeom prst="rect">
            <a:avLst/>
          </a:prstGeom>
          <a:noFill/>
        </p:spPr>
        <p:txBody>
          <a:bodyPr wrap="square" rtlCol="0">
            <a:spAutoFit/>
          </a:bodyPr>
          <a:lstStyle/>
          <a:p>
            <a:pPr algn="r"/>
            <a:fld id="{6C35DBDA-768B-41DA-92F1-86237CE345C5}" type="slidenum">
              <a:rPr lang="en-US" sz="1400" b="1" smtClean="0">
                <a:latin typeface="Book Antiqua" panose="02040602050305030304" pitchFamily="18" charset="0"/>
              </a:rPr>
              <a:pPr algn="r"/>
              <a:t>‹#›</a:t>
            </a:fld>
            <a:endParaRPr lang="en-US" sz="1400" b="1" dirty="0">
              <a:latin typeface="Book Antiqua" panose="02040602050305030304" pitchFamily="18" charset="0"/>
            </a:endParaRPr>
          </a:p>
        </p:txBody>
      </p:sp>
    </p:spTree>
    <p:extLst>
      <p:ext uri="{BB962C8B-B14F-4D97-AF65-F5344CB8AC3E}">
        <p14:creationId xmlns:p14="http://schemas.microsoft.com/office/powerpoint/2010/main" val="101801389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3C2E63-3518-455B-C418-5104B246A695}"/>
              </a:ext>
            </a:extLst>
          </p:cNvPr>
          <p:cNvSpPr>
            <a:spLocks noGrp="1"/>
          </p:cNvSpPr>
          <p:nvPr>
            <p:ph type="ctrTitle"/>
          </p:nvPr>
        </p:nvSpPr>
        <p:spPr/>
        <p:txBody>
          <a:bodyPr/>
          <a:lstStyle/>
          <a:p>
            <a:r>
              <a:rPr lang="en-US" dirty="0"/>
              <a:t>Information Retrieval Systems</a:t>
            </a:r>
          </a:p>
        </p:txBody>
      </p:sp>
      <p:sp>
        <p:nvSpPr>
          <p:cNvPr id="5" name="Subtitle 4">
            <a:extLst>
              <a:ext uri="{FF2B5EF4-FFF2-40B4-BE49-F238E27FC236}">
                <a16:creationId xmlns:a16="http://schemas.microsoft.com/office/drawing/2014/main" id="{E2C20E9E-14DC-8766-D7D3-40641CC6566E}"/>
              </a:ext>
            </a:extLst>
          </p:cNvPr>
          <p:cNvSpPr>
            <a:spLocks noGrp="1"/>
          </p:cNvSpPr>
          <p:nvPr>
            <p:ph type="subTitle" idx="1"/>
          </p:nvPr>
        </p:nvSpPr>
        <p:spPr/>
        <p:txBody>
          <a:bodyPr/>
          <a:lstStyle/>
          <a:p>
            <a:pPr algn="ctr"/>
            <a:br>
              <a:rPr lang="en-US" sz="3600" b="1" dirty="0">
                <a:solidFill>
                  <a:srgbClr val="007FA3"/>
                </a:solidFill>
              </a:rPr>
            </a:br>
            <a:r>
              <a:rPr lang="en-US" sz="3600" b="1" dirty="0">
                <a:solidFill>
                  <a:srgbClr val="007FA3"/>
                </a:solidFill>
              </a:rPr>
              <a:t>UNIT - IV</a:t>
            </a:r>
            <a:endParaRPr lang="en-US" sz="3600" dirty="0"/>
          </a:p>
          <a:p>
            <a:endParaRPr lang="en-US" sz="3600" dirty="0"/>
          </a:p>
        </p:txBody>
      </p:sp>
    </p:spTree>
    <p:extLst>
      <p:ext uri="{BB962C8B-B14F-4D97-AF65-F5344CB8AC3E}">
        <p14:creationId xmlns:p14="http://schemas.microsoft.com/office/powerpoint/2010/main" val="3523490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15DB88-AAB9-BBFA-AD1F-FA3BF2336C1A}"/>
              </a:ext>
            </a:extLst>
          </p:cNvPr>
          <p:cNvSpPr>
            <a:spLocks noGrp="1"/>
          </p:cNvSpPr>
          <p:nvPr>
            <p:ph type="title"/>
          </p:nvPr>
        </p:nvSpPr>
        <p:spPr/>
        <p:txBody>
          <a:bodyPr/>
          <a:lstStyle/>
          <a:p>
            <a:r>
              <a:rPr lang="en-US" sz="3600" dirty="0">
                <a:latin typeface="+mj-lt"/>
              </a:rPr>
              <a:t>AGENDA</a:t>
            </a:r>
            <a:endParaRPr lang="en-US" dirty="0"/>
          </a:p>
        </p:txBody>
      </p:sp>
      <p:sp>
        <p:nvSpPr>
          <p:cNvPr id="5" name="Content Placeholder 4">
            <a:extLst>
              <a:ext uri="{FF2B5EF4-FFF2-40B4-BE49-F238E27FC236}">
                <a16:creationId xmlns:a16="http://schemas.microsoft.com/office/drawing/2014/main" id="{4C7654EA-BA50-BF0D-4532-AC57C40DE01B}"/>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User Search Techniques</a:t>
            </a:r>
            <a:r>
              <a:rPr lang="en-US" sz="2600" dirty="0">
                <a:latin typeface="Calibri" panose="020F0502020204030204" pitchFamily="34" charset="0"/>
                <a:cs typeface="Calibri" panose="020F0502020204030204" pitchFamily="34" charset="0"/>
              </a:rPr>
              <a:t>: Search Statements and Binding, Similarity Measures and Ranking, Relevance Feedback, Selective Dissemination of Information Search, Weighted Searches of Boolean Systems, Searching the INTERNET and Hypertext </a:t>
            </a:r>
          </a:p>
          <a:p>
            <a:r>
              <a:rPr lang="en-US" sz="2600" b="1" dirty="0">
                <a:latin typeface="Calibri" panose="020F0502020204030204" pitchFamily="34" charset="0"/>
                <a:cs typeface="Calibri" panose="020F0502020204030204" pitchFamily="34" charset="0"/>
              </a:rPr>
              <a:t>Information Visualization</a:t>
            </a:r>
            <a:r>
              <a:rPr lang="en-US" sz="2600" dirty="0">
                <a:latin typeface="Calibri" panose="020F0502020204030204" pitchFamily="34" charset="0"/>
                <a:cs typeface="Calibri" panose="020F0502020204030204" pitchFamily="34" charset="0"/>
              </a:rPr>
              <a:t>: Introduction to Information Visualization, Cognition and Perception, Information Visualization Technologies </a:t>
            </a:r>
          </a:p>
        </p:txBody>
      </p:sp>
    </p:spTree>
    <p:extLst>
      <p:ext uri="{BB962C8B-B14F-4D97-AF65-F5344CB8AC3E}">
        <p14:creationId xmlns:p14="http://schemas.microsoft.com/office/powerpoint/2010/main" val="3769926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Search Statements and Binding</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What is a Search Statement?</a:t>
            </a:r>
          </a:p>
          <a:p>
            <a:pPr lvl="1"/>
            <a:r>
              <a:rPr lang="en-US" sz="2600" dirty="0">
                <a:latin typeface="Calibri" panose="020F0502020204030204" pitchFamily="34" charset="0"/>
                <a:cs typeface="Calibri" panose="020F0502020204030204" pitchFamily="34" charset="0"/>
              </a:rPr>
              <a:t>A search statement is a user's input that expresses their information need.</a:t>
            </a:r>
          </a:p>
          <a:p>
            <a:r>
              <a:rPr lang="en-US" sz="2600" dirty="0">
                <a:latin typeface="Calibri" panose="020F0502020204030204" pitchFamily="34" charset="0"/>
                <a:cs typeface="Calibri" panose="020F0502020204030204" pitchFamily="34" charset="0"/>
              </a:rPr>
              <a:t>This could be:</a:t>
            </a:r>
          </a:p>
          <a:p>
            <a:pPr lvl="1"/>
            <a:r>
              <a:rPr lang="en-US" sz="2600" b="1" dirty="0">
                <a:latin typeface="Calibri" panose="020F0502020204030204" pitchFamily="34" charset="0"/>
                <a:cs typeface="Calibri" panose="020F0502020204030204" pitchFamily="34" charset="0"/>
              </a:rPr>
              <a:t>Boolean logic</a:t>
            </a:r>
            <a:r>
              <a:rPr lang="en-US" sz="2600" dirty="0">
                <a:latin typeface="Calibri" panose="020F0502020204030204" pitchFamily="34" charset="0"/>
                <a:cs typeface="Calibri" panose="020F0502020204030204" pitchFamily="34" charset="0"/>
              </a:rPr>
              <a:t>: oil AND Alaska AND price</a:t>
            </a:r>
          </a:p>
          <a:p>
            <a:pPr lvl="1"/>
            <a:r>
              <a:rPr lang="en-US" sz="2600" b="1" dirty="0">
                <a:latin typeface="Calibri" panose="020F0502020204030204" pitchFamily="34" charset="0"/>
                <a:cs typeface="Calibri" panose="020F0502020204030204" pitchFamily="34" charset="0"/>
              </a:rPr>
              <a:t>Natural language</a:t>
            </a:r>
            <a:r>
              <a:rPr lang="en-US" sz="2600" dirty="0">
                <a:latin typeface="Calibri" panose="020F0502020204030204" pitchFamily="34" charset="0"/>
                <a:cs typeface="Calibri" panose="020F0502020204030204" pitchFamily="34" charset="0"/>
              </a:rPr>
              <a:t>: “Find me information on the impact of oil spills in Alaska on the price of oil.”</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a:t>
            </a:fld>
            <a:endParaRPr lang="en-US" sz="900">
              <a:solidFill>
                <a:schemeClr val="lt1"/>
              </a:solidFill>
            </a:endParaRPr>
          </a:p>
        </p:txBody>
      </p:sp>
    </p:spTree>
    <p:extLst>
      <p:ext uri="{BB962C8B-B14F-4D97-AF65-F5344CB8AC3E}">
        <p14:creationId xmlns:p14="http://schemas.microsoft.com/office/powerpoint/2010/main" val="1262870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Binding: Translating Abstract Needs into Concrete Queries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“Binding” is the process of </a:t>
            </a:r>
            <a:r>
              <a:rPr lang="en-US" sz="2600" b="1" dirty="0">
                <a:latin typeface="Calibri" panose="020F0502020204030204" pitchFamily="34" charset="0"/>
                <a:cs typeface="Calibri" panose="020F0502020204030204" pitchFamily="34" charset="0"/>
              </a:rPr>
              <a:t>translating or mapping the user's abstract request into specific terms and formats</a:t>
            </a:r>
            <a:r>
              <a:rPr lang="en-US" sz="2600" dirty="0">
                <a:latin typeface="Calibri" panose="020F0502020204030204" pitchFamily="34" charset="0"/>
                <a:cs typeface="Calibri" panose="020F0502020204030204" pitchFamily="34" charset="0"/>
              </a:rPr>
              <a:t> that a computer system can process. There are </a:t>
            </a:r>
            <a:r>
              <a:rPr lang="en-US" sz="2600" b="1" dirty="0">
                <a:latin typeface="Calibri" panose="020F0502020204030204" pitchFamily="34" charset="0"/>
                <a:cs typeface="Calibri" panose="020F0502020204030204" pitchFamily="34" charset="0"/>
              </a:rPr>
              <a:t>three levels of binding</a:t>
            </a:r>
            <a:r>
              <a:rPr lang="en-US" sz="2600" dirty="0">
                <a:latin typeface="Calibri" panose="020F0502020204030204" pitchFamily="34" charset="0"/>
                <a:cs typeface="Calibri" panose="020F0502020204030204" pitchFamily="34" charset="0"/>
              </a:rPr>
              <a:t>:</a:t>
            </a:r>
          </a:p>
          <a:p>
            <a:r>
              <a:rPr lang="en-US" sz="2600" b="1" dirty="0">
                <a:latin typeface="Calibri" panose="020F0502020204030204" pitchFamily="34" charset="0"/>
                <a:cs typeface="Calibri" panose="020F0502020204030204" pitchFamily="34" charset="0"/>
              </a:rPr>
              <a:t>User-Level Binding</a:t>
            </a:r>
            <a:r>
              <a:rPr lang="en-US" sz="2600" dirty="0">
                <a:latin typeface="Calibri" panose="020F0502020204030204" pitchFamily="34" charset="0"/>
                <a:cs typeface="Calibri" panose="020F0502020204030204" pitchFamily="34" charset="0"/>
              </a:rPr>
              <a:t> – Concept to Words</a:t>
            </a:r>
          </a:p>
          <a:p>
            <a:r>
              <a:rPr lang="en-US" sz="2600" b="1" dirty="0">
                <a:latin typeface="Calibri" panose="020F0502020204030204" pitchFamily="34" charset="0"/>
                <a:cs typeface="Calibri" panose="020F0502020204030204" pitchFamily="34" charset="0"/>
              </a:rPr>
              <a:t>System-Level Binding</a:t>
            </a:r>
            <a:r>
              <a:rPr lang="en-US" sz="2600" dirty="0">
                <a:latin typeface="Calibri" panose="020F0502020204030204" pitchFamily="34" charset="0"/>
                <a:cs typeface="Calibri" panose="020F0502020204030204" pitchFamily="34" charset="0"/>
              </a:rPr>
              <a:t> – Query to Search Engine Metalanguage</a:t>
            </a:r>
          </a:p>
          <a:p>
            <a:r>
              <a:rPr lang="en-US" sz="2600" b="1" dirty="0">
                <a:latin typeface="Calibri" panose="020F0502020204030204" pitchFamily="34" charset="0"/>
                <a:cs typeface="Calibri" panose="020F0502020204030204" pitchFamily="34" charset="0"/>
              </a:rPr>
              <a:t>Database-Level Binding</a:t>
            </a:r>
            <a:r>
              <a:rPr lang="en-US" sz="2600" dirty="0">
                <a:latin typeface="Calibri" panose="020F0502020204030204" pitchFamily="34" charset="0"/>
                <a:cs typeface="Calibri" panose="020F0502020204030204" pitchFamily="34" charset="0"/>
              </a:rPr>
              <a:t> – Match Query with Data</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a:t>
            </a:fld>
            <a:endParaRPr lang="en-US" sz="900">
              <a:solidFill>
                <a:schemeClr val="lt1"/>
              </a:solidFill>
            </a:endParaRPr>
          </a:p>
        </p:txBody>
      </p:sp>
    </p:spTree>
    <p:extLst>
      <p:ext uri="{BB962C8B-B14F-4D97-AF65-F5344CB8AC3E}">
        <p14:creationId xmlns:p14="http://schemas.microsoft.com/office/powerpoint/2010/main" val="2324776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b="1" dirty="0">
                <a:latin typeface="Calibri" panose="020F0502020204030204" pitchFamily="34" charset="0"/>
                <a:cs typeface="Calibri" panose="020F0502020204030204" pitchFamily="34" charset="0"/>
              </a:rPr>
              <a:t>User-Level Binding</a:t>
            </a:r>
            <a:r>
              <a:rPr lang="en-US" sz="3600" dirty="0">
                <a:latin typeface="Calibri" panose="020F0502020204030204" pitchFamily="34" charset="0"/>
                <a:cs typeface="Calibri" panose="020F0502020204030204" pitchFamily="34" charset="0"/>
              </a:rPr>
              <a:t> – Concept to Words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At this stage, the user forms the query using their own vocabulary and past experiences.</a:t>
            </a:r>
          </a:p>
          <a:p>
            <a:r>
              <a:rPr lang="en-US" sz="2600" dirty="0">
                <a:latin typeface="Calibri" panose="020F0502020204030204" pitchFamily="34" charset="0"/>
                <a:cs typeface="Calibri" panose="020F0502020204030204" pitchFamily="34" charset="0"/>
              </a:rPr>
              <a:t>This is where abstract thoughts become specific keywords like: "impact", "oil", "spills", "Alaska", "price"</a:t>
            </a:r>
          </a:p>
          <a:p>
            <a:r>
              <a:rPr lang="en-US" sz="2600" dirty="0">
                <a:latin typeface="Calibri" panose="020F0502020204030204" pitchFamily="34" charset="0"/>
                <a:cs typeface="Calibri" panose="020F0502020204030204" pitchFamily="34" charset="0"/>
              </a:rPr>
              <a:t>The user may assign importance (weights) to some terms if the system allows.</a:t>
            </a:r>
          </a:p>
          <a:p>
            <a:r>
              <a:rPr lang="en-US" sz="2600" dirty="0">
                <a:latin typeface="Calibri" panose="020F0502020204030204" pitchFamily="34" charset="0"/>
                <a:cs typeface="Calibri" panose="020F0502020204030204" pitchFamily="34" charset="0"/>
              </a:rPr>
              <a:t>Example:</a:t>
            </a:r>
          </a:p>
          <a:p>
            <a:pPr lvl="1"/>
            <a:r>
              <a:rPr lang="en-US" sz="2600" b="1" dirty="0">
                <a:latin typeface="Calibri" panose="020F0502020204030204" pitchFamily="34" charset="0"/>
                <a:cs typeface="Calibri" panose="020F0502020204030204" pitchFamily="34" charset="0"/>
              </a:rPr>
              <a:t>User query</a:t>
            </a:r>
            <a:r>
              <a:rPr lang="en-US" sz="2600" dirty="0">
                <a:latin typeface="Calibri" panose="020F0502020204030204" pitchFamily="34" charset="0"/>
                <a:cs typeface="Calibri" panose="020F0502020204030204" pitchFamily="34" charset="0"/>
              </a:rPr>
              <a:t>: "Find me information on the impact of oil spills in Alaska on the price of oil."</a:t>
            </a:r>
            <a:br>
              <a:rPr lang="en-US" sz="2600" dirty="0">
                <a:latin typeface="Calibri" panose="020F0502020204030204" pitchFamily="34" charset="0"/>
                <a:cs typeface="Calibri" panose="020F0502020204030204" pitchFamily="34" charset="0"/>
              </a:rPr>
            </a:br>
            <a:r>
              <a:rPr lang="en-US" sz="2600" b="1" dirty="0">
                <a:latin typeface="Calibri" panose="020F0502020204030204" pitchFamily="34" charset="0"/>
                <a:cs typeface="Calibri" panose="020F0502020204030204" pitchFamily="34" charset="0"/>
              </a:rPr>
              <a:t>Extracted keywords</a:t>
            </a:r>
            <a:r>
              <a:rPr lang="en-US" sz="2600" dirty="0">
                <a:latin typeface="Calibri" panose="020F0502020204030204" pitchFamily="34" charset="0"/>
                <a:cs typeface="Calibri" panose="020F0502020204030204" pitchFamily="34" charset="0"/>
              </a:rPr>
              <a:t>: impact, oil (petroleum), spills (accidents), Alaska, price (cost, value)</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a:t>
            </a:fld>
            <a:endParaRPr lang="en-US" sz="900">
              <a:solidFill>
                <a:schemeClr val="lt1"/>
              </a:solidFill>
            </a:endParaRPr>
          </a:p>
        </p:txBody>
      </p:sp>
    </p:spTree>
    <p:extLst>
      <p:ext uri="{BB962C8B-B14F-4D97-AF65-F5344CB8AC3E}">
        <p14:creationId xmlns:p14="http://schemas.microsoft.com/office/powerpoint/2010/main" val="3735799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3"/>
            <a:ext cx="10972800" cy="699028"/>
          </a:xfrm>
        </p:spPr>
        <p:txBody>
          <a:bodyPr/>
          <a:lstStyle/>
          <a:p>
            <a:r>
              <a:rPr lang="en-US" sz="3200" b="1" dirty="0">
                <a:latin typeface="Calibri" panose="020F0502020204030204" pitchFamily="34" charset="0"/>
                <a:cs typeface="Calibri" panose="020F0502020204030204" pitchFamily="34" charset="0"/>
              </a:rPr>
              <a:t>System-Level Binding</a:t>
            </a:r>
            <a:r>
              <a:rPr lang="en-US" sz="3200" dirty="0">
                <a:latin typeface="Calibri" panose="020F0502020204030204" pitchFamily="34" charset="0"/>
                <a:cs typeface="Calibri" panose="020F0502020204030204" pitchFamily="34" charset="0"/>
              </a:rPr>
              <a:t> – Query to Search Engine Metalanguage</a:t>
            </a:r>
            <a:endParaRPr lang="en-US" sz="3200"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914401"/>
            <a:ext cx="10977033" cy="5237017"/>
          </a:xfrm>
        </p:spPr>
        <p:txBody>
          <a:bodyPr/>
          <a:lstStyle/>
          <a:p>
            <a:r>
              <a:rPr lang="en-US" sz="2400" dirty="0">
                <a:latin typeface="Calibri" panose="020F0502020204030204" pitchFamily="34" charset="0"/>
                <a:cs typeface="Calibri" panose="020F0502020204030204" pitchFamily="34" charset="0"/>
              </a:rPr>
              <a:t>The search system interprets the query into its own </a:t>
            </a:r>
            <a:r>
              <a:rPr lang="en-US" sz="2400" b="1" dirty="0">
                <a:latin typeface="Calibri" panose="020F0502020204030204" pitchFamily="34" charset="0"/>
                <a:cs typeface="Calibri" panose="020F0502020204030204" pitchFamily="34" charset="0"/>
              </a:rPr>
              <a:t>internal format (called metalanguage) </a:t>
            </a:r>
            <a:r>
              <a:rPr lang="en-US" sz="2400" dirty="0">
                <a:latin typeface="Calibri" panose="020F0502020204030204" pitchFamily="34" charset="0"/>
                <a:cs typeface="Calibri" panose="020F0502020204030204" pitchFamily="34" charset="0"/>
              </a:rPr>
              <a:t>similar to how items were indexed in the system .</a:t>
            </a:r>
          </a:p>
          <a:p>
            <a:r>
              <a:rPr lang="en-US" sz="2400" dirty="0">
                <a:latin typeface="Calibri" panose="020F0502020204030204" pitchFamily="34" charset="0"/>
                <a:cs typeface="Calibri" panose="020F0502020204030204" pitchFamily="34" charset="0"/>
              </a:rPr>
              <a:t>The system may use:</a:t>
            </a:r>
          </a:p>
          <a:p>
            <a:pPr lvl="1"/>
            <a:r>
              <a:rPr lang="en-US" sz="2400" b="1" dirty="0">
                <a:latin typeface="Calibri" panose="020F0502020204030204" pitchFamily="34" charset="0"/>
                <a:cs typeface="Calibri" panose="020F0502020204030204" pitchFamily="34" charset="0"/>
              </a:rPr>
              <a:t>Statistical analysis (e.g., how often words appear in documents)</a:t>
            </a:r>
          </a:p>
          <a:p>
            <a:pPr lvl="1"/>
            <a:r>
              <a:rPr lang="en-US" sz="2400" b="1" dirty="0">
                <a:latin typeface="Calibri" panose="020F0502020204030204" pitchFamily="34" charset="0"/>
                <a:cs typeface="Calibri" panose="020F0502020204030204" pitchFamily="34" charset="0"/>
              </a:rPr>
              <a:t>Natural language parsing (to understand grammar and meaning)</a:t>
            </a:r>
          </a:p>
          <a:p>
            <a:pPr lvl="1"/>
            <a:r>
              <a:rPr lang="en-US" sz="2400" b="1" dirty="0">
                <a:latin typeface="Calibri" panose="020F0502020204030204" pitchFamily="34" charset="0"/>
                <a:cs typeface="Calibri" panose="020F0502020204030204" pitchFamily="34" charset="0"/>
              </a:rPr>
              <a:t>Concept mapping (to relate terms to known concepts)</a:t>
            </a:r>
          </a:p>
          <a:p>
            <a:r>
              <a:rPr lang="en-US" sz="2400" b="1" dirty="0">
                <a:latin typeface="Calibri" panose="020F0502020204030204" pitchFamily="34" charset="0"/>
                <a:cs typeface="Calibri" panose="020F0502020204030204" pitchFamily="34" charset="0"/>
              </a:rPr>
              <a:t>Example</a:t>
            </a:r>
            <a:r>
              <a:rPr lang="en-US" sz="2400" dirty="0">
                <a:latin typeface="Calibri" panose="020F0502020204030204" pitchFamily="34" charset="0"/>
                <a:cs typeface="Calibri" panose="020F0502020204030204" pitchFamily="34" charset="0"/>
              </a:rPr>
              <a:t>:</a:t>
            </a:r>
          </a:p>
          <a:p>
            <a:pPr lvl="1"/>
            <a:r>
              <a:rPr lang="en-US" sz="2400" dirty="0">
                <a:latin typeface="Calibri" panose="020F0502020204030204" pitchFamily="34" charset="0"/>
                <a:cs typeface="Calibri" panose="020F0502020204030204" pitchFamily="34" charset="0"/>
              </a:rPr>
              <a:t>The system may assign weights like:</a:t>
            </a:r>
          </a:p>
          <a:p>
            <a:pPr lvl="1"/>
            <a:r>
              <a:rPr lang="en-US" sz="2400" dirty="0">
                <a:latin typeface="Calibri" panose="020F0502020204030204" pitchFamily="34" charset="0"/>
                <a:cs typeface="Calibri" panose="020F0502020204030204" pitchFamily="34" charset="0"/>
              </a:rPr>
              <a:t>impact (.308), oil (.606), petroleum (.65), spills (.12), accidents (.23), Alaska (.45), price (.16), cost (.25), value (.10)</a:t>
            </a:r>
          </a:p>
          <a:p>
            <a:pPr lvl="1"/>
            <a:r>
              <a:rPr lang="en-US" sz="2400" dirty="0">
                <a:latin typeface="Calibri" panose="020F0502020204030204" pitchFamily="34" charset="0"/>
                <a:cs typeface="Calibri" panose="020F0502020204030204" pitchFamily="34" charset="0"/>
              </a:rPr>
              <a:t>These weights are based on algorithms like Inverse Document Frequency (IDF), which emphasizes rarer (more informative) words.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a:t>
            </a:fld>
            <a:endParaRPr lang="en-US" sz="900">
              <a:solidFill>
                <a:schemeClr val="lt1"/>
              </a:solidFill>
            </a:endParaRPr>
          </a:p>
        </p:txBody>
      </p:sp>
    </p:spTree>
    <p:extLst>
      <p:ext uri="{BB962C8B-B14F-4D97-AF65-F5344CB8AC3E}">
        <p14:creationId xmlns:p14="http://schemas.microsoft.com/office/powerpoint/2010/main" val="1008463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rot="16200000">
            <a:off x="-2822711" y="2822711"/>
            <a:ext cx="6858000" cy="1212575"/>
          </a:xfrm>
        </p:spPr>
        <p:txBody>
          <a:bodyPr/>
          <a:lstStyle/>
          <a:p>
            <a:pPr algn="ctr"/>
            <a:r>
              <a:rPr lang="en-US" sz="3600" b="1" dirty="0">
                <a:latin typeface="Calibri" panose="020F0502020204030204" pitchFamily="34" charset="0"/>
                <a:cs typeface="Calibri" panose="020F0502020204030204" pitchFamily="34" charset="0"/>
              </a:rPr>
              <a:t>Database-Level Binding</a:t>
            </a:r>
            <a:r>
              <a:rPr lang="en-US" sz="3600" dirty="0">
                <a:latin typeface="Calibri" panose="020F0502020204030204" pitchFamily="34" charset="0"/>
                <a:cs typeface="Calibri" panose="020F0502020204030204" pitchFamily="34" charset="0"/>
              </a:rPr>
              <a:t> – Match Query with Data</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1212574" y="112713"/>
            <a:ext cx="10374060" cy="6208574"/>
          </a:xfrm>
        </p:spPr>
        <p:txBody>
          <a:bodyPr/>
          <a:lstStyle/>
          <a:p>
            <a:r>
              <a:rPr lang="en-US" sz="2500" dirty="0">
                <a:latin typeface="Calibri" panose="020F0502020204030204" pitchFamily="34" charset="0"/>
                <a:cs typeface="Calibri" panose="020F0502020204030204" pitchFamily="34" charset="0"/>
              </a:rPr>
              <a:t>The processed query is applied to the actual database.</a:t>
            </a:r>
          </a:p>
          <a:p>
            <a:r>
              <a:rPr lang="en-US" sz="2500" dirty="0">
                <a:latin typeface="Calibri" panose="020F0502020204030204" pitchFamily="34" charset="0"/>
                <a:cs typeface="Calibri" panose="020F0502020204030204" pitchFamily="34" charset="0"/>
              </a:rPr>
              <a:t>The system uses:</a:t>
            </a:r>
          </a:p>
          <a:p>
            <a:pPr lvl="1"/>
            <a:r>
              <a:rPr lang="en-US" sz="2500" b="1" dirty="0">
                <a:latin typeface="Calibri" panose="020F0502020204030204" pitchFamily="34" charset="0"/>
                <a:cs typeface="Calibri" panose="020F0502020204030204" pitchFamily="34" charset="0"/>
              </a:rPr>
              <a:t>Term frequencies </a:t>
            </a:r>
            <a:r>
              <a:rPr lang="en-US" sz="2500" dirty="0">
                <a:latin typeface="Calibri" panose="020F0502020204030204" pitchFamily="34" charset="0"/>
                <a:cs typeface="Calibri" panose="020F0502020204030204" pitchFamily="34" charset="0"/>
              </a:rPr>
              <a:t>(how often each term appears)</a:t>
            </a:r>
          </a:p>
          <a:p>
            <a:pPr lvl="1"/>
            <a:r>
              <a:rPr lang="en-US" sz="2500" b="1" dirty="0">
                <a:latin typeface="Calibri" panose="020F0502020204030204" pitchFamily="34" charset="0"/>
                <a:cs typeface="Calibri" panose="020F0502020204030204" pitchFamily="34" charset="0"/>
              </a:rPr>
              <a:t>Concept indexing </a:t>
            </a:r>
            <a:r>
              <a:rPr lang="en-US" sz="2500" dirty="0">
                <a:latin typeface="Calibri" panose="020F0502020204030204" pitchFamily="34" charset="0"/>
                <a:cs typeface="Calibri" panose="020F0502020204030204" pitchFamily="34" charset="0"/>
              </a:rPr>
              <a:t>(matching against database-specific concepts)</a:t>
            </a:r>
          </a:p>
          <a:p>
            <a:pPr lvl="1"/>
            <a:r>
              <a:rPr lang="en-US" sz="2500" b="1" dirty="0">
                <a:latin typeface="Calibri" panose="020F0502020204030204" pitchFamily="34" charset="0"/>
                <a:cs typeface="Calibri" panose="020F0502020204030204" pitchFamily="34" charset="0"/>
              </a:rPr>
              <a:t>Semantic understanding </a:t>
            </a:r>
            <a:r>
              <a:rPr lang="en-US" sz="2500" dirty="0">
                <a:latin typeface="Calibri" panose="020F0502020204030204" pitchFamily="34" charset="0"/>
                <a:cs typeface="Calibri" panose="020F0502020204030204" pitchFamily="34" charset="0"/>
              </a:rPr>
              <a:t>(what the terms mean in the context of the data)</a:t>
            </a:r>
          </a:p>
          <a:p>
            <a:r>
              <a:rPr lang="en-US" sz="2500" dirty="0">
                <a:latin typeface="Calibri" panose="020F0502020204030204" pitchFamily="34" charset="0"/>
                <a:cs typeface="Calibri" panose="020F0502020204030204" pitchFamily="34" charset="0"/>
              </a:rPr>
              <a:t>For example, in a </a:t>
            </a:r>
            <a:r>
              <a:rPr lang="en-US" sz="2500" b="1" dirty="0">
                <a:latin typeface="Calibri" panose="020F0502020204030204" pitchFamily="34" charset="0"/>
                <a:cs typeface="Calibri" panose="020F0502020204030204" pitchFamily="34" charset="0"/>
              </a:rPr>
              <a:t>concept-based system</a:t>
            </a:r>
            <a:r>
              <a:rPr lang="en-US" sz="2500" dirty="0">
                <a:latin typeface="Calibri" panose="020F0502020204030204" pitchFamily="34" charset="0"/>
                <a:cs typeface="Calibri" panose="020F0502020204030204" pitchFamily="34" charset="0"/>
              </a:rPr>
              <a:t>:</a:t>
            </a:r>
          </a:p>
          <a:p>
            <a:pPr lvl="1"/>
            <a:r>
              <a:rPr lang="en-US" sz="2500" dirty="0">
                <a:latin typeface="Calibri" panose="020F0502020204030204" pitchFamily="34" charset="0"/>
                <a:cs typeface="Calibri" panose="020F0502020204030204" pitchFamily="34" charset="0"/>
              </a:rPr>
              <a:t>The </a:t>
            </a:r>
            <a:r>
              <a:rPr lang="en-US" sz="2500" b="1" dirty="0">
                <a:latin typeface="Calibri" panose="020F0502020204030204" pitchFamily="34" charset="0"/>
                <a:cs typeface="Calibri" panose="020F0502020204030204" pitchFamily="34" charset="0"/>
              </a:rPr>
              <a:t>concepts used to index the documents </a:t>
            </a:r>
            <a:r>
              <a:rPr lang="en-US" sz="2500" dirty="0">
                <a:latin typeface="Calibri" panose="020F0502020204030204" pitchFamily="34" charset="0"/>
                <a:cs typeface="Calibri" panose="020F0502020204030204" pitchFamily="34" charset="0"/>
              </a:rPr>
              <a:t>might be statistically derived from the database itself.</a:t>
            </a:r>
          </a:p>
          <a:p>
            <a:pPr lvl="1"/>
            <a:r>
              <a:rPr lang="en-US" sz="2500" dirty="0">
                <a:latin typeface="Calibri" panose="020F0502020204030204" pitchFamily="34" charset="0"/>
                <a:cs typeface="Calibri" panose="020F0502020204030204" pitchFamily="34" charset="0"/>
              </a:rPr>
              <a:t>Different databases may use different concept sets.</a:t>
            </a:r>
          </a:p>
          <a:p>
            <a:r>
              <a:rPr lang="en-US" sz="2500" dirty="0">
                <a:latin typeface="Calibri" panose="020F0502020204030204" pitchFamily="34" charset="0"/>
                <a:cs typeface="Calibri" panose="020F0502020204030204" pitchFamily="34" charset="0"/>
              </a:rPr>
              <a:t>This level often involves real-time statistics:</a:t>
            </a:r>
          </a:p>
          <a:p>
            <a:pPr lvl="1"/>
            <a:r>
              <a:rPr lang="en-US" sz="2500" b="1" dirty="0">
                <a:latin typeface="Calibri" panose="020F0502020204030204" pitchFamily="34" charset="0"/>
                <a:cs typeface="Calibri" panose="020F0502020204030204" pitchFamily="34" charset="0"/>
              </a:rPr>
              <a:t>Document Frequency</a:t>
            </a:r>
            <a:r>
              <a:rPr lang="en-US" sz="2500" dirty="0">
                <a:latin typeface="Calibri" panose="020F0502020204030204" pitchFamily="34" charset="0"/>
                <a:cs typeface="Calibri" panose="020F0502020204030204" pitchFamily="34" charset="0"/>
              </a:rPr>
              <a:t>: How many documents mention a term</a:t>
            </a:r>
          </a:p>
          <a:p>
            <a:pPr lvl="1"/>
            <a:r>
              <a:rPr lang="en-US" sz="2500" b="1" dirty="0">
                <a:latin typeface="Calibri" panose="020F0502020204030204" pitchFamily="34" charset="0"/>
                <a:cs typeface="Calibri" panose="020F0502020204030204" pitchFamily="34" charset="0"/>
              </a:rPr>
              <a:t>Total Frequency</a:t>
            </a:r>
            <a:r>
              <a:rPr lang="en-US" sz="2500" dirty="0">
                <a:latin typeface="Calibri" panose="020F0502020204030204" pitchFamily="34" charset="0"/>
                <a:cs typeface="Calibri" panose="020F0502020204030204" pitchFamily="34" charset="0"/>
              </a:rPr>
              <a:t>: How often a term occurs overall</a:t>
            </a:r>
          </a:p>
          <a:p>
            <a:endParaRPr lang="en-US" sz="2500" dirty="0">
              <a:latin typeface="Calibri" panose="020F0502020204030204" pitchFamily="34" charset="0"/>
              <a:cs typeface="Calibri" panose="020F0502020204030204" pitchFamily="34" charset="0"/>
            </a:endParaRPr>
          </a:p>
          <a:p>
            <a:endParaRPr lang="en-US" sz="25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a:t>
            </a:fld>
            <a:endParaRPr lang="en-US" sz="900">
              <a:solidFill>
                <a:schemeClr val="lt1"/>
              </a:solidFill>
            </a:endParaRPr>
          </a:p>
        </p:txBody>
      </p:sp>
    </p:spTree>
    <p:extLst>
      <p:ext uri="{BB962C8B-B14F-4D97-AF65-F5344CB8AC3E}">
        <p14:creationId xmlns:p14="http://schemas.microsoft.com/office/powerpoint/2010/main" val="55369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Length of Search Statements and Their Impact</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Longer search statements → usually better performance.</a:t>
            </a:r>
          </a:p>
          <a:p>
            <a:pPr lvl="1"/>
            <a:r>
              <a:rPr lang="en-US" sz="2600" dirty="0">
                <a:latin typeface="Calibri" panose="020F0502020204030204" pitchFamily="34" charset="0"/>
                <a:cs typeface="Calibri" panose="020F0502020204030204" pitchFamily="34" charset="0"/>
              </a:rPr>
              <a:t>Ex: SDI systems often use 75–100 terms.</a:t>
            </a:r>
          </a:p>
          <a:p>
            <a:r>
              <a:rPr lang="en-US" sz="2600" dirty="0">
                <a:latin typeface="Calibri" panose="020F0502020204030204" pitchFamily="34" charset="0"/>
                <a:cs typeface="Calibri" panose="020F0502020204030204" pitchFamily="34" charset="0"/>
              </a:rPr>
              <a:t>Shorter queries (e.g., typical Internet search: 1–2 words) → less effective.</a:t>
            </a:r>
          </a:p>
          <a:p>
            <a:pPr lvl="1"/>
            <a:r>
              <a:rPr lang="en-US" sz="2600" dirty="0">
                <a:latin typeface="Calibri" panose="020F0502020204030204" pitchFamily="34" charset="0"/>
                <a:cs typeface="Calibri" panose="020F0502020204030204" pitchFamily="34" charset="0"/>
              </a:rPr>
              <a:t>Harder to understand user intent</a:t>
            </a:r>
          </a:p>
          <a:p>
            <a:pPr lvl="1"/>
            <a:r>
              <a:rPr lang="en-US" sz="2600" dirty="0">
                <a:latin typeface="Calibri" panose="020F0502020204030204" pitchFamily="34" charset="0"/>
                <a:cs typeface="Calibri" panose="020F0502020204030204" pitchFamily="34" charset="0"/>
              </a:rPr>
              <a:t>Reduces effectiveness of many IR (Information Retrieval) techniques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a:t>
            </a:fld>
            <a:endParaRPr lang="en-US" sz="900">
              <a:solidFill>
                <a:schemeClr val="lt1"/>
              </a:solidFill>
            </a:endParaRPr>
          </a:p>
        </p:txBody>
      </p:sp>
    </p:spTree>
    <p:extLst>
      <p:ext uri="{BB962C8B-B14F-4D97-AF65-F5344CB8AC3E}">
        <p14:creationId xmlns:p14="http://schemas.microsoft.com/office/powerpoint/2010/main" val="313354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6332789-5D93-FA19-09D2-A6A742377526}"/>
              </a:ext>
            </a:extLst>
          </p:cNvPr>
          <p:cNvSpPr>
            <a:spLocks noGrp="1"/>
          </p:cNvSpPr>
          <p:nvPr>
            <p:ph sz="quarter" idx="14"/>
          </p:nvPr>
        </p:nvSpPr>
        <p:spPr>
          <a:xfrm>
            <a:off x="6302944" y="0"/>
            <a:ext cx="5458361" cy="6361043"/>
          </a:xfrm>
        </p:spPr>
        <p:txBody>
          <a:bodyPr/>
          <a:lstStyle/>
          <a:p>
            <a:r>
              <a:rPr lang="en-US" sz="2400" dirty="0">
                <a:latin typeface="Calibri" panose="020F0502020204030204" pitchFamily="34" charset="0"/>
                <a:cs typeface="Calibri" panose="020F0502020204030204" pitchFamily="34" charset="0"/>
              </a:rPr>
              <a:t>“Find me information on the impact of oil spills in Alaska on the price of oil.”</a:t>
            </a:r>
          </a:p>
          <a:p>
            <a:r>
              <a:rPr lang="en-US" sz="2400" b="1" dirty="0">
                <a:latin typeface="Calibri" panose="020F0502020204030204" pitchFamily="34" charset="0"/>
                <a:cs typeface="Calibri" panose="020F0502020204030204" pitchFamily="34" charset="0"/>
              </a:rPr>
              <a:t>Step 1 – User Binding</a:t>
            </a:r>
            <a:r>
              <a:rPr lang="en-US" sz="2400" dirty="0">
                <a:latin typeface="Calibri" panose="020F0502020204030204" pitchFamily="34" charset="0"/>
                <a:cs typeface="Calibri" panose="020F0502020204030204" pitchFamily="34" charset="0"/>
              </a:rPr>
              <a:t>:</a:t>
            </a:r>
          </a:p>
          <a:p>
            <a:pPr lvl="1"/>
            <a:r>
              <a:rPr lang="en-US" sz="2400" dirty="0">
                <a:latin typeface="Calibri" panose="020F0502020204030204" pitchFamily="34" charset="0"/>
                <a:cs typeface="Calibri" panose="020F0502020204030204" pitchFamily="34" charset="0"/>
              </a:rPr>
              <a:t>Extracted terms: impact, oil, spills, Alaska, price, etc.</a:t>
            </a:r>
          </a:p>
          <a:p>
            <a:r>
              <a:rPr lang="en-US" sz="2400" b="1" dirty="0">
                <a:latin typeface="Calibri" panose="020F0502020204030204" pitchFamily="34" charset="0"/>
                <a:cs typeface="Calibri" panose="020F0502020204030204" pitchFamily="34" charset="0"/>
              </a:rPr>
              <a:t>Step 2 – System Binding</a:t>
            </a:r>
            <a:r>
              <a:rPr lang="en-US" sz="2400" dirty="0">
                <a:latin typeface="Calibri" panose="020F0502020204030204" pitchFamily="34" charset="0"/>
                <a:cs typeface="Calibri" panose="020F0502020204030204" pitchFamily="34" charset="0"/>
              </a:rPr>
              <a:t>:</a:t>
            </a:r>
          </a:p>
          <a:p>
            <a:pPr lvl="1"/>
            <a:r>
              <a:rPr lang="en-US" sz="2400" dirty="0">
                <a:latin typeface="Calibri" panose="020F0502020204030204" pitchFamily="34" charset="0"/>
                <a:cs typeface="Calibri" panose="020F0502020204030204" pitchFamily="34" charset="0"/>
              </a:rPr>
              <a:t>Mapped to synonyms and given weights:</a:t>
            </a:r>
          </a:p>
          <a:p>
            <a:pPr lvl="1"/>
            <a:r>
              <a:rPr lang="en-US" sz="2400" dirty="0">
                <a:latin typeface="Calibri" panose="020F0502020204030204" pitchFamily="34" charset="0"/>
                <a:cs typeface="Calibri" panose="020F0502020204030204" pitchFamily="34" charset="0"/>
              </a:rPr>
              <a:t>oil (.606), petroleum (.65) price (.16), cost (.25), value (.10) etc.</a:t>
            </a:r>
          </a:p>
          <a:p>
            <a:r>
              <a:rPr lang="en-US" sz="2400" b="1" dirty="0">
                <a:latin typeface="Calibri" panose="020F0502020204030204" pitchFamily="34" charset="0"/>
                <a:cs typeface="Calibri" panose="020F0502020204030204" pitchFamily="34" charset="0"/>
              </a:rPr>
              <a:t>Step 3 – Database Binding</a:t>
            </a:r>
            <a:r>
              <a:rPr lang="en-US" sz="2400" dirty="0">
                <a:latin typeface="Calibri" panose="020F0502020204030204" pitchFamily="34" charset="0"/>
                <a:cs typeface="Calibri" panose="020F0502020204030204" pitchFamily="34" charset="0"/>
              </a:rPr>
              <a:t>:</a:t>
            </a:r>
          </a:p>
          <a:p>
            <a:pPr lvl="1"/>
            <a:r>
              <a:rPr lang="en-US" sz="2400" dirty="0">
                <a:latin typeface="Calibri" panose="020F0502020204030204" pitchFamily="34" charset="0"/>
                <a:cs typeface="Calibri" panose="020F0502020204030204" pitchFamily="34" charset="0"/>
              </a:rPr>
              <a:t>Weights adjusted again based on </a:t>
            </a:r>
            <a:r>
              <a:rPr lang="en-US" sz="2400" b="1" dirty="0">
                <a:latin typeface="Calibri" panose="020F0502020204030204" pitchFamily="34" charset="0"/>
                <a:cs typeface="Calibri" panose="020F0502020204030204" pitchFamily="34" charset="0"/>
              </a:rPr>
              <a:t>document statistics and indexing semantics </a:t>
            </a:r>
            <a:r>
              <a:rPr lang="en-US" sz="2400" dirty="0">
                <a:latin typeface="Calibri" panose="020F0502020204030204" pitchFamily="34" charset="0"/>
                <a:cs typeface="Calibri" panose="020F0502020204030204" pitchFamily="34" charset="0"/>
              </a:rPr>
              <a:t>of that particular database.</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9</a:t>
            </a:fld>
            <a:endParaRPr lang="en-US" sz="900">
              <a:solidFill>
                <a:schemeClr val="lt1"/>
              </a:solidFill>
            </a:endParaRPr>
          </a:p>
        </p:txBody>
      </p:sp>
      <p:pic>
        <p:nvPicPr>
          <p:cNvPr id="9" name="Picture 8">
            <a:extLst>
              <a:ext uri="{FF2B5EF4-FFF2-40B4-BE49-F238E27FC236}">
                <a16:creationId xmlns:a16="http://schemas.microsoft.com/office/drawing/2014/main" id="{EC047D54-B14B-C0ED-9566-B1DFFC761C1D}"/>
              </a:ext>
            </a:extLst>
          </p:cNvPr>
          <p:cNvPicPr>
            <a:picLocks noChangeAspect="1"/>
          </p:cNvPicPr>
          <p:nvPr/>
        </p:nvPicPr>
        <p:blipFill>
          <a:blip r:embed="rId2"/>
          <a:stretch>
            <a:fillRect/>
          </a:stretch>
        </p:blipFill>
        <p:spPr>
          <a:xfrm>
            <a:off x="163874" y="113072"/>
            <a:ext cx="6139070" cy="5124850"/>
          </a:xfrm>
          <a:prstGeom prst="rect">
            <a:avLst/>
          </a:prstGeom>
        </p:spPr>
      </p:pic>
    </p:spTree>
    <p:extLst>
      <p:ext uri="{BB962C8B-B14F-4D97-AF65-F5344CB8AC3E}">
        <p14:creationId xmlns:p14="http://schemas.microsoft.com/office/powerpoint/2010/main" val="1081409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798419"/>
          </a:xfrm>
        </p:spPr>
        <p:txBody>
          <a:bodyPr/>
          <a:lstStyle/>
          <a:p>
            <a:r>
              <a:rPr lang="en-US" dirty="0"/>
              <a:t>Similarity Measures and Ranking</a:t>
            </a:r>
          </a:p>
        </p:txBody>
      </p:sp>
      <p:graphicFrame>
        <p:nvGraphicFramePr>
          <p:cNvPr id="2" name="Content Placeholder 1">
            <a:extLst>
              <a:ext uri="{FF2B5EF4-FFF2-40B4-BE49-F238E27FC236}">
                <a16:creationId xmlns:a16="http://schemas.microsoft.com/office/drawing/2014/main" id="{56D062B7-DE57-F0F6-A750-F24CF6E3B85C}"/>
              </a:ext>
            </a:extLst>
          </p:cNvPr>
          <p:cNvGraphicFramePr>
            <a:graphicFrameLocks noGrp="1"/>
          </p:cNvGraphicFramePr>
          <p:nvPr>
            <p:ph sz="quarter" idx="13"/>
            <p:extLst>
              <p:ext uri="{D42A27DB-BD31-4B8C-83A1-F6EECF244321}">
                <p14:modId xmlns:p14="http://schemas.microsoft.com/office/powerpoint/2010/main" val="1686253551"/>
              </p:ext>
            </p:extLst>
          </p:nvPr>
        </p:nvGraphicFramePr>
        <p:xfrm>
          <a:off x="680829" y="1013790"/>
          <a:ext cx="10972802" cy="5035296"/>
        </p:xfrm>
        <a:graphic>
          <a:graphicData uri="http://schemas.openxmlformats.org/drawingml/2006/table">
            <a:tbl>
              <a:tblPr>
                <a:tableStyleId>{3C2FFA5D-87B4-456A-9821-1D502468CF0F}</a:tableStyleId>
              </a:tblPr>
              <a:tblGrid>
                <a:gridCol w="5486401">
                  <a:extLst>
                    <a:ext uri="{9D8B030D-6E8A-4147-A177-3AD203B41FA5}">
                      <a16:colId xmlns:a16="http://schemas.microsoft.com/office/drawing/2014/main" val="2775445037"/>
                    </a:ext>
                  </a:extLst>
                </a:gridCol>
                <a:gridCol w="5486401">
                  <a:extLst>
                    <a:ext uri="{9D8B030D-6E8A-4147-A177-3AD203B41FA5}">
                      <a16:colId xmlns:a16="http://schemas.microsoft.com/office/drawing/2014/main" val="3887900777"/>
                    </a:ext>
                  </a:extLst>
                </a:gridCol>
              </a:tblGrid>
              <a:tr h="693626">
                <a:tc>
                  <a:txBody>
                    <a:bodyPr/>
                    <a:lstStyle/>
                    <a:p>
                      <a:r>
                        <a:rPr lang="en-US" sz="2400" b="1" dirty="0">
                          <a:latin typeface="Calibri" panose="020F0502020204030204" pitchFamily="34" charset="0"/>
                          <a:cs typeface="Calibri" panose="020F0502020204030204" pitchFamily="34" charset="0"/>
                        </a:rPr>
                        <a:t>Concept</a:t>
                      </a:r>
                    </a:p>
                  </a:txBody>
                  <a:tcPr anchor="ctr"/>
                </a:tc>
                <a:tc>
                  <a:txBody>
                    <a:bodyPr/>
                    <a:lstStyle/>
                    <a:p>
                      <a:r>
                        <a:rPr lang="en-US" sz="2400" dirty="0">
                          <a:latin typeface="Calibri" panose="020F0502020204030204" pitchFamily="34" charset="0"/>
                          <a:cs typeface="Calibri" panose="020F0502020204030204" pitchFamily="34" charset="0"/>
                        </a:rPr>
                        <a:t>Meaning</a:t>
                      </a:r>
                    </a:p>
                  </a:txBody>
                  <a:tcPr anchor="ctr"/>
                </a:tc>
                <a:extLst>
                  <a:ext uri="{0D108BD9-81ED-4DB2-BD59-A6C34878D82A}">
                    <a16:rowId xmlns:a16="http://schemas.microsoft.com/office/drawing/2014/main" val="1275913238"/>
                  </a:ext>
                </a:extLst>
              </a:tr>
              <a:tr h="807677">
                <a:tc>
                  <a:txBody>
                    <a:bodyPr/>
                    <a:lstStyle/>
                    <a:p>
                      <a:r>
                        <a:rPr lang="en-US" sz="2400">
                          <a:latin typeface="Calibri" panose="020F0502020204030204" pitchFamily="34" charset="0"/>
                          <a:cs typeface="Calibri" panose="020F0502020204030204" pitchFamily="34" charset="0"/>
                        </a:rPr>
                        <a:t>Similarity</a:t>
                      </a:r>
                    </a:p>
                  </a:txBody>
                  <a:tcPr anchor="ctr"/>
                </a:tc>
                <a:tc>
                  <a:txBody>
                    <a:bodyPr/>
                    <a:lstStyle/>
                    <a:p>
                      <a:r>
                        <a:rPr lang="en-US" sz="2400" dirty="0">
                          <a:latin typeface="Calibri" panose="020F0502020204030204" pitchFamily="34" charset="0"/>
                          <a:cs typeface="Calibri" panose="020F0502020204030204" pitchFamily="34" charset="0"/>
                        </a:rPr>
                        <a:t>How closely a document or passage matches the search query</a:t>
                      </a:r>
                    </a:p>
                  </a:txBody>
                  <a:tcPr anchor="ctr"/>
                </a:tc>
                <a:extLst>
                  <a:ext uri="{0D108BD9-81ED-4DB2-BD59-A6C34878D82A}">
                    <a16:rowId xmlns:a16="http://schemas.microsoft.com/office/drawing/2014/main" val="2642622046"/>
                  </a:ext>
                </a:extLst>
              </a:tr>
              <a:tr h="693626">
                <a:tc>
                  <a:txBody>
                    <a:bodyPr/>
                    <a:lstStyle/>
                    <a:p>
                      <a:r>
                        <a:rPr lang="en-US" sz="2400" dirty="0">
                          <a:latin typeface="Calibri" panose="020F0502020204030204" pitchFamily="34" charset="0"/>
                          <a:cs typeface="Calibri" panose="020F0502020204030204" pitchFamily="34" charset="0"/>
                        </a:rPr>
                        <a:t>Weighting</a:t>
                      </a:r>
                    </a:p>
                  </a:txBody>
                  <a:tcPr anchor="ctr"/>
                </a:tc>
                <a:tc>
                  <a:txBody>
                    <a:bodyPr/>
                    <a:lstStyle/>
                    <a:p>
                      <a:r>
                        <a:rPr lang="en-US" sz="2400" dirty="0">
                          <a:latin typeface="Calibri" panose="020F0502020204030204" pitchFamily="34" charset="0"/>
                          <a:cs typeface="Calibri" panose="020F0502020204030204" pitchFamily="34" charset="0"/>
                        </a:rPr>
                        <a:t>Giving more importance to certain words</a:t>
                      </a:r>
                    </a:p>
                  </a:txBody>
                  <a:tcPr anchor="ctr"/>
                </a:tc>
                <a:extLst>
                  <a:ext uri="{0D108BD9-81ED-4DB2-BD59-A6C34878D82A}">
                    <a16:rowId xmlns:a16="http://schemas.microsoft.com/office/drawing/2014/main" val="1993029475"/>
                  </a:ext>
                </a:extLst>
              </a:tr>
              <a:tr h="1179164">
                <a:tc>
                  <a:txBody>
                    <a:bodyPr/>
                    <a:lstStyle/>
                    <a:p>
                      <a:r>
                        <a:rPr lang="en-US" sz="2400">
                          <a:latin typeface="Calibri" panose="020F0502020204030204" pitchFamily="34" charset="0"/>
                          <a:cs typeface="Calibri" panose="020F0502020204030204" pitchFamily="34" charset="0"/>
                        </a:rPr>
                        <a:t>Passage-based retrieval</a:t>
                      </a:r>
                    </a:p>
                  </a:txBody>
                  <a:tcPr anchor="ctr"/>
                </a:tc>
                <a:tc>
                  <a:txBody>
                    <a:bodyPr/>
                    <a:lstStyle/>
                    <a:p>
                      <a:r>
                        <a:rPr lang="en-US" sz="2400" dirty="0">
                          <a:latin typeface="Calibri" panose="020F0502020204030204" pitchFamily="34" charset="0"/>
                          <a:cs typeface="Calibri" panose="020F0502020204030204" pitchFamily="34" charset="0"/>
                        </a:rPr>
                        <a:t>Comparing queries to parts of a document rather than the whole document</a:t>
                      </a:r>
                    </a:p>
                  </a:txBody>
                  <a:tcPr anchor="ctr"/>
                </a:tc>
                <a:extLst>
                  <a:ext uri="{0D108BD9-81ED-4DB2-BD59-A6C34878D82A}">
                    <a16:rowId xmlns:a16="http://schemas.microsoft.com/office/drawing/2014/main" val="4026296739"/>
                  </a:ext>
                </a:extLst>
              </a:tr>
              <a:tr h="807677">
                <a:tc>
                  <a:txBody>
                    <a:bodyPr/>
                    <a:lstStyle/>
                    <a:p>
                      <a:r>
                        <a:rPr lang="en-US" sz="2400">
                          <a:latin typeface="Calibri" panose="020F0502020204030204" pitchFamily="34" charset="0"/>
                          <a:cs typeface="Calibri" panose="020F0502020204030204" pitchFamily="34" charset="0"/>
                        </a:rPr>
                        <a:t>Locality-based similarity</a:t>
                      </a:r>
                    </a:p>
                  </a:txBody>
                  <a:tcPr anchor="ctr"/>
                </a:tc>
                <a:tc>
                  <a:txBody>
                    <a:bodyPr/>
                    <a:lstStyle/>
                    <a:p>
                      <a:r>
                        <a:rPr lang="en-US" sz="2400" dirty="0">
                          <a:latin typeface="Calibri" panose="020F0502020204030204" pitchFamily="34" charset="0"/>
                          <a:cs typeface="Calibri" panose="020F0502020204030204" pitchFamily="34" charset="0"/>
                        </a:rPr>
                        <a:t>Dynamically identifying meaningful content blocks</a:t>
                      </a:r>
                    </a:p>
                  </a:txBody>
                  <a:tcPr anchor="ctr"/>
                </a:tc>
                <a:extLst>
                  <a:ext uri="{0D108BD9-81ED-4DB2-BD59-A6C34878D82A}">
                    <a16:rowId xmlns:a16="http://schemas.microsoft.com/office/drawing/2014/main" val="160218795"/>
                  </a:ext>
                </a:extLst>
              </a:tr>
              <a:tr h="807677">
                <a:tc>
                  <a:txBody>
                    <a:bodyPr/>
                    <a:lstStyle/>
                    <a:p>
                      <a:r>
                        <a:rPr lang="en-US" sz="2400" dirty="0">
                          <a:latin typeface="Calibri" panose="020F0502020204030204" pitchFamily="34" charset="0"/>
                          <a:cs typeface="Calibri" panose="020F0502020204030204" pitchFamily="34" charset="0"/>
                        </a:rPr>
                        <a:t>Ranking</a:t>
                      </a:r>
                    </a:p>
                  </a:txBody>
                  <a:tcPr anchor="ctr"/>
                </a:tc>
                <a:tc>
                  <a:txBody>
                    <a:bodyPr/>
                    <a:lstStyle/>
                    <a:p>
                      <a:r>
                        <a:rPr lang="en-US" sz="2400" dirty="0">
                          <a:latin typeface="Calibri" panose="020F0502020204030204" pitchFamily="34" charset="0"/>
                          <a:cs typeface="Calibri" panose="020F0502020204030204" pitchFamily="34" charset="0"/>
                        </a:rPr>
                        <a:t>Sorting search results by their similarity score</a:t>
                      </a:r>
                    </a:p>
                  </a:txBody>
                  <a:tcPr anchor="ctr"/>
                </a:tc>
                <a:extLst>
                  <a:ext uri="{0D108BD9-81ED-4DB2-BD59-A6C34878D82A}">
                    <a16:rowId xmlns:a16="http://schemas.microsoft.com/office/drawing/2014/main" val="627059017"/>
                  </a:ext>
                </a:extLst>
              </a:tr>
            </a:tbl>
          </a:graphicData>
        </a:graphic>
      </p:graphicFrame>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a:t>
            </a:fld>
            <a:endParaRPr lang="en-US" sz="900">
              <a:solidFill>
                <a:schemeClr val="lt1"/>
              </a:solidFill>
            </a:endParaRPr>
          </a:p>
        </p:txBody>
      </p:sp>
    </p:spTree>
    <p:extLst>
      <p:ext uri="{BB962C8B-B14F-4D97-AF65-F5344CB8AC3E}">
        <p14:creationId xmlns:p14="http://schemas.microsoft.com/office/powerpoint/2010/main" val="3845370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Similarity Measures - </a:t>
            </a:r>
            <a:r>
              <a:rPr lang="en-US" sz="3600" b="1" dirty="0">
                <a:effectLst/>
                <a:latin typeface="Calibri" panose="020F0502020204030204" pitchFamily="34" charset="0"/>
                <a:cs typeface="Calibri" panose="020F0502020204030204" pitchFamily="34" charset="0"/>
              </a:rPr>
              <a:t>Simple Sum of Products </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pPr marL="615950" indent="-514350">
              <a:buFont typeface="+mj-lt"/>
              <a:buAutoNum type="arabicPeriod"/>
            </a:pPr>
            <a:r>
              <a:rPr lang="en-US" sz="2600" b="1" dirty="0">
                <a:effectLst/>
                <a:latin typeface="Calibri" panose="020F0502020204030204" pitchFamily="34" charset="0"/>
                <a:cs typeface="Calibri" panose="020F0502020204030204" pitchFamily="34" charset="0"/>
              </a:rPr>
              <a:t>Simple Sum of Products </a:t>
            </a:r>
          </a:p>
          <a:p>
            <a:pPr marL="558800" lvl="1" indent="0">
              <a:buNone/>
            </a:pPr>
            <a:endParaRPr lang="en-US" sz="2600" dirty="0">
              <a:effectLst/>
              <a:latin typeface="Calibri" panose="020F0502020204030204" pitchFamily="34" charset="0"/>
              <a:cs typeface="Calibri" panose="020F0502020204030204" pitchFamily="34" charset="0"/>
            </a:endParaRPr>
          </a:p>
          <a:p>
            <a:pPr marL="558800" lvl="1" indent="0">
              <a:buNone/>
            </a:pPr>
            <a:endParaRPr lang="en-US" sz="2600" dirty="0">
              <a:effectLst/>
              <a:latin typeface="Calibri" panose="020F0502020204030204" pitchFamily="34" charset="0"/>
              <a:cs typeface="Calibri" panose="020F0502020204030204" pitchFamily="34" charset="0"/>
            </a:endParaRPr>
          </a:p>
          <a:p>
            <a:pPr lvl="1"/>
            <a:r>
              <a:rPr lang="en-US" sz="2600" dirty="0">
                <a:effectLst/>
                <a:latin typeface="Calibri" panose="020F0502020204030204" pitchFamily="34" charset="0"/>
                <a:cs typeface="Calibri" panose="020F0502020204030204" pitchFamily="34" charset="0"/>
              </a:rPr>
              <a:t>calculates similarity by </a:t>
            </a:r>
            <a:r>
              <a:rPr lang="en-US" sz="2600" b="1" dirty="0">
                <a:effectLst/>
                <a:latin typeface="Calibri" panose="020F0502020204030204" pitchFamily="34" charset="0"/>
                <a:cs typeface="Calibri" panose="020F0502020204030204" pitchFamily="34" charset="0"/>
              </a:rPr>
              <a:t>summing the product </a:t>
            </a:r>
            <a:r>
              <a:rPr lang="en-US" sz="2600" dirty="0">
                <a:effectLst/>
                <a:latin typeface="Calibri" panose="020F0502020204030204" pitchFamily="34" charset="0"/>
                <a:cs typeface="Calibri" panose="020F0502020204030204" pitchFamily="34" charset="0"/>
              </a:rPr>
              <a:t>of corresponding term </a:t>
            </a:r>
            <a:r>
              <a:rPr lang="en-US" sz="2600" b="1" dirty="0">
                <a:effectLst/>
                <a:latin typeface="Calibri" panose="020F0502020204030204" pitchFamily="34" charset="0"/>
                <a:cs typeface="Calibri" panose="020F0502020204030204" pitchFamily="34" charset="0"/>
              </a:rPr>
              <a:t>weights between two items</a:t>
            </a:r>
            <a:r>
              <a:rPr lang="en-US" sz="2600" dirty="0">
                <a:effectLst/>
                <a:latin typeface="Calibri" panose="020F0502020204030204" pitchFamily="34" charset="0"/>
                <a:cs typeface="Calibri" panose="020F0502020204030204" pitchFamily="34" charset="0"/>
              </a:rPr>
              <a:t>. </a:t>
            </a:r>
          </a:p>
          <a:p>
            <a:pPr lvl="1"/>
            <a:r>
              <a:rPr lang="en-US" sz="2600" dirty="0">
                <a:effectLst/>
                <a:latin typeface="Calibri" panose="020F0502020204030204" pitchFamily="34" charset="0"/>
                <a:cs typeface="Calibri" panose="020F0502020204030204" pitchFamily="34" charset="0"/>
              </a:rPr>
              <a:t>This is a basic approach but lacks normalization, which can lead to issues when items vary in length.</a:t>
            </a:r>
          </a:p>
          <a:p>
            <a:endParaRPr lang="en-US" sz="2600" dirty="0">
              <a:effectLst/>
              <a:latin typeface="Calibri" panose="020F0502020204030204" pitchFamily="34" charset="0"/>
              <a:cs typeface="Calibri" panose="020F0502020204030204" pitchFamily="34" charset="0"/>
            </a:endParaRPr>
          </a:p>
          <a:p>
            <a:pPr lvl="1"/>
            <a:endParaRPr lang="en-US" sz="2600"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a:t>
            </a:fld>
            <a:endParaRPr lang="en-US" sz="900">
              <a:solidFill>
                <a:schemeClr val="lt1"/>
              </a:solidFill>
            </a:endParaRPr>
          </a:p>
        </p:txBody>
      </p:sp>
      <p:pic>
        <p:nvPicPr>
          <p:cNvPr id="9" name="Picture 8">
            <a:extLst>
              <a:ext uri="{FF2B5EF4-FFF2-40B4-BE49-F238E27FC236}">
                <a16:creationId xmlns:a16="http://schemas.microsoft.com/office/drawing/2014/main" id="{6628293C-6228-23B5-8544-0819409F797F}"/>
              </a:ext>
            </a:extLst>
          </p:cNvPr>
          <p:cNvPicPr>
            <a:picLocks noChangeAspect="1"/>
          </p:cNvPicPr>
          <p:nvPr/>
        </p:nvPicPr>
        <p:blipFill>
          <a:blip r:embed="rId2"/>
          <a:stretch>
            <a:fillRect/>
          </a:stretch>
        </p:blipFill>
        <p:spPr>
          <a:xfrm>
            <a:off x="2180188" y="1955939"/>
            <a:ext cx="4847209" cy="588479"/>
          </a:xfrm>
          <a:prstGeom prst="rect">
            <a:avLst/>
          </a:prstGeom>
        </p:spPr>
      </p:pic>
    </p:spTree>
    <p:extLst>
      <p:ext uri="{BB962C8B-B14F-4D97-AF65-F5344CB8AC3E}">
        <p14:creationId xmlns:p14="http://schemas.microsoft.com/office/powerpoint/2010/main" val="251341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859185"/>
          </a:xfrm>
        </p:spPr>
        <p:txBody>
          <a:bodyPr/>
          <a:lstStyle/>
          <a:p>
            <a:r>
              <a:rPr lang="en-US" dirty="0"/>
              <a:t>Similarity Measures - </a:t>
            </a:r>
            <a:r>
              <a:rPr lang="en-US" sz="3600" b="1" dirty="0">
                <a:effectLst/>
                <a:latin typeface="Calibri" panose="020F0502020204030204" pitchFamily="34" charset="0"/>
                <a:cs typeface="Calibri" panose="020F0502020204030204" pitchFamily="34" charset="0"/>
              </a:rPr>
              <a:t>Croft’s Similarity Formula </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074557"/>
            <a:ext cx="10977033" cy="5076861"/>
          </a:xfrm>
        </p:spPr>
        <p:txBody>
          <a:bodyPr/>
          <a:lstStyle/>
          <a:p>
            <a:pPr marL="558800" indent="-457200">
              <a:buFont typeface="+mj-lt"/>
              <a:buAutoNum type="arabicPeriod" startAt="2"/>
            </a:pPr>
            <a:r>
              <a:rPr lang="en-US" sz="2400" b="1" dirty="0">
                <a:effectLst/>
                <a:latin typeface="Calibri" panose="020F0502020204030204" pitchFamily="34" charset="0"/>
                <a:cs typeface="Calibri" panose="020F0502020204030204" pitchFamily="34" charset="0"/>
              </a:rPr>
              <a:t>Croft’s Similarity Formula </a:t>
            </a:r>
          </a:p>
          <a:p>
            <a:pPr marL="1045718" lvl="1" indent="-457200"/>
            <a:r>
              <a:rPr lang="en-US" sz="2400" dirty="0">
                <a:effectLst/>
                <a:latin typeface="Calibri" panose="020F0502020204030204" pitchFamily="34" charset="0"/>
                <a:cs typeface="Calibri" panose="020F0502020204030204" pitchFamily="34" charset="0"/>
              </a:rPr>
              <a:t>C is a tuning constant.</a:t>
            </a:r>
          </a:p>
          <a:p>
            <a:pPr lvl="1"/>
            <a:r>
              <a:rPr lang="en-US" sz="2400" dirty="0" err="1">
                <a:effectLst/>
                <a:latin typeface="Calibri" panose="020F0502020204030204" pitchFamily="34" charset="0"/>
                <a:cs typeface="Calibri" panose="020F0502020204030204" pitchFamily="34" charset="0"/>
              </a:rPr>
              <a:t>IDF_i</a:t>
            </a:r>
            <a:r>
              <a:rPr lang="en-US" sz="2400" dirty="0">
                <a:effectLst/>
                <a:latin typeface="Calibri" panose="020F0502020204030204" pitchFamily="34" charset="0"/>
                <a:cs typeface="Calibri" panose="020F0502020204030204" pitchFamily="34" charset="0"/>
              </a:rPr>
              <a:t> is the inverse document frequency, which gives higher weight to rarer terms.</a:t>
            </a:r>
          </a:p>
          <a:p>
            <a:pPr lvl="1"/>
            <a:endParaRPr lang="en-US" sz="2400" dirty="0">
              <a:effectLst/>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latin typeface="Calibri" panose="020F0502020204030204" pitchFamily="34" charset="0"/>
              <a:cs typeface="Calibri" panose="020F0502020204030204" pitchFamily="34" charset="0"/>
            </a:endParaRPr>
          </a:p>
          <a:p>
            <a:pPr lvl="1">
              <a:buFont typeface="Arial" panose="020B0604020202020204" pitchFamily="34" charset="0"/>
              <a:buChar char="•"/>
            </a:pPr>
            <a:endParaRPr lang="en-US" sz="2400" dirty="0">
              <a:latin typeface="Calibri" panose="020F0502020204030204" pitchFamily="34" charset="0"/>
              <a:cs typeface="Calibri" panose="020F0502020204030204" pitchFamily="34" charset="0"/>
            </a:endParaRP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where: K is a tuning constant (typically 0.3 to 0.5).</a:t>
            </a:r>
          </a:p>
          <a:p>
            <a:pPr lvl="1">
              <a:buFont typeface="Arial" panose="020B0604020202020204" pitchFamily="34" charset="0"/>
              <a:buChar char="•"/>
            </a:pPr>
            <a:r>
              <a:rPr lang="en-US" sz="2400" dirty="0" err="1">
                <a:latin typeface="Calibri" panose="020F0502020204030204" pitchFamily="34" charset="0"/>
                <a:cs typeface="Calibri" panose="020F0502020204030204" pitchFamily="34" charset="0"/>
              </a:rPr>
              <a:t>TF_i,j</a:t>
            </a:r>
            <a:r>
              <a:rPr lang="en-US" sz="2400" dirty="0">
                <a:latin typeface="Calibri" panose="020F0502020204030204" pitchFamily="34" charset="0"/>
                <a:cs typeface="Calibri" panose="020F0502020204030204" pitchFamily="34" charset="0"/>
              </a:rPr>
              <a:t> is the frequency of term </a:t>
            </a:r>
            <a:r>
              <a:rPr lang="en-US" sz="2400" dirty="0" err="1">
                <a:latin typeface="Calibri" panose="020F0502020204030204" pitchFamily="34" charset="0"/>
                <a:cs typeface="Calibri" panose="020F0502020204030204" pitchFamily="34" charset="0"/>
              </a:rPr>
              <a:t>i</a:t>
            </a:r>
            <a:r>
              <a:rPr lang="en-US" sz="2400" dirty="0">
                <a:latin typeface="Calibri" panose="020F0502020204030204" pitchFamily="34" charset="0"/>
                <a:cs typeface="Calibri" panose="020F0502020204030204" pitchFamily="34" charset="0"/>
              </a:rPr>
              <a:t> in item j.</a:t>
            </a:r>
          </a:p>
          <a:p>
            <a:pPr lvl="1">
              <a:buFont typeface="Arial" panose="020B0604020202020204" pitchFamily="34" charset="0"/>
              <a:buChar char="•"/>
            </a:pPr>
            <a:r>
              <a:rPr lang="en-US" sz="2400" dirty="0" err="1">
                <a:latin typeface="Calibri" panose="020F0502020204030204" pitchFamily="34" charset="0"/>
                <a:cs typeface="Calibri" panose="020F0502020204030204" pitchFamily="34" charset="0"/>
              </a:rPr>
              <a:t>maxfreq_j</a:t>
            </a:r>
            <a:r>
              <a:rPr lang="en-US" sz="2400" dirty="0">
                <a:latin typeface="Calibri" panose="020F0502020204030204" pitchFamily="34" charset="0"/>
                <a:cs typeface="Calibri" panose="020F0502020204030204" pitchFamily="34" charset="0"/>
              </a:rPr>
              <a:t> is the maximum frequency of any term in item </a:t>
            </a:r>
            <a:r>
              <a:rPr lang="en-US" sz="2400" dirty="0" err="1">
                <a:latin typeface="Calibri" panose="020F0502020204030204" pitchFamily="34" charset="0"/>
                <a:cs typeface="Calibri" panose="020F0502020204030204" pitchFamily="34" charset="0"/>
              </a:rPr>
              <a:t>j.This</a:t>
            </a:r>
            <a:r>
              <a:rPr lang="en-US" sz="2400" dirty="0">
                <a:latin typeface="Calibri" panose="020F0502020204030204" pitchFamily="34" charset="0"/>
                <a:cs typeface="Calibri" panose="020F0502020204030204" pitchFamily="34" charset="0"/>
              </a:rPr>
              <a:t> formula adjusts term weights based on their frequency and rarity</a:t>
            </a:r>
            <a:r>
              <a:rPr lang="en-US" sz="2400" b="1" dirty="0">
                <a:latin typeface="Calibri" panose="020F0502020204030204" pitchFamily="34" charset="0"/>
                <a:cs typeface="Calibri" panose="020F0502020204030204" pitchFamily="34" charset="0"/>
              </a:rPr>
              <a:t>, improving relevance</a:t>
            </a:r>
            <a:r>
              <a:rPr lang="en-US" sz="2400" dirty="0">
                <a:latin typeface="Calibri" panose="020F0502020204030204" pitchFamily="34" charset="0"/>
                <a:cs typeface="Calibri" panose="020F0502020204030204" pitchFamily="34" charset="0"/>
              </a:rPr>
              <a:t>.</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12</a:t>
            </a:fld>
            <a:endParaRPr lang="en-US" sz="900">
              <a:solidFill>
                <a:schemeClr val="lt1"/>
              </a:solidFill>
            </a:endParaRPr>
          </a:p>
        </p:txBody>
      </p:sp>
      <p:pic>
        <p:nvPicPr>
          <p:cNvPr id="11" name="Picture 10">
            <a:extLst>
              <a:ext uri="{FF2B5EF4-FFF2-40B4-BE49-F238E27FC236}">
                <a16:creationId xmlns:a16="http://schemas.microsoft.com/office/drawing/2014/main" id="{44380D3D-FE10-2AAC-F36C-27275D7BE31C}"/>
              </a:ext>
            </a:extLst>
          </p:cNvPr>
          <p:cNvPicPr>
            <a:picLocks noChangeAspect="1"/>
          </p:cNvPicPr>
          <p:nvPr/>
        </p:nvPicPr>
        <p:blipFill>
          <a:blip r:embed="rId2"/>
          <a:stretch>
            <a:fillRect/>
          </a:stretch>
        </p:blipFill>
        <p:spPr>
          <a:xfrm>
            <a:off x="2971800" y="2666998"/>
            <a:ext cx="4830550" cy="762002"/>
          </a:xfrm>
          <a:prstGeom prst="rect">
            <a:avLst/>
          </a:prstGeom>
        </p:spPr>
      </p:pic>
      <p:pic>
        <p:nvPicPr>
          <p:cNvPr id="8" name="Picture 7">
            <a:extLst>
              <a:ext uri="{FF2B5EF4-FFF2-40B4-BE49-F238E27FC236}">
                <a16:creationId xmlns:a16="http://schemas.microsoft.com/office/drawing/2014/main" id="{E3EBDDBF-19B0-1224-D25A-6A37EEB07614}"/>
              </a:ext>
            </a:extLst>
          </p:cNvPr>
          <p:cNvPicPr>
            <a:picLocks noChangeAspect="1"/>
          </p:cNvPicPr>
          <p:nvPr/>
        </p:nvPicPr>
        <p:blipFill>
          <a:blip r:embed="rId3"/>
          <a:stretch>
            <a:fillRect/>
          </a:stretch>
        </p:blipFill>
        <p:spPr>
          <a:xfrm>
            <a:off x="2763078" y="3612987"/>
            <a:ext cx="4426566" cy="541647"/>
          </a:xfrm>
          <a:prstGeom prst="rect">
            <a:avLst/>
          </a:prstGeom>
        </p:spPr>
      </p:pic>
    </p:spTree>
    <p:extLst>
      <p:ext uri="{BB962C8B-B14F-4D97-AF65-F5344CB8AC3E}">
        <p14:creationId xmlns:p14="http://schemas.microsoft.com/office/powerpoint/2010/main" val="4231931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3"/>
            <a:ext cx="10972800" cy="858054"/>
          </a:xfrm>
        </p:spPr>
        <p:txBody>
          <a:bodyPr/>
          <a:lstStyle/>
          <a:p>
            <a:r>
              <a:rPr lang="en-US" dirty="0"/>
              <a:t>Similarity Measures - </a:t>
            </a:r>
            <a:r>
              <a:rPr lang="en-US" sz="3600" b="1" dirty="0">
                <a:effectLst/>
                <a:latin typeface="Calibri" panose="020F0502020204030204" pitchFamily="34" charset="0"/>
                <a:cs typeface="Calibri" panose="020F0502020204030204" pitchFamily="34" charset="0"/>
              </a:rPr>
              <a:t>Cosine Similarity</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176087"/>
            <a:ext cx="10977033" cy="4975331"/>
          </a:xfrm>
        </p:spPr>
        <p:txBody>
          <a:bodyPr/>
          <a:lstStyle/>
          <a:p>
            <a:pPr marL="444500" indent="-342900">
              <a:buFont typeface="+mj-lt"/>
              <a:buAutoNum type="arabicPeriod" startAt="3"/>
            </a:pPr>
            <a:r>
              <a:rPr lang="en-US" sz="2600" b="1" dirty="0">
                <a:effectLst/>
                <a:latin typeface="Calibri" panose="020F0502020204030204" pitchFamily="34" charset="0"/>
                <a:cs typeface="Calibri" panose="020F0502020204030204" pitchFamily="34" charset="0"/>
              </a:rPr>
              <a:t>Cosine Similarity</a:t>
            </a:r>
            <a:endParaRPr lang="en-US" sz="2600" b="1" dirty="0">
              <a:latin typeface="Calibri" panose="020F0502020204030204" pitchFamily="34" charset="0"/>
              <a:cs typeface="Calibri" panose="020F0502020204030204" pitchFamily="34" charset="0"/>
            </a:endParaRPr>
          </a:p>
          <a:p>
            <a:pPr marL="444500" indent="-342900">
              <a:buFont typeface="+mj-lt"/>
              <a:buAutoNum type="arabicPeriod" startAt="3"/>
            </a:pPr>
            <a:endParaRPr lang="en-US" sz="2600" dirty="0">
              <a:effectLst/>
              <a:latin typeface="Calibri" panose="020F0502020204030204" pitchFamily="34" charset="0"/>
              <a:cs typeface="Calibri" panose="020F0502020204030204" pitchFamily="34" charset="0"/>
            </a:endParaRPr>
          </a:p>
          <a:p>
            <a:pPr marL="1045718" lvl="1" indent="-457200"/>
            <a:endParaRPr lang="en-US" sz="2600" dirty="0">
              <a:latin typeface="Calibri" panose="020F0502020204030204" pitchFamily="34" charset="0"/>
              <a:cs typeface="Calibri" panose="020F0502020204030204" pitchFamily="34" charset="0"/>
            </a:endParaRPr>
          </a:p>
          <a:p>
            <a:pPr marL="1045718" lvl="1" indent="-457200"/>
            <a:r>
              <a:rPr lang="en-US" sz="2600" dirty="0">
                <a:latin typeface="Calibri" panose="020F0502020204030204" pitchFamily="34" charset="0"/>
                <a:cs typeface="Calibri" panose="020F0502020204030204" pitchFamily="34" charset="0"/>
              </a:rPr>
              <a:t>M</a:t>
            </a:r>
            <a:r>
              <a:rPr lang="en-US" sz="2600" dirty="0">
                <a:effectLst/>
                <a:latin typeface="Calibri" panose="020F0502020204030204" pitchFamily="34" charset="0"/>
                <a:cs typeface="Calibri" panose="020F0502020204030204" pitchFamily="34" charset="0"/>
              </a:rPr>
              <a:t>easures the </a:t>
            </a:r>
            <a:r>
              <a:rPr lang="en-US" sz="2600" b="1" dirty="0">
                <a:effectLst/>
                <a:latin typeface="Calibri" panose="020F0502020204030204" pitchFamily="34" charset="0"/>
                <a:cs typeface="Calibri" panose="020F0502020204030204" pitchFamily="34" charset="0"/>
              </a:rPr>
              <a:t>cosine of the angle between two vectors </a:t>
            </a:r>
            <a:r>
              <a:rPr lang="en-US" sz="2600" dirty="0">
                <a:effectLst/>
                <a:latin typeface="Calibri" panose="020F0502020204030204" pitchFamily="34" charset="0"/>
                <a:cs typeface="Calibri" panose="020F0502020204030204" pitchFamily="34" charset="0"/>
              </a:rPr>
              <a:t>(document and query). A value of </a:t>
            </a:r>
            <a:r>
              <a:rPr lang="en-US" sz="2600" b="1" dirty="0">
                <a:effectLst/>
                <a:latin typeface="Calibri" panose="020F0502020204030204" pitchFamily="34" charset="0"/>
                <a:cs typeface="Calibri" panose="020F0502020204030204" pitchFamily="34" charset="0"/>
              </a:rPr>
              <a:t>1 </a:t>
            </a:r>
            <a:r>
              <a:rPr lang="en-US" sz="2600" dirty="0">
                <a:effectLst/>
                <a:latin typeface="Calibri" panose="020F0502020204030204" pitchFamily="34" charset="0"/>
                <a:cs typeface="Calibri" panose="020F0502020204030204" pitchFamily="34" charset="0"/>
              </a:rPr>
              <a:t>means the </a:t>
            </a:r>
            <a:r>
              <a:rPr lang="en-US" sz="2600" b="1" dirty="0">
                <a:effectLst/>
                <a:latin typeface="Calibri" panose="020F0502020204030204" pitchFamily="34" charset="0"/>
                <a:cs typeface="Calibri" panose="020F0502020204030204" pitchFamily="34" charset="0"/>
              </a:rPr>
              <a:t>vectors are identical </a:t>
            </a:r>
            <a:r>
              <a:rPr lang="en-US" sz="2600" dirty="0">
                <a:effectLst/>
                <a:latin typeface="Calibri" panose="020F0502020204030204" pitchFamily="34" charset="0"/>
                <a:cs typeface="Calibri" panose="020F0502020204030204" pitchFamily="34" charset="0"/>
              </a:rPr>
              <a:t>(same direction), and </a:t>
            </a:r>
            <a:r>
              <a:rPr lang="en-US" sz="2600" b="1" dirty="0">
                <a:effectLst/>
                <a:latin typeface="Calibri" panose="020F0502020204030204" pitchFamily="34" charset="0"/>
                <a:cs typeface="Calibri" panose="020F0502020204030204" pitchFamily="34" charset="0"/>
              </a:rPr>
              <a:t>0 </a:t>
            </a:r>
            <a:r>
              <a:rPr lang="en-US" sz="2600" dirty="0">
                <a:effectLst/>
                <a:latin typeface="Calibri" panose="020F0502020204030204" pitchFamily="34" charset="0"/>
                <a:cs typeface="Calibri" panose="020F0502020204030204" pitchFamily="34" charset="0"/>
              </a:rPr>
              <a:t>means they are </a:t>
            </a:r>
            <a:r>
              <a:rPr lang="en-US" sz="2600" b="1" dirty="0">
                <a:effectLst/>
                <a:latin typeface="Calibri" panose="020F0502020204030204" pitchFamily="34" charset="0"/>
                <a:cs typeface="Calibri" panose="020F0502020204030204" pitchFamily="34" charset="0"/>
              </a:rPr>
              <a:t>orthogonal</a:t>
            </a:r>
            <a:r>
              <a:rPr lang="en-US" sz="2600" dirty="0">
                <a:effectLst/>
                <a:latin typeface="Calibri" panose="020F0502020204030204" pitchFamily="34" charset="0"/>
                <a:cs typeface="Calibri" panose="020F0502020204030204" pitchFamily="34" charset="0"/>
              </a:rPr>
              <a:t> (</a:t>
            </a:r>
            <a:r>
              <a:rPr lang="en-US" sz="2600" b="1" dirty="0">
                <a:effectLst/>
                <a:latin typeface="Calibri" panose="020F0502020204030204" pitchFamily="34" charset="0"/>
                <a:cs typeface="Calibri" panose="020F0502020204030204" pitchFamily="34" charset="0"/>
              </a:rPr>
              <a:t>unrelated</a:t>
            </a:r>
            <a:r>
              <a:rPr lang="en-US" sz="2600" dirty="0">
                <a:effectLst/>
                <a:latin typeface="Calibri" panose="020F0502020204030204" pitchFamily="34" charset="0"/>
                <a:cs typeface="Calibri" panose="020F0502020204030204" pitchFamily="34" charset="0"/>
              </a:rPr>
              <a:t>).</a:t>
            </a:r>
          </a:p>
          <a:p>
            <a:pPr marL="1045718" lvl="1" indent="-457200"/>
            <a:r>
              <a:rPr lang="en-US" sz="2600" dirty="0">
                <a:effectLst/>
                <a:latin typeface="Calibri" panose="020F0502020204030204" pitchFamily="34" charset="0"/>
                <a:cs typeface="Calibri" panose="020F0502020204030204" pitchFamily="34" charset="0"/>
              </a:rPr>
              <a:t>The denominator normalizes for vector length, ensuring the result is between 0 and 1.</a:t>
            </a:r>
          </a:p>
          <a:p>
            <a:pPr marL="1045718" lvl="1" indent="-457200"/>
            <a:r>
              <a:rPr lang="en-US" sz="2600" dirty="0">
                <a:effectLst/>
                <a:latin typeface="Calibri" panose="020F0502020204030204" pitchFamily="34" charset="0"/>
                <a:cs typeface="Calibri" panose="020F0502020204030204" pitchFamily="34" charset="0"/>
              </a:rPr>
              <a:t>A variant (fourth equation) simplifies the denominator but still normalizes the score.</a:t>
            </a:r>
          </a:p>
          <a:p>
            <a:pPr marL="931418" lvl="1" indent="-342900">
              <a:buFont typeface="+mj-lt"/>
              <a:buAutoNum type="arabicPeriod" startAt="3"/>
            </a:pPr>
            <a:endParaRPr lang="en-US" sz="2600" dirty="0">
              <a:effectLst/>
              <a:latin typeface="Calibri" panose="020F0502020204030204" pitchFamily="34" charset="0"/>
              <a:cs typeface="Calibri" panose="020F0502020204030204" pitchFamily="34" charset="0"/>
            </a:endParaRPr>
          </a:p>
          <a:p>
            <a:pPr marL="444500" indent="-342900">
              <a:buFont typeface="+mj-lt"/>
              <a:buAutoNum type="arabicPeriod" startAt="3"/>
            </a:pPr>
            <a:endParaRPr lang="en-US" sz="2600"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13</a:t>
            </a:fld>
            <a:endParaRPr lang="en-US" sz="900">
              <a:solidFill>
                <a:schemeClr val="lt1"/>
              </a:solidFill>
            </a:endParaRPr>
          </a:p>
        </p:txBody>
      </p:sp>
      <p:pic>
        <p:nvPicPr>
          <p:cNvPr id="13" name="Picture 12">
            <a:extLst>
              <a:ext uri="{FF2B5EF4-FFF2-40B4-BE49-F238E27FC236}">
                <a16:creationId xmlns:a16="http://schemas.microsoft.com/office/drawing/2014/main" id="{601EAE4B-C5EB-B8F8-15C0-50E192971C12}"/>
              </a:ext>
            </a:extLst>
          </p:cNvPr>
          <p:cNvPicPr>
            <a:picLocks noChangeAspect="1"/>
          </p:cNvPicPr>
          <p:nvPr/>
        </p:nvPicPr>
        <p:blipFill>
          <a:blip r:embed="rId2"/>
          <a:stretch>
            <a:fillRect/>
          </a:stretch>
        </p:blipFill>
        <p:spPr>
          <a:xfrm>
            <a:off x="3959399" y="1218496"/>
            <a:ext cx="4809918" cy="1471485"/>
          </a:xfrm>
          <a:prstGeom prst="rect">
            <a:avLst/>
          </a:prstGeom>
        </p:spPr>
      </p:pic>
    </p:spTree>
    <p:extLst>
      <p:ext uri="{BB962C8B-B14F-4D97-AF65-F5344CB8AC3E}">
        <p14:creationId xmlns:p14="http://schemas.microsoft.com/office/powerpoint/2010/main" val="1226960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Similarity Measures - </a:t>
            </a:r>
            <a:r>
              <a:rPr lang="en-US" sz="3600" dirty="0">
                <a:effectLst/>
                <a:latin typeface="Calibri" panose="020F0502020204030204" pitchFamily="34" charset="0"/>
                <a:cs typeface="Calibri" panose="020F0502020204030204" pitchFamily="34" charset="0"/>
              </a:rPr>
              <a:t>Query Term Weighting</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pPr marL="615950" indent="-514350">
              <a:buFont typeface="+mj-lt"/>
              <a:buAutoNum type="arabicPeriod" startAt="4"/>
            </a:pPr>
            <a:r>
              <a:rPr lang="en-US" sz="2600" b="1" dirty="0">
                <a:effectLst/>
                <a:latin typeface="Calibri" panose="020F0502020204030204" pitchFamily="34" charset="0"/>
                <a:cs typeface="Calibri" panose="020F0502020204030204" pitchFamily="34" charset="0"/>
              </a:rPr>
              <a:t>Query Term Weighting</a:t>
            </a:r>
          </a:p>
          <a:p>
            <a:pPr marL="444500" indent="-342900">
              <a:buFont typeface="+mj-lt"/>
              <a:buAutoNum type="arabicPeriod" startAt="4"/>
            </a:pPr>
            <a:endParaRPr lang="en-US" sz="2600" dirty="0">
              <a:effectLst/>
              <a:latin typeface="Calibri" panose="020F0502020204030204" pitchFamily="34" charset="0"/>
              <a:cs typeface="Calibri" panose="020F0502020204030204" pitchFamily="34" charset="0"/>
            </a:endParaRPr>
          </a:p>
          <a:p>
            <a:pPr marL="101600" indent="0">
              <a:buNone/>
            </a:pPr>
            <a:endParaRPr lang="en-US" sz="2600" dirty="0">
              <a:effectLst/>
              <a:latin typeface="Calibri" panose="020F0502020204030204" pitchFamily="34" charset="0"/>
              <a:cs typeface="Calibri" panose="020F0502020204030204" pitchFamily="34" charset="0"/>
            </a:endParaRPr>
          </a:p>
          <a:p>
            <a:pPr marL="1045718" lvl="1" indent="-457200"/>
            <a:r>
              <a:rPr lang="en-US" sz="2600" dirty="0" err="1">
                <a:effectLst/>
                <a:latin typeface="Calibri" panose="020F0502020204030204" pitchFamily="34" charset="0"/>
                <a:cs typeface="Calibri" panose="020F0502020204030204" pitchFamily="34" charset="0"/>
              </a:rPr>
              <a:t>TF</a:t>
            </a:r>
            <a:r>
              <a:rPr lang="en-US" sz="3000" baseline="-25000" dirty="0" err="1">
                <a:effectLst/>
                <a:latin typeface="Calibri" panose="020F0502020204030204" pitchFamily="34" charset="0"/>
                <a:cs typeface="Calibri" panose="020F0502020204030204" pitchFamily="34" charset="0"/>
              </a:rPr>
              <a:t>i,k</a:t>
            </a:r>
            <a:r>
              <a:rPr lang="en-US" sz="3000" baseline="-25000" dirty="0">
                <a:effectLst/>
                <a:latin typeface="Calibri" panose="020F0502020204030204" pitchFamily="34" charset="0"/>
                <a:cs typeface="Calibri" panose="020F0502020204030204" pitchFamily="34" charset="0"/>
              </a:rPr>
              <a:t> </a:t>
            </a:r>
            <a:r>
              <a:rPr lang="en-US" sz="2600" dirty="0">
                <a:effectLst/>
                <a:latin typeface="Calibri" panose="020F0502020204030204" pitchFamily="34" charset="0"/>
                <a:cs typeface="Calibri" panose="020F0502020204030204" pitchFamily="34" charset="0"/>
              </a:rPr>
              <a:t>/ </a:t>
            </a:r>
            <a:r>
              <a:rPr lang="en-US" sz="2600" dirty="0" err="1">
                <a:effectLst/>
                <a:latin typeface="Calibri" panose="020F0502020204030204" pitchFamily="34" charset="0"/>
                <a:cs typeface="Calibri" panose="020F0502020204030204" pitchFamily="34" charset="0"/>
              </a:rPr>
              <a:t>maxfreq_k</a:t>
            </a:r>
            <a:r>
              <a:rPr lang="en-US" sz="2600" dirty="0">
                <a:effectLst/>
                <a:latin typeface="Calibri" panose="020F0502020204030204" pitchFamily="34" charset="0"/>
                <a:cs typeface="Calibri" panose="020F0502020204030204" pitchFamily="34" charset="0"/>
              </a:rPr>
              <a:t> normalizes term frequency.</a:t>
            </a:r>
          </a:p>
          <a:p>
            <a:pPr marL="1045718" lvl="1" indent="-457200"/>
            <a:r>
              <a:rPr lang="en-US" sz="2600" dirty="0" err="1">
                <a:effectLst/>
                <a:latin typeface="Calibri" panose="020F0502020204030204" pitchFamily="34" charset="0"/>
                <a:cs typeface="Calibri" panose="020F0502020204030204" pitchFamily="34" charset="0"/>
              </a:rPr>
              <a:t>IDF</a:t>
            </a:r>
            <a:r>
              <a:rPr lang="en-US" sz="2600" baseline="-25000" dirty="0" err="1">
                <a:effectLst/>
                <a:latin typeface="Calibri" panose="020F0502020204030204" pitchFamily="34" charset="0"/>
                <a:cs typeface="Calibri" panose="020F0502020204030204" pitchFamily="34" charset="0"/>
              </a:rPr>
              <a:t>i</a:t>
            </a:r>
            <a:r>
              <a:rPr lang="en-US" sz="2600" dirty="0">
                <a:effectLst/>
                <a:latin typeface="Calibri" panose="020F0502020204030204" pitchFamily="34" charset="0"/>
                <a:cs typeface="Calibri" panose="020F0502020204030204" pitchFamily="34" charset="0"/>
              </a:rPr>
              <a:t> boosts rarer terms.</a:t>
            </a:r>
          </a:p>
          <a:p>
            <a:pPr marL="1045718" lvl="1" indent="-457200"/>
            <a:r>
              <a:rPr lang="en-US" sz="2600" dirty="0">
                <a:effectLst/>
                <a:latin typeface="Calibri" panose="020F0502020204030204" pitchFamily="34" charset="0"/>
                <a:cs typeface="Calibri" panose="020F0502020204030204" pitchFamily="34" charset="0"/>
              </a:rPr>
              <a:t>The constants (0.5) balance the contribution of frequency and rarity.</a:t>
            </a:r>
          </a:p>
          <a:p>
            <a:endParaRPr lang="en-US" sz="2600"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a:t>
            </a:fld>
            <a:endParaRPr lang="en-US" sz="900">
              <a:solidFill>
                <a:schemeClr val="lt1"/>
              </a:solidFill>
            </a:endParaRPr>
          </a:p>
        </p:txBody>
      </p:sp>
      <p:pic>
        <p:nvPicPr>
          <p:cNvPr id="15" name="Picture 14">
            <a:extLst>
              <a:ext uri="{FF2B5EF4-FFF2-40B4-BE49-F238E27FC236}">
                <a16:creationId xmlns:a16="http://schemas.microsoft.com/office/drawing/2014/main" id="{2AFD9749-8537-1FB3-01D1-82BB17DD87C8}"/>
              </a:ext>
            </a:extLst>
          </p:cNvPr>
          <p:cNvPicPr>
            <a:picLocks noChangeAspect="1"/>
          </p:cNvPicPr>
          <p:nvPr/>
        </p:nvPicPr>
        <p:blipFill>
          <a:blip r:embed="rId2"/>
          <a:stretch>
            <a:fillRect/>
          </a:stretch>
        </p:blipFill>
        <p:spPr>
          <a:xfrm>
            <a:off x="2438399" y="2117032"/>
            <a:ext cx="4578507" cy="608083"/>
          </a:xfrm>
          <a:prstGeom prst="rect">
            <a:avLst/>
          </a:prstGeom>
        </p:spPr>
      </p:pic>
    </p:spTree>
    <p:extLst>
      <p:ext uri="{BB962C8B-B14F-4D97-AF65-F5344CB8AC3E}">
        <p14:creationId xmlns:p14="http://schemas.microsoft.com/office/powerpoint/2010/main" val="2475609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887871"/>
          </a:xfrm>
        </p:spPr>
        <p:txBody>
          <a:bodyPr/>
          <a:lstStyle/>
          <a:p>
            <a:r>
              <a:rPr lang="en-US" dirty="0"/>
              <a:t>Similarity Measures - </a:t>
            </a:r>
            <a:r>
              <a:rPr lang="en-US" sz="3600" dirty="0">
                <a:effectLst/>
                <a:latin typeface="Calibri" panose="020F0502020204030204" pitchFamily="34" charset="0"/>
                <a:cs typeface="Calibri" panose="020F0502020204030204" pitchFamily="34" charset="0"/>
              </a:rPr>
              <a:t>Jaccard and Dice Measures </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103243"/>
            <a:ext cx="10977033" cy="5048175"/>
          </a:xfrm>
        </p:spPr>
        <p:txBody>
          <a:bodyPr/>
          <a:lstStyle/>
          <a:p>
            <a:pPr marL="444500" indent="-342900">
              <a:buFont typeface="+mj-lt"/>
              <a:buAutoNum type="arabicPeriod" startAt="4"/>
            </a:pPr>
            <a:r>
              <a:rPr lang="en-US" sz="2600" b="1" dirty="0">
                <a:effectLst/>
                <a:latin typeface="Calibri" panose="020F0502020204030204" pitchFamily="34" charset="0"/>
                <a:cs typeface="Calibri" panose="020F0502020204030204" pitchFamily="34" charset="0"/>
              </a:rPr>
              <a:t>Jaccard and Dice Measures </a:t>
            </a:r>
          </a:p>
          <a:p>
            <a:pPr marL="1045718" lvl="1" indent="-457200"/>
            <a:r>
              <a:rPr lang="en-US" sz="2600" b="1" dirty="0">
                <a:effectLst/>
                <a:latin typeface="Calibri" panose="020F0502020204030204" pitchFamily="34" charset="0"/>
                <a:cs typeface="Calibri" panose="020F0502020204030204" pitchFamily="34" charset="0"/>
              </a:rPr>
              <a:t>Jaccard  : </a:t>
            </a:r>
            <a:r>
              <a:rPr lang="en-US" sz="2600" dirty="0">
                <a:effectLst/>
                <a:latin typeface="Calibri" panose="020F0502020204030204" pitchFamily="34" charset="0"/>
                <a:cs typeface="Calibri" panose="020F0502020204030204" pitchFamily="34" charset="0"/>
              </a:rPr>
              <a:t>The denominator depends on the number of common terms, producing scores between </a:t>
            </a:r>
            <a:r>
              <a:rPr lang="en-US" sz="2600" b="1" dirty="0">
                <a:effectLst/>
                <a:latin typeface="Calibri" panose="020F0502020204030204" pitchFamily="34" charset="0"/>
                <a:cs typeface="Calibri" panose="020F0502020204030204" pitchFamily="34" charset="0"/>
              </a:rPr>
              <a:t>-1 and 1</a:t>
            </a:r>
            <a:r>
              <a:rPr lang="en-US" sz="2600" dirty="0">
                <a:effectLst/>
                <a:latin typeface="Calibri" panose="020F0502020204030204" pitchFamily="34" charset="0"/>
                <a:cs typeface="Calibri" panose="020F0502020204030204" pitchFamily="34" charset="0"/>
              </a:rPr>
              <a:t>. It penalizes</a:t>
            </a:r>
            <a:r>
              <a:rPr lang="en-US" sz="2600" b="1" dirty="0">
                <a:effectLst/>
                <a:latin typeface="Calibri" panose="020F0502020204030204" pitchFamily="34" charset="0"/>
                <a:cs typeface="Calibri" panose="020F0502020204030204" pitchFamily="34" charset="0"/>
              </a:rPr>
              <a:t> dissimilarities more heavily</a:t>
            </a:r>
            <a:r>
              <a:rPr lang="en-US" sz="2600" dirty="0">
                <a:effectLst/>
                <a:latin typeface="Calibri" panose="020F0502020204030204" pitchFamily="34" charset="0"/>
                <a:cs typeface="Calibri" panose="020F0502020204030204" pitchFamily="34" charset="0"/>
              </a:rPr>
              <a:t>.</a:t>
            </a:r>
          </a:p>
          <a:p>
            <a:pPr marL="1045718" lvl="1" indent="-457200"/>
            <a:endParaRPr lang="en-US" sz="2600" dirty="0">
              <a:latin typeface="Calibri" panose="020F0502020204030204" pitchFamily="34" charset="0"/>
              <a:cs typeface="Calibri" panose="020F0502020204030204" pitchFamily="34" charset="0"/>
            </a:endParaRPr>
          </a:p>
          <a:p>
            <a:pPr marL="1045718" lvl="1" indent="-457200"/>
            <a:endParaRPr lang="en-US" sz="2600" dirty="0">
              <a:latin typeface="Calibri" panose="020F0502020204030204" pitchFamily="34" charset="0"/>
              <a:cs typeface="Calibri" panose="020F0502020204030204" pitchFamily="34" charset="0"/>
            </a:endParaRPr>
          </a:p>
          <a:p>
            <a:pPr marL="1045718" lvl="1" indent="-457200"/>
            <a:r>
              <a:rPr lang="en-US" sz="2600" b="1" dirty="0">
                <a:effectLst/>
                <a:latin typeface="Calibri" panose="020F0502020204030204" pitchFamily="34" charset="0"/>
                <a:cs typeface="Calibri" panose="020F0502020204030204" pitchFamily="34" charset="0"/>
              </a:rPr>
              <a:t>Dice :</a:t>
            </a:r>
            <a:r>
              <a:rPr lang="en-US" sz="2600" dirty="0">
                <a:effectLst/>
                <a:latin typeface="Calibri" panose="020F0502020204030204" pitchFamily="34" charset="0"/>
                <a:cs typeface="Calibri" panose="020F0502020204030204" pitchFamily="34" charset="0"/>
              </a:rPr>
              <a:t> The Dice measure simplifies the denominator and </a:t>
            </a:r>
            <a:r>
              <a:rPr lang="en-US" sz="2600" b="1" dirty="0">
                <a:effectLst/>
                <a:latin typeface="Calibri" panose="020F0502020204030204" pitchFamily="34" charset="0"/>
                <a:cs typeface="Calibri" panose="020F0502020204030204" pitchFamily="34" charset="0"/>
              </a:rPr>
              <a:t>adds a factor of 2</a:t>
            </a:r>
            <a:r>
              <a:rPr lang="en-US" sz="2600" dirty="0">
                <a:effectLst/>
                <a:latin typeface="Calibri" panose="020F0502020204030204" pitchFamily="34" charset="0"/>
                <a:cs typeface="Calibri" panose="020F0502020204030204" pitchFamily="34" charset="0"/>
              </a:rPr>
              <a:t> in the numerator, also ranging from -1 to 1, but it’s less sensitive to the number of common terms.</a:t>
            </a:r>
            <a:endParaRPr lang="en-US" sz="2600" dirty="0">
              <a:latin typeface="Calibri" panose="020F0502020204030204" pitchFamily="34" charset="0"/>
              <a:cs typeface="Calibri" panose="020F0502020204030204" pitchFamily="34" charset="0"/>
            </a:endParaRPr>
          </a:p>
          <a:p>
            <a:pPr marL="1045718" lvl="1" indent="-457200"/>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15</a:t>
            </a:fld>
            <a:endParaRPr lang="en-US" sz="900">
              <a:solidFill>
                <a:schemeClr val="lt1"/>
              </a:solidFill>
            </a:endParaRPr>
          </a:p>
        </p:txBody>
      </p:sp>
      <p:pic>
        <p:nvPicPr>
          <p:cNvPr id="3" name="Picture 2">
            <a:extLst>
              <a:ext uri="{FF2B5EF4-FFF2-40B4-BE49-F238E27FC236}">
                <a16:creationId xmlns:a16="http://schemas.microsoft.com/office/drawing/2014/main" id="{A9A6E483-E3D5-CC94-79C8-8CE5F915AB5E}"/>
              </a:ext>
            </a:extLst>
          </p:cNvPr>
          <p:cNvPicPr>
            <a:picLocks noChangeAspect="1"/>
          </p:cNvPicPr>
          <p:nvPr/>
        </p:nvPicPr>
        <p:blipFill>
          <a:blip r:embed="rId2"/>
          <a:stretch>
            <a:fillRect/>
          </a:stretch>
        </p:blipFill>
        <p:spPr>
          <a:xfrm>
            <a:off x="3212616" y="2510874"/>
            <a:ext cx="4974381" cy="1256056"/>
          </a:xfrm>
          <a:prstGeom prst="rect">
            <a:avLst/>
          </a:prstGeom>
        </p:spPr>
      </p:pic>
      <p:pic>
        <p:nvPicPr>
          <p:cNvPr id="8" name="Picture 7">
            <a:extLst>
              <a:ext uri="{FF2B5EF4-FFF2-40B4-BE49-F238E27FC236}">
                <a16:creationId xmlns:a16="http://schemas.microsoft.com/office/drawing/2014/main" id="{7310438F-BE3A-8021-9E66-88FD178930B0}"/>
              </a:ext>
            </a:extLst>
          </p:cNvPr>
          <p:cNvPicPr>
            <a:picLocks noChangeAspect="1"/>
          </p:cNvPicPr>
          <p:nvPr/>
        </p:nvPicPr>
        <p:blipFill>
          <a:blip r:embed="rId3"/>
          <a:stretch>
            <a:fillRect/>
          </a:stretch>
        </p:blipFill>
        <p:spPr>
          <a:xfrm>
            <a:off x="5655896" y="4969566"/>
            <a:ext cx="4974004" cy="1347997"/>
          </a:xfrm>
          <a:prstGeom prst="rect">
            <a:avLst/>
          </a:prstGeom>
        </p:spPr>
      </p:pic>
    </p:spTree>
    <p:extLst>
      <p:ext uri="{BB962C8B-B14F-4D97-AF65-F5344CB8AC3E}">
        <p14:creationId xmlns:p14="http://schemas.microsoft.com/office/powerpoint/2010/main" val="1335571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Similarity Measures - </a:t>
            </a:r>
            <a:r>
              <a:rPr lang="en-US" sz="3600" dirty="0">
                <a:effectLst/>
                <a:latin typeface="Calibri" panose="020F0502020204030204" pitchFamily="34" charset="0"/>
                <a:cs typeface="Calibri" panose="020F0502020204030204" pitchFamily="34" charset="0"/>
              </a:rPr>
              <a:t>Jaccard and Dice Measures </a:t>
            </a:r>
            <a:endParaRPr lang="en-US"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16</a:t>
            </a:fld>
            <a:endParaRPr lang="en-US" sz="900">
              <a:solidFill>
                <a:schemeClr val="lt1"/>
              </a:solidFill>
            </a:endParaRPr>
          </a:p>
        </p:txBody>
      </p:sp>
      <p:pic>
        <p:nvPicPr>
          <p:cNvPr id="3" name="Picture 2">
            <a:extLst>
              <a:ext uri="{FF2B5EF4-FFF2-40B4-BE49-F238E27FC236}">
                <a16:creationId xmlns:a16="http://schemas.microsoft.com/office/drawing/2014/main" id="{0A6A8247-8273-0EE6-77D0-0927B3F23435}"/>
              </a:ext>
            </a:extLst>
          </p:cNvPr>
          <p:cNvPicPr>
            <a:picLocks noChangeAspect="1"/>
          </p:cNvPicPr>
          <p:nvPr/>
        </p:nvPicPr>
        <p:blipFill>
          <a:blip r:embed="rId2"/>
          <a:stretch>
            <a:fillRect/>
          </a:stretch>
        </p:blipFill>
        <p:spPr>
          <a:xfrm>
            <a:off x="5357191" y="1639957"/>
            <a:ext cx="4839735" cy="4641574"/>
          </a:xfrm>
          <a:prstGeom prst="rect">
            <a:avLst/>
          </a:prstGeom>
        </p:spPr>
      </p:pic>
    </p:spTree>
    <p:extLst>
      <p:ext uri="{BB962C8B-B14F-4D97-AF65-F5344CB8AC3E}">
        <p14:creationId xmlns:p14="http://schemas.microsoft.com/office/powerpoint/2010/main" val="101027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Similarity Measures - </a:t>
            </a:r>
            <a:r>
              <a:rPr lang="en-US" sz="3600" dirty="0">
                <a:effectLst/>
                <a:latin typeface="Calibri" panose="020F0502020204030204" pitchFamily="34" charset="0"/>
                <a:cs typeface="Calibri" panose="020F0502020204030204" pitchFamily="34" charset="0"/>
              </a:rPr>
              <a:t>Jaccard and Dice Measures </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simple </a:t>
            </a:r>
            <a:r>
              <a:rPr lang="en-US" sz="2600" b="1" dirty="0">
                <a:latin typeface="Calibri" panose="020F0502020204030204" pitchFamily="34" charset="0"/>
                <a:cs typeface="Calibri" panose="020F0502020204030204" pitchFamily="34" charset="0"/>
              </a:rPr>
              <a:t>“sum of the products</a:t>
            </a:r>
            <a:r>
              <a:rPr lang="en-US" sz="2600" dirty="0">
                <a:latin typeface="Calibri" panose="020F0502020204030204" pitchFamily="34" charset="0"/>
                <a:cs typeface="Calibri" panose="020F0502020204030204" pitchFamily="34" charset="0"/>
              </a:rPr>
              <a:t>” similarity formula is used to calculate similarity between the </a:t>
            </a:r>
            <a:r>
              <a:rPr lang="en-US" sz="2600" b="1" dirty="0">
                <a:latin typeface="Calibri" panose="020F0502020204030204" pitchFamily="34" charset="0"/>
                <a:cs typeface="Calibri" panose="020F0502020204030204" pitchFamily="34" charset="0"/>
              </a:rPr>
              <a:t>query and each document</a:t>
            </a:r>
            <a:r>
              <a:rPr lang="en-US" sz="2600" dirty="0">
                <a:latin typeface="Calibri" panose="020F0502020204030204" pitchFamily="34" charset="0"/>
                <a:cs typeface="Calibri" panose="020F0502020204030204" pitchFamily="34" charset="0"/>
              </a:rPr>
              <a:t>. If </a:t>
            </a:r>
            <a:r>
              <a:rPr lang="en-US" sz="2600" b="1" dirty="0">
                <a:latin typeface="Calibri" panose="020F0502020204030204" pitchFamily="34" charset="0"/>
                <a:cs typeface="Calibri" panose="020F0502020204030204" pitchFamily="34" charset="0"/>
              </a:rPr>
              <a:t>no threshold </a:t>
            </a:r>
            <a:r>
              <a:rPr lang="en-US" sz="2600" dirty="0">
                <a:latin typeface="Calibri" panose="020F0502020204030204" pitchFamily="34" charset="0"/>
                <a:cs typeface="Calibri" panose="020F0502020204030204" pitchFamily="34" charset="0"/>
              </a:rPr>
              <a:t>is specified, all three documents </a:t>
            </a:r>
            <a:r>
              <a:rPr lang="en-US" sz="2600" b="1" dirty="0">
                <a:latin typeface="Calibri" panose="020F0502020204030204" pitchFamily="34" charset="0"/>
                <a:cs typeface="Calibri" panose="020F0502020204030204" pitchFamily="34" charset="0"/>
              </a:rPr>
              <a:t>are considered hits</a:t>
            </a:r>
            <a:r>
              <a:rPr lang="en-US" sz="2600" dirty="0">
                <a:latin typeface="Calibri" panose="020F0502020204030204" pitchFamily="34" charset="0"/>
                <a:cs typeface="Calibri" panose="020F0502020204030204" pitchFamily="34" charset="0"/>
              </a:rPr>
              <a:t>. If a threshold of 4 is selected, then only DOC1 is returned</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17</a:t>
            </a:fld>
            <a:endParaRPr lang="en-US" sz="900">
              <a:solidFill>
                <a:schemeClr val="lt1"/>
              </a:solidFill>
            </a:endParaRPr>
          </a:p>
        </p:txBody>
      </p:sp>
      <p:pic>
        <p:nvPicPr>
          <p:cNvPr id="3" name="Picture 2">
            <a:extLst>
              <a:ext uri="{FF2B5EF4-FFF2-40B4-BE49-F238E27FC236}">
                <a16:creationId xmlns:a16="http://schemas.microsoft.com/office/drawing/2014/main" id="{6A8F242B-AF8A-002E-A275-7220413070FD}"/>
              </a:ext>
            </a:extLst>
          </p:cNvPr>
          <p:cNvPicPr>
            <a:picLocks noChangeAspect="1"/>
          </p:cNvPicPr>
          <p:nvPr/>
        </p:nvPicPr>
        <p:blipFill>
          <a:blip r:embed="rId2"/>
          <a:stretch>
            <a:fillRect/>
          </a:stretch>
        </p:blipFill>
        <p:spPr>
          <a:xfrm>
            <a:off x="4714460" y="3107735"/>
            <a:ext cx="5850835" cy="2851976"/>
          </a:xfrm>
          <a:prstGeom prst="rect">
            <a:avLst/>
          </a:prstGeom>
        </p:spPr>
      </p:pic>
    </p:spTree>
    <p:extLst>
      <p:ext uri="{BB962C8B-B14F-4D97-AF65-F5344CB8AC3E}">
        <p14:creationId xmlns:p14="http://schemas.microsoft.com/office/powerpoint/2010/main" val="87760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3"/>
            <a:ext cx="10972800" cy="877932"/>
          </a:xfrm>
        </p:spPr>
        <p:txBody>
          <a:bodyPr/>
          <a:lstStyle/>
          <a:p>
            <a:r>
              <a:rPr lang="en-US" dirty="0"/>
              <a:t>Ranking Algorithms - </a:t>
            </a:r>
            <a:r>
              <a:rPr lang="en-US" sz="3600" dirty="0">
                <a:effectLst/>
                <a:latin typeface="Calibri" panose="020F0502020204030204" pitchFamily="34" charset="0"/>
                <a:cs typeface="Calibri" panose="020F0502020204030204" pitchFamily="34" charset="0"/>
              </a:rPr>
              <a:t>Coarse Grain Ranking</a:t>
            </a:r>
            <a:endParaRPr lang="en-US" dirty="0"/>
          </a:p>
        </p:txBody>
      </p:sp>
      <p:sp>
        <p:nvSpPr>
          <p:cNvPr id="3" name="Content Placeholder 2">
            <a:extLst>
              <a:ext uri="{FF2B5EF4-FFF2-40B4-BE49-F238E27FC236}">
                <a16:creationId xmlns:a16="http://schemas.microsoft.com/office/drawing/2014/main" id="{7BFD516F-5BBC-BE89-2E77-86DA0931A8F3}"/>
              </a:ext>
            </a:extLst>
          </p:cNvPr>
          <p:cNvSpPr>
            <a:spLocks noGrp="1"/>
          </p:cNvSpPr>
          <p:nvPr>
            <p:ph sz="quarter" idx="14"/>
          </p:nvPr>
        </p:nvSpPr>
        <p:spPr>
          <a:xfrm>
            <a:off x="609600" y="1217554"/>
            <a:ext cx="3755997" cy="4808467"/>
          </a:xfrm>
        </p:spPr>
        <p:txBody>
          <a:bodyPr/>
          <a:lstStyle/>
          <a:p>
            <a:pPr marL="101600" indent="0">
              <a:buNone/>
            </a:pPr>
            <a:r>
              <a:rPr lang="en-US" sz="2400" b="1" dirty="0">
                <a:effectLst/>
                <a:latin typeface="Calibri" panose="020F0502020204030204" pitchFamily="34" charset="0"/>
                <a:cs typeface="Calibri" panose="020F0502020204030204" pitchFamily="34" charset="0"/>
              </a:rPr>
              <a:t>Completeness:</a:t>
            </a:r>
          </a:p>
          <a:p>
            <a:pPr marL="101600" indent="0">
              <a:buNone/>
            </a:pPr>
            <a:r>
              <a:rPr lang="en-US" sz="2200" dirty="0">
                <a:effectLst/>
                <a:latin typeface="Calibri" panose="020F0502020204030204" pitchFamily="34" charset="0"/>
                <a:cs typeface="Calibri" panose="020F0502020204030204" pitchFamily="34" charset="0"/>
              </a:rPr>
              <a:t>Example: If the query has 5 terms and the item contains 3 of them (or their synonyms), the completeness is 3/5 = 0.6.</a:t>
            </a:r>
          </a:p>
          <a:p>
            <a:pPr marL="101600" indent="0">
              <a:buNone/>
            </a:pPr>
            <a:r>
              <a:rPr lang="en-US" sz="2200" dirty="0">
                <a:effectLst/>
                <a:latin typeface="Calibri" panose="020F0502020204030204" pitchFamily="34" charset="0"/>
                <a:cs typeface="Calibri" panose="020F0502020204030204" pitchFamily="34" charset="0"/>
              </a:rPr>
              <a:t>This sets an </a:t>
            </a:r>
            <a:r>
              <a:rPr lang="en-US" sz="2200" b="1" dirty="0">
                <a:effectLst/>
                <a:latin typeface="Calibri" panose="020F0502020204030204" pitchFamily="34" charset="0"/>
                <a:cs typeface="Calibri" panose="020F0502020204030204" pitchFamily="34" charset="0"/>
              </a:rPr>
              <a:t>upper limit on the item’s rank.</a:t>
            </a:r>
            <a:r>
              <a:rPr lang="en-US" sz="2200" dirty="0">
                <a:effectLst/>
                <a:latin typeface="Calibri" panose="020F0502020204030204" pitchFamily="34" charset="0"/>
                <a:cs typeface="Calibri" panose="020F0502020204030204" pitchFamily="34" charset="0"/>
              </a:rPr>
              <a:t> If query terms are weighted (e.g., some terms are marked as more important), those </a:t>
            </a:r>
            <a:r>
              <a:rPr lang="en-US" sz="2200" b="1" dirty="0">
                <a:effectLst/>
                <a:latin typeface="Calibri" panose="020F0502020204030204" pitchFamily="34" charset="0"/>
                <a:cs typeface="Calibri" panose="020F0502020204030204" pitchFamily="34" charset="0"/>
              </a:rPr>
              <a:t>weights are factored into the score.</a:t>
            </a:r>
          </a:p>
          <a:p>
            <a:endParaRPr lang="en-US" sz="2000" dirty="0">
              <a:effectLst/>
              <a:latin typeface="Calibri" panose="020F0502020204030204" pitchFamily="34" charset="0"/>
              <a:cs typeface="Calibri" panose="020F0502020204030204" pitchFamily="34" charset="0"/>
            </a:endParaRPr>
          </a:p>
          <a:p>
            <a:endParaRPr lang="en-US" sz="2000"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4365597" y="1217554"/>
            <a:ext cx="2870087" cy="4808468"/>
          </a:xfrm>
        </p:spPr>
        <p:txBody>
          <a:bodyPr/>
          <a:lstStyle/>
          <a:p>
            <a:pPr marL="101600" indent="0">
              <a:buNone/>
            </a:pPr>
            <a:r>
              <a:rPr lang="en-US" sz="2400" b="1" dirty="0">
                <a:effectLst/>
                <a:latin typeface="Calibri" panose="020F0502020204030204" pitchFamily="34" charset="0"/>
                <a:cs typeface="Calibri" panose="020F0502020204030204" pitchFamily="34" charset="0"/>
              </a:rPr>
              <a:t>Semantic Distance</a:t>
            </a:r>
          </a:p>
          <a:p>
            <a:pPr marL="101600" indent="0">
              <a:buNone/>
            </a:pPr>
            <a:r>
              <a:rPr lang="en-US" sz="2200" dirty="0">
                <a:latin typeface="Calibri" panose="020F0502020204030204" pitchFamily="34" charset="0"/>
                <a:cs typeface="Calibri" panose="020F0502020204030204" pitchFamily="34" charset="0"/>
              </a:rPr>
              <a:t>Synonyms (e.g., “buy” for “purchase”) increase the score, while antonyms (e.g., “sell” for “buy”) decrease it.</a:t>
            </a:r>
          </a:p>
          <a:p>
            <a:pPr marL="101600" indent="0">
              <a:buNone/>
            </a:pPr>
            <a:r>
              <a:rPr lang="en-US" sz="2200" dirty="0">
                <a:latin typeface="Calibri" panose="020F0502020204030204" pitchFamily="34" charset="0"/>
                <a:cs typeface="Calibri" panose="020F0502020204030204" pitchFamily="34" charset="0"/>
              </a:rPr>
              <a:t>The closer the </a:t>
            </a:r>
            <a:r>
              <a:rPr lang="en-US" sz="2200" b="1" dirty="0">
                <a:latin typeface="Calibri" panose="020F0502020204030204" pitchFamily="34" charset="0"/>
                <a:cs typeface="Calibri" panose="020F0502020204030204" pitchFamily="34" charset="0"/>
              </a:rPr>
              <a:t>semantic relationship</a:t>
            </a:r>
            <a:r>
              <a:rPr lang="en-US" sz="2200" dirty="0">
                <a:latin typeface="Calibri" panose="020F0502020204030204" pitchFamily="34" charset="0"/>
                <a:cs typeface="Calibri" panose="020F0502020204030204" pitchFamily="34" charset="0"/>
              </a:rPr>
              <a:t>, the more weight is added to the ranking.</a:t>
            </a:r>
          </a:p>
        </p:txBody>
      </p:sp>
      <p:sp>
        <p:nvSpPr>
          <p:cNvPr id="4" name="Content Placeholder 3">
            <a:extLst>
              <a:ext uri="{FF2B5EF4-FFF2-40B4-BE49-F238E27FC236}">
                <a16:creationId xmlns:a16="http://schemas.microsoft.com/office/drawing/2014/main" id="{F211BB15-74F4-F760-C70E-5CAF5D0AB978}"/>
              </a:ext>
            </a:extLst>
          </p:cNvPr>
          <p:cNvSpPr>
            <a:spLocks noGrp="1"/>
          </p:cNvSpPr>
          <p:nvPr>
            <p:ph sz="quarter" idx="15"/>
          </p:nvPr>
        </p:nvSpPr>
        <p:spPr>
          <a:xfrm>
            <a:off x="7247297" y="1217554"/>
            <a:ext cx="4412973" cy="4808468"/>
          </a:xfrm>
        </p:spPr>
        <p:txBody>
          <a:bodyPr/>
          <a:lstStyle/>
          <a:p>
            <a:pPr marL="101600" indent="0">
              <a:buNone/>
            </a:pPr>
            <a:r>
              <a:rPr lang="en-US" sz="2400" b="1" dirty="0">
                <a:effectLst/>
                <a:latin typeface="Calibri" panose="020F0502020204030204" pitchFamily="34" charset="0"/>
                <a:cs typeface="Calibri" panose="020F0502020204030204" pitchFamily="34" charset="0"/>
              </a:rPr>
              <a:t>Contextual Evidence:</a:t>
            </a:r>
          </a:p>
          <a:p>
            <a:r>
              <a:rPr lang="en-US" sz="2200" dirty="0"/>
              <a:t>Example: If the query term is “charge” with the context of “paying for an object,” finding words like “buy,” “purchase,” or “debt” in the item suggests that “charge” is used in the desired sense, increasing the item’s score.</a:t>
            </a:r>
          </a:p>
          <a:p>
            <a:r>
              <a:rPr lang="en-US" sz="2200" dirty="0"/>
              <a:t>This helps disambiguate terms with </a:t>
            </a:r>
            <a:r>
              <a:rPr lang="en-US" sz="2200" b="1" dirty="0"/>
              <a:t>multiple meanings </a:t>
            </a:r>
            <a:r>
              <a:rPr lang="en-US" sz="2200" dirty="0"/>
              <a:t>(e.g., “charge” as in payment vs. “charge” as in an electrical charge).</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18</a:t>
            </a:fld>
            <a:endParaRPr lang="en-US" sz="900">
              <a:solidFill>
                <a:schemeClr val="lt1"/>
              </a:solidFill>
            </a:endParaRPr>
          </a:p>
        </p:txBody>
      </p:sp>
    </p:spTree>
    <p:extLst>
      <p:ext uri="{BB962C8B-B14F-4D97-AF65-F5344CB8AC3E}">
        <p14:creationId xmlns:p14="http://schemas.microsoft.com/office/powerpoint/2010/main" val="4090610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3"/>
            <a:ext cx="10972800" cy="818298"/>
          </a:xfrm>
        </p:spPr>
        <p:txBody>
          <a:bodyPr/>
          <a:lstStyle/>
          <a:p>
            <a:r>
              <a:rPr lang="en-US" dirty="0"/>
              <a:t>Ranking Algorithms - </a:t>
            </a:r>
            <a:r>
              <a:rPr lang="en-US" sz="3600" dirty="0">
                <a:effectLst/>
                <a:latin typeface="Calibri" panose="020F0502020204030204" pitchFamily="34" charset="0"/>
                <a:cs typeface="Calibri" panose="020F0502020204030204" pitchFamily="34" charset="0"/>
              </a:rPr>
              <a:t>Fine Grain Ranking</a:t>
            </a:r>
            <a:r>
              <a:rPr lang="en-US" dirty="0"/>
              <a:t> </a:t>
            </a:r>
          </a:p>
        </p:txBody>
      </p:sp>
      <p:sp>
        <p:nvSpPr>
          <p:cNvPr id="2" name="Content Placeholder 1">
            <a:extLst>
              <a:ext uri="{FF2B5EF4-FFF2-40B4-BE49-F238E27FC236}">
                <a16:creationId xmlns:a16="http://schemas.microsoft.com/office/drawing/2014/main" id="{A525F6A0-009C-74C4-578E-60698BD8C191}"/>
              </a:ext>
            </a:extLst>
          </p:cNvPr>
          <p:cNvSpPr>
            <a:spLocks noGrp="1"/>
          </p:cNvSpPr>
          <p:nvPr>
            <p:ph sz="quarter" idx="13"/>
          </p:nvPr>
        </p:nvSpPr>
        <p:spPr>
          <a:xfrm>
            <a:off x="609601" y="1033671"/>
            <a:ext cx="5322627" cy="4957554"/>
          </a:xfrm>
        </p:spPr>
        <p:txBody>
          <a:bodyPr/>
          <a:lstStyle/>
          <a:p>
            <a:pPr marL="101600" indent="0">
              <a:buNone/>
            </a:pPr>
            <a:r>
              <a:rPr lang="en-US" sz="2400" b="1" dirty="0">
                <a:effectLst/>
                <a:latin typeface="Calibri" panose="020F0502020204030204" pitchFamily="34" charset="0"/>
                <a:cs typeface="Calibri" panose="020F0502020204030204" pitchFamily="34" charset="0"/>
              </a:rPr>
              <a:t>Proximity</a:t>
            </a:r>
          </a:p>
          <a:p>
            <a:r>
              <a:rPr lang="en-US" sz="2400" dirty="0">
                <a:effectLst/>
                <a:latin typeface="Calibri" panose="020F0502020204030204" pitchFamily="34" charset="0"/>
                <a:cs typeface="Calibri" panose="020F0502020204030204" pitchFamily="34" charset="0"/>
              </a:rPr>
              <a:t>A proximity factor is calculated, which is highest </a:t>
            </a:r>
            <a:r>
              <a:rPr lang="en-US" sz="2400" b="1" dirty="0">
                <a:effectLst/>
                <a:latin typeface="Calibri" panose="020F0502020204030204" pitchFamily="34" charset="0"/>
                <a:cs typeface="Calibri" panose="020F0502020204030204" pitchFamily="34" charset="0"/>
              </a:rPr>
              <a:t>when terms are adjacent </a:t>
            </a:r>
            <a:r>
              <a:rPr lang="en-US" sz="2400" dirty="0">
                <a:effectLst/>
                <a:latin typeface="Calibri" panose="020F0502020204030204" pitchFamily="34" charset="0"/>
                <a:cs typeface="Calibri" panose="020F0502020204030204" pitchFamily="34" charset="0"/>
              </a:rPr>
              <a:t>and decreases as the distance between terms increases.</a:t>
            </a:r>
          </a:p>
          <a:p>
            <a:r>
              <a:rPr lang="en-US" sz="2400" dirty="0">
                <a:effectLst/>
                <a:latin typeface="Calibri" panose="020F0502020204030204" pitchFamily="34" charset="0"/>
                <a:cs typeface="Calibri" panose="020F0502020204030204" pitchFamily="34" charset="0"/>
              </a:rPr>
              <a:t>Example: If the query terms “machine” and “learning” appear next to each other (e.g., “machine learning”), the item scores higher than if they are in different paragraphs (e.g., “machine” in the introduction and “learning” in the conclusion).</a:t>
            </a:r>
          </a:p>
        </p:txBody>
      </p:sp>
      <p:sp>
        <p:nvSpPr>
          <p:cNvPr id="3" name="Content Placeholder 2">
            <a:extLst>
              <a:ext uri="{FF2B5EF4-FFF2-40B4-BE49-F238E27FC236}">
                <a16:creationId xmlns:a16="http://schemas.microsoft.com/office/drawing/2014/main" id="{C5BA8C6A-C7FC-0CA3-6295-66F5D44CCE23}"/>
              </a:ext>
            </a:extLst>
          </p:cNvPr>
          <p:cNvSpPr>
            <a:spLocks noGrp="1"/>
          </p:cNvSpPr>
          <p:nvPr>
            <p:ph sz="quarter" idx="14"/>
          </p:nvPr>
        </p:nvSpPr>
        <p:spPr>
          <a:xfrm>
            <a:off x="6259773" y="1033671"/>
            <a:ext cx="5322627" cy="4957554"/>
          </a:xfrm>
        </p:spPr>
        <p:txBody>
          <a:bodyPr/>
          <a:lstStyle/>
          <a:p>
            <a:pPr marL="101600" indent="0">
              <a:buNone/>
            </a:pPr>
            <a:r>
              <a:rPr lang="en-US" sz="2400" b="1" dirty="0">
                <a:effectLst/>
                <a:latin typeface="Calibri" panose="020F0502020204030204" pitchFamily="34" charset="0"/>
                <a:cs typeface="Calibri" panose="020F0502020204030204" pitchFamily="34" charset="0"/>
              </a:rPr>
              <a:t>Impact of Proximity</a:t>
            </a:r>
          </a:p>
          <a:p>
            <a:r>
              <a:rPr lang="en-US" sz="2400" dirty="0">
                <a:effectLst/>
                <a:latin typeface="Calibri" panose="020F0502020204030204" pitchFamily="34" charset="0"/>
                <a:cs typeface="Calibri" panose="020F0502020204030204" pitchFamily="34" charset="0"/>
              </a:rPr>
              <a:t>In long documents, if query terms are widely distributed (e.g., one term at the beginning and another at the end), the </a:t>
            </a:r>
            <a:r>
              <a:rPr lang="en-US" sz="2400" b="1" dirty="0">
                <a:effectLst/>
                <a:latin typeface="Calibri" panose="020F0502020204030204" pitchFamily="34" charset="0"/>
                <a:cs typeface="Calibri" panose="020F0502020204030204" pitchFamily="34" charset="0"/>
              </a:rPr>
              <a:t>fine grain rank can drop significantly, even to zero</a:t>
            </a:r>
            <a:r>
              <a:rPr lang="en-US" sz="2400" dirty="0">
                <a:effectLst/>
                <a:latin typeface="Calibri" panose="020F0502020204030204" pitchFamily="34" charset="0"/>
                <a:cs typeface="Calibri" panose="020F0502020204030204" pitchFamily="34" charset="0"/>
              </a:rPr>
              <a:t>, despite the terms being present.</a:t>
            </a:r>
          </a:p>
          <a:p>
            <a:r>
              <a:rPr lang="en-US" sz="2400" dirty="0">
                <a:effectLst/>
                <a:latin typeface="Calibri" panose="020F0502020204030204" pitchFamily="34" charset="0"/>
                <a:cs typeface="Calibri" panose="020F0502020204030204" pitchFamily="34" charset="0"/>
              </a:rPr>
              <a:t>This reflects the intuition that </a:t>
            </a:r>
            <a:r>
              <a:rPr lang="en-US" sz="2400" b="1" dirty="0">
                <a:effectLst/>
                <a:latin typeface="Calibri" panose="020F0502020204030204" pitchFamily="34" charset="0"/>
                <a:cs typeface="Calibri" panose="020F0502020204030204" pitchFamily="34" charset="0"/>
              </a:rPr>
              <a:t>scattered terms are less likely to indicate relevance</a:t>
            </a:r>
            <a:r>
              <a:rPr lang="en-US" sz="2400" dirty="0">
                <a:effectLst/>
                <a:latin typeface="Calibri" panose="020F0502020204030204" pitchFamily="34" charset="0"/>
                <a:cs typeface="Calibri" panose="020F0502020204030204" pitchFamily="34" charset="0"/>
              </a:rPr>
              <a:t> to the query as a whole.</a:t>
            </a:r>
          </a:p>
          <a:p>
            <a:endParaRPr lang="en-US" sz="2400" b="1"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19</a:t>
            </a:fld>
            <a:endParaRPr lang="en-US" sz="900">
              <a:solidFill>
                <a:schemeClr val="lt1"/>
              </a:solidFill>
            </a:endParaRPr>
          </a:p>
        </p:txBody>
      </p:sp>
    </p:spTree>
    <p:extLst>
      <p:ext uri="{BB962C8B-B14F-4D97-AF65-F5344CB8AC3E}">
        <p14:creationId xmlns:p14="http://schemas.microsoft.com/office/powerpoint/2010/main" val="2677831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Relevance Feedback</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441449"/>
            <a:ext cx="10977033" cy="4838767"/>
          </a:xfrm>
        </p:spPr>
        <p:txBody>
          <a:bodyPr/>
          <a:lstStyle/>
          <a:p>
            <a:r>
              <a:rPr lang="en-US" sz="2600" dirty="0">
                <a:latin typeface="Calibri" panose="020F0502020204030204" pitchFamily="34" charset="0"/>
                <a:cs typeface="Calibri" panose="020F0502020204030204" pitchFamily="34" charset="0"/>
              </a:rPr>
              <a:t>The foundational work on relevance feedback was done by </a:t>
            </a:r>
            <a:r>
              <a:rPr lang="en-US" sz="2600" b="1" dirty="0" err="1">
                <a:latin typeface="Calibri" panose="020F0502020204030204" pitchFamily="34" charset="0"/>
                <a:cs typeface="Calibri" panose="020F0502020204030204" pitchFamily="34" charset="0"/>
              </a:rPr>
              <a:t>Rocchio</a:t>
            </a:r>
            <a:r>
              <a:rPr lang="en-US" sz="2600" b="1" dirty="0">
                <a:latin typeface="Calibri" panose="020F0502020204030204" pitchFamily="34" charset="0"/>
                <a:cs typeface="Calibri" panose="020F0502020204030204" pitchFamily="34" charset="0"/>
              </a:rPr>
              <a:t> (1971), </a:t>
            </a:r>
            <a:r>
              <a:rPr lang="en-US" sz="2600" dirty="0">
                <a:latin typeface="Calibri" panose="020F0502020204030204" pitchFamily="34" charset="0"/>
                <a:cs typeface="Calibri" panose="020F0502020204030204" pitchFamily="34" charset="0"/>
              </a:rPr>
              <a:t>building on </a:t>
            </a:r>
            <a:r>
              <a:rPr lang="en-US" sz="2600" b="1" dirty="0">
                <a:latin typeface="Calibri" panose="020F0502020204030204" pitchFamily="34" charset="0"/>
                <a:cs typeface="Calibri" panose="020F0502020204030204" pitchFamily="34" charset="0"/>
              </a:rPr>
              <a:t>vector representations of queries and documents</a:t>
            </a:r>
            <a:r>
              <a:rPr lang="en-US" sz="2600" dirty="0">
                <a:latin typeface="Calibri" panose="020F0502020204030204" pitchFamily="34" charset="0"/>
                <a:cs typeface="Calibri" panose="020F0502020204030204" pitchFamily="34" charset="0"/>
              </a:rPr>
              <a:t>. The idea is to adjust the query vector to </a:t>
            </a:r>
            <a:r>
              <a:rPr lang="en-US" sz="2600" b="1" dirty="0">
                <a:latin typeface="Calibri" panose="020F0502020204030204" pitchFamily="34" charset="0"/>
                <a:cs typeface="Calibri" panose="020F0502020204030204" pitchFamily="34" charset="0"/>
              </a:rPr>
              <a:t>increase the weight of terms</a:t>
            </a:r>
            <a:r>
              <a:rPr lang="en-US" sz="2600" dirty="0">
                <a:latin typeface="Calibri" panose="020F0502020204030204" pitchFamily="34" charset="0"/>
                <a:cs typeface="Calibri" panose="020F0502020204030204" pitchFamily="34" charset="0"/>
              </a:rPr>
              <a:t> found in relevant documents and </a:t>
            </a:r>
            <a:r>
              <a:rPr lang="en-US" sz="2600" b="1" dirty="0">
                <a:latin typeface="Calibri" panose="020F0502020204030204" pitchFamily="34" charset="0"/>
                <a:cs typeface="Calibri" panose="020F0502020204030204" pitchFamily="34" charset="0"/>
              </a:rPr>
              <a:t>decrease</a:t>
            </a:r>
            <a:r>
              <a:rPr lang="en-US" sz="2600" dirty="0">
                <a:latin typeface="Calibri" panose="020F0502020204030204" pitchFamily="34" charset="0"/>
                <a:cs typeface="Calibri" panose="020F0502020204030204" pitchFamily="34" charset="0"/>
              </a:rPr>
              <a:t> the </a:t>
            </a:r>
            <a:r>
              <a:rPr lang="en-US" sz="2600" b="1" dirty="0">
                <a:latin typeface="Calibri" panose="020F0502020204030204" pitchFamily="34" charset="0"/>
                <a:cs typeface="Calibri" panose="020F0502020204030204" pitchFamily="34" charset="0"/>
              </a:rPr>
              <a:t>weight of terms in non-relevant documents</a:t>
            </a:r>
            <a:r>
              <a:rPr lang="en-US" sz="2600" dirty="0">
                <a:latin typeface="Calibri" panose="020F0502020204030204" pitchFamily="34" charset="0"/>
                <a:cs typeface="Calibri" panose="020F0502020204030204" pitchFamily="34" charset="0"/>
              </a:rPr>
              <a:t>.</a:t>
            </a:r>
          </a:p>
          <a:p>
            <a:r>
              <a:rPr lang="en-US" sz="2600" dirty="0">
                <a:latin typeface="Calibri" panose="020F0502020204030204" pitchFamily="34" charset="0"/>
                <a:cs typeface="Calibri" panose="020F0502020204030204" pitchFamily="34" charset="0"/>
              </a:rPr>
              <a:t>The revised </a:t>
            </a:r>
            <a:r>
              <a:rPr lang="en-US" sz="2600" dirty="0" err="1">
                <a:latin typeface="Calibri" panose="020F0502020204030204" pitchFamily="34" charset="0"/>
                <a:cs typeface="Calibri" panose="020F0502020204030204" pitchFamily="34" charset="0"/>
              </a:rPr>
              <a:t>Rocchio</a:t>
            </a:r>
            <a:r>
              <a:rPr lang="en-US" sz="2600" dirty="0">
                <a:latin typeface="Calibri" panose="020F0502020204030204" pitchFamily="34" charset="0"/>
                <a:cs typeface="Calibri" panose="020F0502020204030204" pitchFamily="34" charset="0"/>
              </a:rPr>
              <a:t> formula for query modification</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20</a:t>
            </a:fld>
            <a:endParaRPr lang="en-US" sz="900">
              <a:solidFill>
                <a:schemeClr val="lt1"/>
              </a:solidFill>
            </a:endParaRPr>
          </a:p>
        </p:txBody>
      </p:sp>
      <p:pic>
        <p:nvPicPr>
          <p:cNvPr id="3" name="Picture 2">
            <a:extLst>
              <a:ext uri="{FF2B5EF4-FFF2-40B4-BE49-F238E27FC236}">
                <a16:creationId xmlns:a16="http://schemas.microsoft.com/office/drawing/2014/main" id="{090AFA85-E669-E2BA-9EA9-E2A98A06DB3F}"/>
              </a:ext>
            </a:extLst>
          </p:cNvPr>
          <p:cNvPicPr>
            <a:picLocks noChangeAspect="1"/>
          </p:cNvPicPr>
          <p:nvPr/>
        </p:nvPicPr>
        <p:blipFill>
          <a:blip r:embed="rId2"/>
          <a:stretch>
            <a:fillRect/>
          </a:stretch>
        </p:blipFill>
        <p:spPr>
          <a:xfrm>
            <a:off x="1348202" y="3969787"/>
            <a:ext cx="3507538" cy="704022"/>
          </a:xfrm>
          <a:prstGeom prst="rect">
            <a:avLst/>
          </a:prstGeom>
        </p:spPr>
      </p:pic>
      <p:pic>
        <p:nvPicPr>
          <p:cNvPr id="8" name="Picture 7">
            <a:extLst>
              <a:ext uri="{FF2B5EF4-FFF2-40B4-BE49-F238E27FC236}">
                <a16:creationId xmlns:a16="http://schemas.microsoft.com/office/drawing/2014/main" id="{F7F47A8B-1FF4-7ABF-BFC3-F1A7DAE3BD33}"/>
              </a:ext>
            </a:extLst>
          </p:cNvPr>
          <p:cNvPicPr>
            <a:picLocks noChangeAspect="1"/>
          </p:cNvPicPr>
          <p:nvPr/>
        </p:nvPicPr>
        <p:blipFill>
          <a:blip r:embed="rId3"/>
          <a:stretch>
            <a:fillRect/>
          </a:stretch>
        </p:blipFill>
        <p:spPr>
          <a:xfrm>
            <a:off x="5436704" y="3924050"/>
            <a:ext cx="5843003" cy="2356167"/>
          </a:xfrm>
          <a:prstGeom prst="rect">
            <a:avLst/>
          </a:prstGeom>
        </p:spPr>
      </p:pic>
      <p:pic>
        <p:nvPicPr>
          <p:cNvPr id="9" name="Content Placeholder 2">
            <a:extLst>
              <a:ext uri="{FF2B5EF4-FFF2-40B4-BE49-F238E27FC236}">
                <a16:creationId xmlns:a16="http://schemas.microsoft.com/office/drawing/2014/main" id="{3B781522-26F1-3132-C63E-86B32F465BA5}"/>
              </a:ext>
            </a:extLst>
          </p:cNvPr>
          <p:cNvPicPr>
            <a:picLocks noChangeAspect="1"/>
          </p:cNvPicPr>
          <p:nvPr/>
        </p:nvPicPr>
        <p:blipFill>
          <a:blip r:embed="rId4"/>
          <a:stretch>
            <a:fillRect/>
          </a:stretch>
        </p:blipFill>
        <p:spPr>
          <a:xfrm>
            <a:off x="1276431" y="5159790"/>
            <a:ext cx="3579309" cy="783396"/>
          </a:xfrm>
          <a:prstGeom prst="rect">
            <a:avLst/>
          </a:prstGeom>
          <a:noFill/>
          <a:ln>
            <a:noFill/>
          </a:ln>
        </p:spPr>
      </p:pic>
    </p:spTree>
    <p:extLst>
      <p:ext uri="{BB962C8B-B14F-4D97-AF65-F5344CB8AC3E}">
        <p14:creationId xmlns:p14="http://schemas.microsoft.com/office/powerpoint/2010/main" val="170363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3"/>
            <a:ext cx="10972800" cy="788480"/>
          </a:xfrm>
        </p:spPr>
        <p:txBody>
          <a:bodyPr/>
          <a:lstStyle/>
          <a:p>
            <a:r>
              <a:rPr lang="en-US" dirty="0"/>
              <a:t>Formula Breakdown</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21</a:t>
            </a:fld>
            <a:endParaRPr lang="en-US" sz="900">
              <a:solidFill>
                <a:schemeClr val="lt1"/>
              </a:solidFill>
            </a:endParaRPr>
          </a:p>
        </p:txBody>
      </p:sp>
      <p:pic>
        <p:nvPicPr>
          <p:cNvPr id="12" name="Picture 11">
            <a:extLst>
              <a:ext uri="{FF2B5EF4-FFF2-40B4-BE49-F238E27FC236}">
                <a16:creationId xmlns:a16="http://schemas.microsoft.com/office/drawing/2014/main" id="{A934251A-46A6-601E-1835-56368C8394C3}"/>
              </a:ext>
            </a:extLst>
          </p:cNvPr>
          <p:cNvPicPr>
            <a:picLocks noChangeAspect="1"/>
          </p:cNvPicPr>
          <p:nvPr/>
        </p:nvPicPr>
        <p:blipFill>
          <a:blip r:embed="rId2"/>
          <a:stretch>
            <a:fillRect/>
          </a:stretch>
        </p:blipFill>
        <p:spPr>
          <a:xfrm>
            <a:off x="685179" y="1106513"/>
            <a:ext cx="10563225" cy="4141348"/>
          </a:xfrm>
          <a:prstGeom prst="rect">
            <a:avLst/>
          </a:prstGeom>
        </p:spPr>
      </p:pic>
    </p:spTree>
    <p:extLst>
      <p:ext uri="{BB962C8B-B14F-4D97-AF65-F5344CB8AC3E}">
        <p14:creationId xmlns:p14="http://schemas.microsoft.com/office/powerpoint/2010/main" val="626059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Formula Breakdown</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22</a:t>
            </a:fld>
            <a:endParaRPr lang="en-US" sz="900">
              <a:solidFill>
                <a:schemeClr val="lt1"/>
              </a:solidFill>
            </a:endParaRPr>
          </a:p>
        </p:txBody>
      </p:sp>
      <p:pic>
        <p:nvPicPr>
          <p:cNvPr id="14" name="Picture 13">
            <a:extLst>
              <a:ext uri="{FF2B5EF4-FFF2-40B4-BE49-F238E27FC236}">
                <a16:creationId xmlns:a16="http://schemas.microsoft.com/office/drawing/2014/main" id="{753D29CC-1641-9510-561F-572C3DA8B5FF}"/>
              </a:ext>
            </a:extLst>
          </p:cNvPr>
          <p:cNvPicPr>
            <a:picLocks noChangeAspect="1"/>
          </p:cNvPicPr>
          <p:nvPr/>
        </p:nvPicPr>
        <p:blipFill>
          <a:blip r:embed="rId2"/>
          <a:stretch>
            <a:fillRect/>
          </a:stretch>
        </p:blipFill>
        <p:spPr>
          <a:xfrm>
            <a:off x="828675" y="1632918"/>
            <a:ext cx="10534650" cy="2419350"/>
          </a:xfrm>
          <a:prstGeom prst="rect">
            <a:avLst/>
          </a:prstGeom>
        </p:spPr>
      </p:pic>
    </p:spTree>
    <p:extLst>
      <p:ext uri="{BB962C8B-B14F-4D97-AF65-F5344CB8AC3E}">
        <p14:creationId xmlns:p14="http://schemas.microsoft.com/office/powerpoint/2010/main" val="35231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57E035-FBE4-A6B5-5C7D-F7CCC2C38B04}"/>
              </a:ext>
            </a:extLst>
          </p:cNvPr>
          <p:cNvSpPr>
            <a:spLocks noGrp="1"/>
          </p:cNvSpPr>
          <p:nvPr>
            <p:ph sz="quarter" idx="13"/>
          </p:nvPr>
        </p:nvSpPr>
        <p:spPr>
          <a:xfrm>
            <a:off x="321365" y="115142"/>
            <a:ext cx="5322627" cy="5967605"/>
          </a:xfrm>
        </p:spPr>
        <p:txBody>
          <a:bodyPr/>
          <a:lstStyle/>
          <a:p>
            <a:r>
              <a:rPr lang="en-US" sz="2500" dirty="0">
                <a:effectLst/>
                <a:latin typeface="Calibri" panose="020F0502020204030204" pitchFamily="34" charset="0"/>
                <a:cs typeface="Calibri" panose="020F0502020204030204" pitchFamily="34" charset="0"/>
              </a:rPr>
              <a:t>This figure visually shows how positive and negative feedback affect the query’s position in the document space:</a:t>
            </a:r>
          </a:p>
          <a:p>
            <a:pPr>
              <a:buFont typeface="Arial" panose="020B0604020202020204" pitchFamily="34" charset="0"/>
              <a:buChar char="•"/>
            </a:pPr>
            <a:r>
              <a:rPr lang="en-US" sz="2500" b="1" dirty="0">
                <a:latin typeface="Calibri" panose="020F0502020204030204" pitchFamily="34" charset="0"/>
                <a:cs typeface="Calibri" panose="020F0502020204030204" pitchFamily="34" charset="0"/>
              </a:rPr>
              <a:t>Circles</a:t>
            </a:r>
            <a:r>
              <a:rPr lang="en-US" sz="2500" dirty="0">
                <a:latin typeface="Calibri" panose="020F0502020204030204" pitchFamily="34" charset="0"/>
                <a:cs typeface="Calibri" panose="020F0502020204030204" pitchFamily="34" charset="0"/>
              </a:rPr>
              <a:t>: Represent </a:t>
            </a:r>
            <a:r>
              <a:rPr lang="en-US" sz="2500" b="1" dirty="0">
                <a:latin typeface="Calibri" panose="020F0502020204030204" pitchFamily="34" charset="0"/>
                <a:cs typeface="Calibri" panose="020F0502020204030204" pitchFamily="34" charset="0"/>
              </a:rPr>
              <a:t>documents</a:t>
            </a:r>
            <a:r>
              <a:rPr lang="en-US" sz="2500" dirty="0">
                <a:latin typeface="Calibri" panose="020F0502020204030204" pitchFamily="34" charset="0"/>
                <a:cs typeface="Calibri" panose="020F0502020204030204" pitchFamily="34" charset="0"/>
              </a:rPr>
              <a:t> (filled circles are non-relevant, open circles are relevant).</a:t>
            </a:r>
          </a:p>
          <a:p>
            <a:pPr>
              <a:buFont typeface="Arial" panose="020B0604020202020204" pitchFamily="34" charset="0"/>
              <a:buChar char="•"/>
            </a:pPr>
            <a:r>
              <a:rPr lang="en-US" sz="2500" b="1" dirty="0">
                <a:latin typeface="Calibri" panose="020F0502020204030204" pitchFamily="34" charset="0"/>
                <a:cs typeface="Calibri" panose="020F0502020204030204" pitchFamily="34" charset="0"/>
              </a:rPr>
              <a:t>Oval</a:t>
            </a:r>
            <a:r>
              <a:rPr lang="en-US" sz="2500" dirty="0">
                <a:latin typeface="Calibri" panose="020F0502020204030204" pitchFamily="34" charset="0"/>
                <a:cs typeface="Calibri" panose="020F0502020204030204" pitchFamily="34" charset="0"/>
              </a:rPr>
              <a:t>: The set of items retrieved by the query.</a:t>
            </a:r>
          </a:p>
          <a:p>
            <a:pPr>
              <a:buFont typeface="Arial" panose="020B0604020202020204" pitchFamily="34" charset="0"/>
              <a:buChar char="•"/>
            </a:pPr>
            <a:r>
              <a:rPr lang="en-US" sz="2500" b="1" dirty="0">
                <a:latin typeface="Calibri" panose="020F0502020204030204" pitchFamily="34" charset="0"/>
                <a:cs typeface="Calibri" panose="020F0502020204030204" pitchFamily="34" charset="0"/>
              </a:rPr>
              <a:t>Solid Box</a:t>
            </a:r>
            <a:r>
              <a:rPr lang="en-US" sz="2500" dirty="0">
                <a:latin typeface="Calibri" panose="020F0502020204030204" pitchFamily="34" charset="0"/>
                <a:cs typeface="Calibri" panose="020F0502020204030204" pitchFamily="34" charset="0"/>
              </a:rPr>
              <a:t>: The original </a:t>
            </a:r>
            <a:r>
              <a:rPr lang="en-US" sz="2500" b="1" dirty="0">
                <a:latin typeface="Calibri" panose="020F0502020204030204" pitchFamily="34" charset="0"/>
                <a:cs typeface="Calibri" panose="020F0502020204030204" pitchFamily="34" charset="0"/>
              </a:rPr>
              <a:t>query’s</a:t>
            </a:r>
            <a:r>
              <a:rPr lang="en-US" sz="2500" dirty="0">
                <a:latin typeface="Calibri" panose="020F0502020204030204" pitchFamily="34" charset="0"/>
                <a:cs typeface="Calibri" panose="020F0502020204030204" pitchFamily="34" charset="0"/>
              </a:rPr>
              <a:t> position.</a:t>
            </a:r>
          </a:p>
          <a:p>
            <a:pPr>
              <a:buFont typeface="Arial" panose="020B0604020202020204" pitchFamily="34" charset="0"/>
              <a:buChar char="•"/>
            </a:pPr>
            <a:r>
              <a:rPr lang="en-US" sz="2500" b="1" dirty="0">
                <a:latin typeface="Calibri" panose="020F0502020204030204" pitchFamily="34" charset="0"/>
                <a:cs typeface="Calibri" panose="020F0502020204030204" pitchFamily="34" charset="0"/>
              </a:rPr>
              <a:t>Hollow Box</a:t>
            </a:r>
            <a:r>
              <a:rPr lang="en-US" sz="2500" dirty="0">
                <a:latin typeface="Calibri" panose="020F0502020204030204" pitchFamily="34" charset="0"/>
                <a:cs typeface="Calibri" panose="020F0502020204030204" pitchFamily="34" charset="0"/>
              </a:rPr>
              <a:t>: The query’s position after feedback.</a:t>
            </a:r>
          </a:p>
          <a:p>
            <a:endParaRPr lang="en-US" sz="2500" dirty="0">
              <a:latin typeface="Calibri" panose="020F0502020204030204" pitchFamily="34" charset="0"/>
              <a:cs typeface="Calibri" panose="020F0502020204030204" pitchFamily="34" charset="0"/>
            </a:endParaRPr>
          </a:p>
        </p:txBody>
      </p:sp>
      <p:sp>
        <p:nvSpPr>
          <p:cNvPr id="10" name="Content Placeholder 9">
            <a:extLst>
              <a:ext uri="{FF2B5EF4-FFF2-40B4-BE49-F238E27FC236}">
                <a16:creationId xmlns:a16="http://schemas.microsoft.com/office/drawing/2014/main" id="{11C0F107-853C-6400-CEDB-56FA4FAB47FA}"/>
              </a:ext>
            </a:extLst>
          </p:cNvPr>
          <p:cNvSpPr>
            <a:spLocks noGrp="1"/>
          </p:cNvSpPr>
          <p:nvPr>
            <p:ph sz="quarter" idx="14"/>
          </p:nvPr>
        </p:nvSpPr>
        <p:spPr>
          <a:xfrm>
            <a:off x="5643993" y="113072"/>
            <a:ext cx="5938408" cy="6267850"/>
          </a:xfrm>
        </p:spPr>
        <p:txBody>
          <a:bodyPr/>
          <a:lstStyle/>
          <a:p>
            <a:pPr>
              <a:buFont typeface="Arial" panose="020B0604020202020204" pitchFamily="34" charset="0"/>
              <a:buChar char="•"/>
            </a:pPr>
            <a:r>
              <a:rPr lang="en-US" sz="2400" b="1" dirty="0">
                <a:latin typeface="Calibri" panose="020F0502020204030204" pitchFamily="34" charset="0"/>
                <a:cs typeface="Calibri" panose="020F0502020204030204" pitchFamily="34" charset="0"/>
              </a:rPr>
              <a:t>Positive Feedback (Left Diagram)</a:t>
            </a:r>
            <a:r>
              <a:rPr lang="en-US" sz="2400" dirty="0">
                <a:latin typeface="Calibri" panose="020F0502020204030204" pitchFamily="34" charset="0"/>
                <a:cs typeface="Calibri" panose="020F0502020204030204" pitchFamily="34" charset="0"/>
              </a:rPr>
              <a:t>: The query moves toward the cluster of relevant items (open circles), increasing the likelihood </a:t>
            </a:r>
            <a:r>
              <a:rPr lang="en-US" sz="2400" b="1" dirty="0">
                <a:latin typeface="Calibri" panose="020F0502020204030204" pitchFamily="34" charset="0"/>
                <a:cs typeface="Calibri" panose="020F0502020204030204" pitchFamily="34" charset="0"/>
              </a:rPr>
              <a:t>of retrieving more relevant documents </a:t>
            </a:r>
            <a:r>
              <a:rPr lang="en-US" sz="2400" dirty="0">
                <a:latin typeface="Calibri" panose="020F0502020204030204" pitchFamily="34" charset="0"/>
                <a:cs typeface="Calibri" panose="020F0502020204030204" pitchFamily="34" charset="0"/>
              </a:rPr>
              <a:t>in the next iteration.</a:t>
            </a:r>
          </a:p>
          <a:p>
            <a:pPr>
              <a:buFont typeface="Arial" panose="020B0604020202020204" pitchFamily="34" charset="0"/>
              <a:buChar char="•"/>
            </a:pPr>
            <a:r>
              <a:rPr lang="en-US" sz="2400" b="1" dirty="0">
                <a:latin typeface="Calibri" panose="020F0502020204030204" pitchFamily="34" charset="0"/>
                <a:cs typeface="Calibri" panose="020F0502020204030204" pitchFamily="34" charset="0"/>
              </a:rPr>
              <a:t>Negative Feedback (Right Diagram)</a:t>
            </a:r>
            <a:r>
              <a:rPr lang="en-US" sz="2400" dirty="0">
                <a:latin typeface="Calibri" panose="020F0502020204030204" pitchFamily="34" charset="0"/>
                <a:cs typeface="Calibri" panose="020F0502020204030204" pitchFamily="34" charset="0"/>
              </a:rPr>
              <a:t>: The query moves away from non-relevant items (filled circles) but not necessarily closer to relevant ones, which can sometimes reduce effectiveness.</a:t>
            </a:r>
          </a:p>
          <a:p>
            <a:endParaRPr lang="en-US" sz="2400"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23</a:t>
            </a:fld>
            <a:endParaRPr lang="en-US" sz="900">
              <a:solidFill>
                <a:schemeClr val="lt1"/>
              </a:solidFill>
            </a:endParaRPr>
          </a:p>
        </p:txBody>
      </p:sp>
      <p:pic>
        <p:nvPicPr>
          <p:cNvPr id="8" name="Content Placeholder 7">
            <a:extLst>
              <a:ext uri="{FF2B5EF4-FFF2-40B4-BE49-F238E27FC236}">
                <a16:creationId xmlns:a16="http://schemas.microsoft.com/office/drawing/2014/main" id="{4C5B1C61-D69F-ED69-B2E9-D6744223923B}"/>
              </a:ext>
            </a:extLst>
          </p:cNvPr>
          <p:cNvPicPr>
            <a:picLocks noChangeAspect="1"/>
          </p:cNvPicPr>
          <p:nvPr/>
        </p:nvPicPr>
        <p:blipFill>
          <a:blip r:embed="rId2"/>
          <a:stretch>
            <a:fillRect/>
          </a:stretch>
        </p:blipFill>
        <p:spPr>
          <a:xfrm>
            <a:off x="5198268" y="3997601"/>
            <a:ext cx="4346713" cy="2860399"/>
          </a:xfrm>
          <a:prstGeom prst="rect">
            <a:avLst/>
          </a:prstGeom>
          <a:noFill/>
          <a:ln>
            <a:noFill/>
          </a:ln>
        </p:spPr>
      </p:pic>
    </p:spTree>
    <p:extLst>
      <p:ext uri="{BB962C8B-B14F-4D97-AF65-F5344CB8AC3E}">
        <p14:creationId xmlns:p14="http://schemas.microsoft.com/office/powerpoint/2010/main" val="1244838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Query Modification via Relevance Feedback</a:t>
            </a:r>
            <a:endParaRPr lang="en-US"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24</a:t>
            </a:fld>
            <a:endParaRPr lang="en-US" sz="900">
              <a:solidFill>
                <a:schemeClr val="lt1"/>
              </a:solidFill>
            </a:endParaRPr>
          </a:p>
        </p:txBody>
      </p:sp>
      <p:pic>
        <p:nvPicPr>
          <p:cNvPr id="3" name="Picture 2">
            <a:extLst>
              <a:ext uri="{FF2B5EF4-FFF2-40B4-BE49-F238E27FC236}">
                <a16:creationId xmlns:a16="http://schemas.microsoft.com/office/drawing/2014/main" id="{CFFD9A96-49C7-C38A-D972-44DFF9F40A49}"/>
              </a:ext>
            </a:extLst>
          </p:cNvPr>
          <p:cNvPicPr>
            <a:picLocks noChangeAspect="1"/>
          </p:cNvPicPr>
          <p:nvPr/>
        </p:nvPicPr>
        <p:blipFill>
          <a:blip r:embed="rId2"/>
          <a:stretch>
            <a:fillRect/>
          </a:stretch>
        </p:blipFill>
        <p:spPr>
          <a:xfrm>
            <a:off x="2013294" y="1563464"/>
            <a:ext cx="6943766" cy="3519074"/>
          </a:xfrm>
          <a:prstGeom prst="rect">
            <a:avLst/>
          </a:prstGeom>
        </p:spPr>
      </p:pic>
      <p:pic>
        <p:nvPicPr>
          <p:cNvPr id="8" name="Picture 7">
            <a:extLst>
              <a:ext uri="{FF2B5EF4-FFF2-40B4-BE49-F238E27FC236}">
                <a16:creationId xmlns:a16="http://schemas.microsoft.com/office/drawing/2014/main" id="{538DED9D-2F29-F0E5-2C7D-4AA773453296}"/>
              </a:ext>
            </a:extLst>
          </p:cNvPr>
          <p:cNvPicPr>
            <a:picLocks noChangeAspect="1"/>
          </p:cNvPicPr>
          <p:nvPr/>
        </p:nvPicPr>
        <p:blipFill>
          <a:blip r:embed="rId3"/>
          <a:stretch>
            <a:fillRect/>
          </a:stretch>
        </p:blipFill>
        <p:spPr>
          <a:xfrm>
            <a:off x="1837289" y="5333351"/>
            <a:ext cx="8696325" cy="419100"/>
          </a:xfrm>
          <a:prstGeom prst="rect">
            <a:avLst/>
          </a:prstGeom>
        </p:spPr>
      </p:pic>
    </p:spTree>
    <p:extLst>
      <p:ext uri="{BB962C8B-B14F-4D97-AF65-F5344CB8AC3E}">
        <p14:creationId xmlns:p14="http://schemas.microsoft.com/office/powerpoint/2010/main" val="2368650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400" dirty="0"/>
              <a:t>Selective Dissemination of Information Search(SDI)</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SDI systems, also called </a:t>
            </a:r>
            <a:r>
              <a:rPr lang="en-US" sz="2400" b="1" dirty="0">
                <a:latin typeface="Calibri" panose="020F0502020204030204" pitchFamily="34" charset="0"/>
                <a:cs typeface="Calibri" panose="020F0502020204030204" pitchFamily="34" charset="0"/>
              </a:rPr>
              <a:t>dissemination systems</a:t>
            </a:r>
            <a:r>
              <a:rPr lang="en-US" sz="2400" dirty="0">
                <a:latin typeface="Calibri" panose="020F0502020204030204" pitchFamily="34" charset="0"/>
                <a:cs typeface="Calibri" panose="020F0502020204030204" pitchFamily="34" charset="0"/>
              </a:rPr>
              <a:t>, automatically deliver new items to users when they match a user’s profile (a static query representing the user’s interests). </a:t>
            </a:r>
          </a:p>
          <a:p>
            <a:r>
              <a:rPr lang="en-US" sz="2400" dirty="0">
                <a:latin typeface="Calibri" panose="020F0502020204030204" pitchFamily="34" charset="0"/>
                <a:cs typeface="Calibri" panose="020F0502020204030204" pitchFamily="34" charset="0"/>
              </a:rPr>
              <a:t>Key characteristics include:</a:t>
            </a:r>
          </a:p>
          <a:p>
            <a:pPr lvl="1"/>
            <a:r>
              <a:rPr lang="en-US" sz="2400" b="1" dirty="0">
                <a:latin typeface="Calibri" panose="020F0502020204030204" pitchFamily="34" charset="0"/>
                <a:cs typeface="Calibri" panose="020F0502020204030204" pitchFamily="34" charset="0"/>
              </a:rPr>
              <a:t>Push vs. Pull</a:t>
            </a:r>
            <a:r>
              <a:rPr lang="en-US" sz="2400" dirty="0">
                <a:latin typeface="Calibri" panose="020F0502020204030204" pitchFamily="34" charset="0"/>
                <a:cs typeface="Calibri" panose="020F0502020204030204" pitchFamily="34" charset="0"/>
              </a:rPr>
              <a:t>: In SDI, the system </a:t>
            </a:r>
            <a:r>
              <a:rPr lang="en-US" sz="2400" b="1" dirty="0">
                <a:latin typeface="Calibri" panose="020F0502020204030204" pitchFamily="34" charset="0"/>
                <a:cs typeface="Calibri" panose="020F0502020204030204" pitchFamily="34" charset="0"/>
              </a:rPr>
              <a:t>pushes relevant items to the user as new data arrives</a:t>
            </a:r>
            <a:r>
              <a:rPr lang="en-US" sz="2400" dirty="0">
                <a:latin typeface="Calibri" panose="020F0502020204030204" pitchFamily="34" charset="0"/>
                <a:cs typeface="Calibri" panose="020F0502020204030204" pitchFamily="34" charset="0"/>
              </a:rPr>
              <a:t>, unlike search systems where </a:t>
            </a:r>
            <a:r>
              <a:rPr lang="en-US" sz="2400" b="1" dirty="0">
                <a:latin typeface="Calibri" panose="020F0502020204030204" pitchFamily="34" charset="0"/>
                <a:cs typeface="Calibri" panose="020F0502020204030204" pitchFamily="34" charset="0"/>
              </a:rPr>
              <a:t>users pull information via queries</a:t>
            </a:r>
            <a:r>
              <a:rPr lang="en-US" sz="2400" dirty="0">
                <a:latin typeface="Calibri" panose="020F0502020204030204" pitchFamily="34" charset="0"/>
                <a:cs typeface="Calibri" panose="020F0502020204030204" pitchFamily="34" charset="0"/>
              </a:rPr>
              <a:t>.</a:t>
            </a:r>
          </a:p>
          <a:p>
            <a:pPr lvl="1"/>
            <a:r>
              <a:rPr lang="en-US" sz="2400" b="1" dirty="0">
                <a:latin typeface="Calibri" panose="020F0502020204030204" pitchFamily="34" charset="0"/>
                <a:cs typeface="Calibri" panose="020F0502020204030204" pitchFamily="34" charset="0"/>
              </a:rPr>
              <a:t>Profiles</a:t>
            </a:r>
            <a:r>
              <a:rPr lang="en-US" sz="2400" dirty="0">
                <a:latin typeface="Calibri" panose="020F0502020204030204" pitchFamily="34" charset="0"/>
                <a:cs typeface="Calibri" panose="020F0502020204030204" pitchFamily="34" charset="0"/>
              </a:rPr>
              <a:t>: These are static, broad search statements with many terms (hundreds, compared to a few in ad hoc queries), covering a user’s general information needs.</a:t>
            </a:r>
          </a:p>
          <a:p>
            <a:pPr lvl="1"/>
            <a:r>
              <a:rPr lang="en-US" sz="2400" b="1" dirty="0">
                <a:latin typeface="Calibri" panose="020F0502020204030204" pitchFamily="34" charset="0"/>
                <a:cs typeface="Calibri" panose="020F0502020204030204" pitchFamily="34" charset="0"/>
              </a:rPr>
              <a:t>Time Parameter</a:t>
            </a:r>
            <a:r>
              <a:rPr lang="en-US" sz="2400" dirty="0">
                <a:latin typeface="Calibri" panose="020F0502020204030204" pitchFamily="34" charset="0"/>
                <a:cs typeface="Calibri" panose="020F0502020204030204" pitchFamily="34" charset="0"/>
              </a:rPr>
              <a:t>: Profiles are active as long as their </a:t>
            </a:r>
            <a:r>
              <a:rPr lang="en-US" sz="2400" b="1" dirty="0">
                <a:latin typeface="Calibri" panose="020F0502020204030204" pitchFamily="34" charset="0"/>
                <a:cs typeface="Calibri" panose="020F0502020204030204" pitchFamily="34" charset="0"/>
              </a:rPr>
              <a:t>time parameter is in the future</a:t>
            </a:r>
            <a:r>
              <a:rPr lang="en-US" sz="2400" dirty="0">
                <a:latin typeface="Calibri" panose="020F0502020204030204" pitchFamily="34" charset="0"/>
                <a:cs typeface="Calibri" panose="020F0502020204030204" pitchFamily="34" charset="0"/>
              </a:rPr>
              <a:t>, delivering items asynchronously to the user’s "mail" file.</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25</a:t>
            </a:fld>
            <a:endParaRPr lang="en-US" sz="900">
              <a:solidFill>
                <a:schemeClr val="lt1"/>
              </a:solidFill>
            </a:endParaRPr>
          </a:p>
        </p:txBody>
      </p:sp>
    </p:spTree>
    <p:extLst>
      <p:ext uri="{BB962C8B-B14F-4D97-AF65-F5344CB8AC3E}">
        <p14:creationId xmlns:p14="http://schemas.microsoft.com/office/powerpoint/2010/main" val="881219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Challenges in SDI Systems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pPr marL="444500" indent="-342900">
              <a:buFont typeface="+mj-lt"/>
              <a:buAutoNum type="arabicPeriod"/>
            </a:pPr>
            <a:r>
              <a:rPr lang="en-US" sz="2400" b="1" dirty="0">
                <a:latin typeface="Calibri" panose="020F0502020204030204" pitchFamily="34" charset="0"/>
                <a:cs typeface="Calibri" panose="020F0502020204030204" pitchFamily="34" charset="0"/>
              </a:rPr>
              <a:t>Lack of Retrospective Data: </a:t>
            </a:r>
            <a:r>
              <a:rPr lang="en-US" sz="2400" dirty="0">
                <a:latin typeface="Calibri" panose="020F0502020204030204" pitchFamily="34" charset="0"/>
                <a:cs typeface="Calibri" panose="020F0502020204030204" pitchFamily="34" charset="0"/>
              </a:rPr>
              <a:t>Unlike search systems, SDI systems may not have a </a:t>
            </a:r>
            <a:r>
              <a:rPr lang="en-US" sz="2400" b="1" dirty="0">
                <a:latin typeface="Calibri" panose="020F0502020204030204" pitchFamily="34" charset="0"/>
                <a:cs typeface="Calibri" panose="020F0502020204030204" pitchFamily="34" charset="0"/>
              </a:rPr>
              <a:t>historical database </a:t>
            </a:r>
            <a:r>
              <a:rPr lang="en-US" sz="2400" dirty="0">
                <a:latin typeface="Calibri" panose="020F0502020204030204" pitchFamily="34" charset="0"/>
                <a:cs typeface="Calibri" panose="020F0502020204030204" pitchFamily="34" charset="0"/>
              </a:rPr>
              <a:t>to compute statistics like inverse document frequency (IDF) for weighting terms.</a:t>
            </a:r>
          </a:p>
          <a:p>
            <a:pPr marL="444500" indent="-342900">
              <a:buFont typeface="+mj-lt"/>
              <a:buAutoNum type="arabicPeriod"/>
            </a:pPr>
            <a:r>
              <a:rPr lang="en-US" sz="2400" b="1" dirty="0">
                <a:latin typeface="Calibri" panose="020F0502020204030204" pitchFamily="34" charset="0"/>
                <a:cs typeface="Calibri" panose="020F0502020204030204" pitchFamily="34" charset="0"/>
              </a:rPr>
              <a:t>Profile Complexity</a:t>
            </a:r>
            <a:r>
              <a:rPr lang="en-US" sz="2400" dirty="0">
                <a:latin typeface="Calibri" panose="020F0502020204030204" pitchFamily="34" charset="0"/>
                <a:cs typeface="Calibri" panose="020F0502020204030204" pitchFamily="34" charset="0"/>
              </a:rPr>
              <a:t>: Profiles are large and complex, discouraging </a:t>
            </a:r>
            <a:r>
              <a:rPr lang="en-US" sz="2400" b="1" dirty="0">
                <a:latin typeface="Calibri" panose="020F0502020204030204" pitchFamily="34" charset="0"/>
                <a:cs typeface="Calibri" panose="020F0502020204030204" pitchFamily="34" charset="0"/>
              </a:rPr>
              <a:t>frequent user modifications.</a:t>
            </a:r>
          </a:p>
          <a:p>
            <a:pPr marL="444500" indent="-342900">
              <a:buFont typeface="+mj-lt"/>
              <a:buAutoNum type="arabicPeriod"/>
            </a:pPr>
            <a:r>
              <a:rPr lang="en-US" sz="2400" b="1" dirty="0">
                <a:latin typeface="Calibri" panose="020F0502020204030204" pitchFamily="34" charset="0"/>
                <a:cs typeface="Calibri" panose="020F0502020204030204" pitchFamily="34" charset="0"/>
              </a:rPr>
              <a:t>Real-Time Processing</a:t>
            </a:r>
            <a:r>
              <a:rPr lang="en-US" sz="2400" dirty="0">
                <a:latin typeface="Calibri" panose="020F0502020204030204" pitchFamily="34" charset="0"/>
                <a:cs typeface="Calibri" panose="020F0502020204030204" pitchFamily="34" charset="0"/>
              </a:rPr>
              <a:t>: Systems like the </a:t>
            </a:r>
            <a:r>
              <a:rPr lang="en-US" sz="2400" b="1" dirty="0" err="1">
                <a:latin typeface="Calibri" panose="020F0502020204030204" pitchFamily="34" charset="0"/>
                <a:cs typeface="Calibri" panose="020F0502020204030204" pitchFamily="34" charset="0"/>
              </a:rPr>
              <a:t>Logicon</a:t>
            </a:r>
            <a:r>
              <a:rPr lang="en-US" sz="2400" b="1" dirty="0">
                <a:latin typeface="Calibri" panose="020F0502020204030204" pitchFamily="34" charset="0"/>
                <a:cs typeface="Calibri" panose="020F0502020204030204" pitchFamily="34" charset="0"/>
              </a:rPr>
              <a:t> Message Dissemination System (LMDS) </a:t>
            </a:r>
            <a:r>
              <a:rPr lang="en-US" sz="2400" dirty="0">
                <a:latin typeface="Calibri" panose="020F0502020204030204" pitchFamily="34" charset="0"/>
                <a:cs typeface="Calibri" panose="020F0502020204030204" pitchFamily="34" charset="0"/>
              </a:rPr>
              <a:t>process thousands of profiles every 20 seconds, requiring efficient algorithms.</a:t>
            </a:r>
          </a:p>
          <a:p>
            <a:pPr marL="444500" indent="-342900">
              <a:buFont typeface="+mj-lt"/>
              <a:buAutoNum type="arabicPeriod"/>
            </a:pPr>
            <a:r>
              <a:rPr lang="en-US" sz="2400" b="1" dirty="0">
                <a:latin typeface="Calibri" panose="020F0502020204030204" pitchFamily="34" charset="0"/>
                <a:cs typeface="Calibri" panose="020F0502020204030204" pitchFamily="34" charset="0"/>
              </a:rPr>
              <a:t>Relevance Feedback</a:t>
            </a:r>
            <a:r>
              <a:rPr lang="en-US" sz="2400" dirty="0">
                <a:latin typeface="Calibri" panose="020F0502020204030204" pitchFamily="34" charset="0"/>
                <a:cs typeface="Calibri" panose="020F0502020204030204" pitchFamily="34" charset="0"/>
              </a:rPr>
              <a:t>: Applying relevance feedback in SDI is tricky due to the </a:t>
            </a:r>
            <a:r>
              <a:rPr lang="en-US" sz="2400" b="1" dirty="0">
                <a:latin typeface="Calibri" panose="020F0502020204030204" pitchFamily="34" charset="0"/>
                <a:cs typeface="Calibri" panose="020F0502020204030204" pitchFamily="34" charset="0"/>
              </a:rPr>
              <a:t>continuous nature of the process</a:t>
            </a:r>
            <a:r>
              <a:rPr lang="en-US" sz="2400" dirty="0">
                <a:latin typeface="Calibri" panose="020F0502020204030204" pitchFamily="34" charset="0"/>
                <a:cs typeface="Calibri" panose="020F0502020204030204" pitchFamily="34" charset="0"/>
              </a:rPr>
              <a:t> and the need to </a:t>
            </a:r>
            <a:r>
              <a:rPr lang="en-US" sz="2400" b="1" dirty="0">
                <a:latin typeface="Calibri" panose="020F0502020204030204" pitchFamily="34" charset="0"/>
                <a:cs typeface="Calibri" panose="020F0502020204030204" pitchFamily="34" charset="0"/>
              </a:rPr>
              <a:t>store past judgments.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26</a:t>
            </a:fld>
            <a:endParaRPr lang="en-US" sz="900">
              <a:solidFill>
                <a:schemeClr val="lt1"/>
              </a:solidFill>
            </a:endParaRPr>
          </a:p>
        </p:txBody>
      </p:sp>
    </p:spTree>
    <p:extLst>
      <p:ext uri="{BB962C8B-B14F-4D97-AF65-F5344CB8AC3E}">
        <p14:creationId xmlns:p14="http://schemas.microsoft.com/office/powerpoint/2010/main" val="1022003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rot="16200000">
            <a:off x="-2660375" y="2872490"/>
            <a:ext cx="6099313" cy="579758"/>
          </a:xfrm>
        </p:spPr>
        <p:txBody>
          <a:bodyPr/>
          <a:lstStyle/>
          <a:p>
            <a:r>
              <a:rPr lang="en-US" dirty="0">
                <a:effectLst/>
              </a:rPr>
              <a:t>Examples of SDI Systems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79161" y="112712"/>
            <a:ext cx="10977033" cy="6178758"/>
          </a:xfrm>
        </p:spPr>
        <p:txBody>
          <a:bodyPr/>
          <a:lstStyle/>
          <a:p>
            <a:pPr marL="444500" indent="-342900">
              <a:buFont typeface="+mj-lt"/>
              <a:buAutoNum type="arabicPeriod"/>
            </a:pPr>
            <a:r>
              <a:rPr lang="en-US" sz="2500" b="1" dirty="0" err="1">
                <a:latin typeface="Calibri" panose="020F0502020204030204" pitchFamily="34" charset="0"/>
                <a:cs typeface="Calibri" panose="020F0502020204030204" pitchFamily="34" charset="0"/>
              </a:rPr>
              <a:t>Logicon</a:t>
            </a:r>
            <a:r>
              <a:rPr lang="en-US" sz="2500" b="1" dirty="0">
                <a:latin typeface="Calibri" panose="020F0502020204030204" pitchFamily="34" charset="0"/>
                <a:cs typeface="Calibri" panose="020F0502020204030204" pitchFamily="34" charset="0"/>
              </a:rPr>
              <a:t> Message Dissemination System (LMDS):</a:t>
            </a:r>
          </a:p>
          <a:p>
            <a:pPr lvl="1"/>
            <a:r>
              <a:rPr lang="en-US" sz="2500" dirty="0">
                <a:latin typeface="Calibri" panose="020F0502020204030204" pitchFamily="34" charset="0"/>
                <a:cs typeface="Calibri" panose="020F0502020204030204" pitchFamily="34" charset="0"/>
              </a:rPr>
              <a:t>Treats profiles as a static database and the new item as a query.</a:t>
            </a:r>
          </a:p>
          <a:p>
            <a:pPr lvl="1"/>
            <a:r>
              <a:rPr lang="en-US" sz="2500" dirty="0">
                <a:latin typeface="Calibri" panose="020F0502020204030204" pitchFamily="34" charset="0"/>
                <a:cs typeface="Calibri" panose="020F0502020204030204" pitchFamily="34" charset="0"/>
              </a:rPr>
              <a:t>Uses a least frequently occurring trigraph (three-character sequence) algorithm to quickly eliminate profiles that don’t match the item, then analyzes potential matches in detail.</a:t>
            </a:r>
          </a:p>
          <a:p>
            <a:pPr marL="444500" indent="-342900">
              <a:buFont typeface="+mj-lt"/>
              <a:buAutoNum type="arabicPeriod"/>
            </a:pPr>
            <a:r>
              <a:rPr lang="en-US" sz="2500" b="1" dirty="0">
                <a:latin typeface="Calibri" panose="020F0502020204030204" pitchFamily="34" charset="0"/>
                <a:cs typeface="Calibri" panose="020F0502020204030204" pitchFamily="34" charset="0"/>
              </a:rPr>
              <a:t>Personal Library Software (PLS):</a:t>
            </a:r>
          </a:p>
          <a:p>
            <a:pPr lvl="1"/>
            <a:r>
              <a:rPr lang="en-US" sz="2500" dirty="0">
                <a:latin typeface="Calibri" panose="020F0502020204030204" pitchFamily="34" charset="0"/>
                <a:cs typeface="Calibri" panose="020F0502020204030204" pitchFamily="34" charset="0"/>
              </a:rPr>
              <a:t>Accumulates new items into a database and periodically runs profiles against it, sacrificing real-time delivery for the use of retrospective search software.</a:t>
            </a:r>
          </a:p>
          <a:p>
            <a:pPr marL="444500" indent="-342900">
              <a:buFont typeface="+mj-lt"/>
              <a:buAutoNum type="arabicPeriod"/>
            </a:pPr>
            <a:r>
              <a:rPr lang="en-US" sz="2500" b="1" dirty="0" err="1">
                <a:latin typeface="Calibri" panose="020F0502020204030204" pitchFamily="34" charset="0"/>
                <a:cs typeface="Calibri" panose="020F0502020204030204" pitchFamily="34" charset="0"/>
              </a:rPr>
              <a:t>RetrievalWare</a:t>
            </a:r>
            <a:r>
              <a:rPr lang="en-US" sz="2500" b="1" dirty="0">
                <a:latin typeface="Calibri" panose="020F0502020204030204" pitchFamily="34" charset="0"/>
                <a:cs typeface="Calibri" panose="020F0502020204030204" pitchFamily="34" charset="0"/>
              </a:rPr>
              <a:t> and </a:t>
            </a:r>
            <a:r>
              <a:rPr lang="en-US" sz="2500" b="1" dirty="0" err="1">
                <a:latin typeface="Calibri" panose="020F0502020204030204" pitchFamily="34" charset="0"/>
                <a:cs typeface="Calibri" panose="020F0502020204030204" pitchFamily="34" charset="0"/>
              </a:rPr>
              <a:t>InRoute</a:t>
            </a:r>
            <a:r>
              <a:rPr lang="en-US" sz="2500" b="1" dirty="0">
                <a:latin typeface="Calibri" panose="020F0502020204030204" pitchFamily="34" charset="0"/>
                <a:cs typeface="Calibri" panose="020F0502020204030204" pitchFamily="34" charset="0"/>
              </a:rPr>
              <a:t>:</a:t>
            </a:r>
          </a:p>
          <a:p>
            <a:pPr lvl="1"/>
            <a:r>
              <a:rPr lang="en-US" sz="2500" b="1" dirty="0" err="1">
                <a:latin typeface="Calibri" panose="020F0502020204030204" pitchFamily="34" charset="0"/>
                <a:cs typeface="Calibri" panose="020F0502020204030204" pitchFamily="34" charset="0"/>
              </a:rPr>
              <a:t>RetrievalWare</a:t>
            </a:r>
            <a:r>
              <a:rPr lang="en-US" sz="2500" dirty="0">
                <a:latin typeface="Calibri" panose="020F0502020204030204" pitchFamily="34" charset="0"/>
                <a:cs typeface="Calibri" panose="020F0502020204030204" pitchFamily="34" charset="0"/>
              </a:rPr>
              <a:t>: Uses a statistical algorithm that doesn’t rely on corpora data, comparing each profile to the item after filtering out irrelevant terms.</a:t>
            </a:r>
          </a:p>
          <a:p>
            <a:pPr lvl="1"/>
            <a:r>
              <a:rPr lang="en-US" sz="2500" b="1" dirty="0" err="1">
                <a:latin typeface="Calibri" panose="020F0502020204030204" pitchFamily="34" charset="0"/>
                <a:cs typeface="Calibri" panose="020F0502020204030204" pitchFamily="34" charset="0"/>
              </a:rPr>
              <a:t>InRoute</a:t>
            </a:r>
            <a:r>
              <a:rPr lang="en-US" sz="2500" dirty="0">
                <a:latin typeface="Calibri" panose="020F0502020204030204" pitchFamily="34" charset="0"/>
                <a:cs typeface="Calibri" panose="020F0502020204030204" pitchFamily="34" charset="0"/>
              </a:rPr>
              <a:t>: Uses IDF, which it computes and updates as items arrive, stabilizing over time as more items are processed.</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27</a:t>
            </a:fld>
            <a:endParaRPr lang="en-US" sz="900">
              <a:solidFill>
                <a:schemeClr val="lt1"/>
              </a:solidFill>
            </a:endParaRPr>
          </a:p>
        </p:txBody>
      </p:sp>
    </p:spTree>
    <p:extLst>
      <p:ext uri="{BB962C8B-B14F-4D97-AF65-F5344CB8AC3E}">
        <p14:creationId xmlns:p14="http://schemas.microsoft.com/office/powerpoint/2010/main" val="3956821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Statistical Classification and Error Minimization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400" b="1" dirty="0">
                <a:latin typeface="Calibri" panose="020F0502020204030204" pitchFamily="34" charset="0"/>
                <a:cs typeface="Calibri" panose="020F0502020204030204" pitchFamily="34" charset="0"/>
              </a:rPr>
              <a:t>SDI can be treated as a binary classification problem: </a:t>
            </a:r>
            <a:r>
              <a:rPr lang="en-US" sz="2400" dirty="0">
                <a:latin typeface="Calibri" panose="020F0502020204030204" pitchFamily="34" charset="0"/>
                <a:cs typeface="Calibri" panose="020F0502020204030204" pitchFamily="34" charset="0"/>
              </a:rPr>
              <a:t>for each item, decide if it’s relevant to a user’s profile (class 1) or not (class 0). </a:t>
            </a:r>
            <a:r>
              <a:rPr lang="en-US" sz="2400" dirty="0" err="1">
                <a:latin typeface="Calibri" panose="020F0502020204030204" pitchFamily="34" charset="0"/>
                <a:cs typeface="Calibri" panose="020F0502020204030204" pitchFamily="34" charset="0"/>
              </a:rPr>
              <a:t>Schutze</a:t>
            </a:r>
            <a:r>
              <a:rPr lang="en-US" sz="2400" dirty="0">
                <a:latin typeface="Calibri" panose="020F0502020204030204" pitchFamily="34" charset="0"/>
                <a:cs typeface="Calibri" panose="020F0502020204030204" pitchFamily="34" charset="0"/>
              </a:rPr>
              <a:t> et al. (1995) propose using statistical classification with explicit error minimization, but high-dimensional spaces (where each term is a dimension) pose challenges due to the need for large training sets.</a:t>
            </a:r>
          </a:p>
          <a:p>
            <a:r>
              <a:rPr lang="en-US" sz="2400" b="1" dirty="0">
                <a:latin typeface="Calibri" panose="020F0502020204030204" pitchFamily="34" charset="0"/>
                <a:cs typeface="Calibri" panose="020F0502020204030204" pitchFamily="34" charset="0"/>
              </a:rPr>
              <a:t>Dimensionality Reduction</a:t>
            </a:r>
          </a:p>
          <a:p>
            <a:pPr lvl="1"/>
            <a:r>
              <a:rPr lang="en-US" sz="2400" dirty="0">
                <a:latin typeface="Calibri" panose="020F0502020204030204" pitchFamily="34" charset="0"/>
                <a:cs typeface="Calibri" panose="020F0502020204030204" pitchFamily="34" charset="0"/>
              </a:rPr>
              <a:t>To make classification feasible, the dimensionality of the feature space must be reduced:</a:t>
            </a:r>
          </a:p>
          <a:p>
            <a:pPr lvl="2"/>
            <a:r>
              <a:rPr lang="en-US" sz="2400" b="1" dirty="0">
                <a:effectLst/>
                <a:latin typeface="Calibri" panose="020F0502020204030204" pitchFamily="34" charset="0"/>
                <a:cs typeface="Calibri" panose="020F0502020204030204" pitchFamily="34" charset="0"/>
              </a:rPr>
              <a:t>Feature Selection</a:t>
            </a:r>
          </a:p>
          <a:p>
            <a:pPr lvl="2"/>
            <a:r>
              <a:rPr lang="en-US" sz="2400" b="1" dirty="0">
                <a:effectLst/>
                <a:latin typeface="Calibri" panose="020F0502020204030204" pitchFamily="34" charset="0"/>
                <a:cs typeface="Calibri" panose="020F0502020204030204" pitchFamily="34" charset="0"/>
              </a:rPr>
              <a:t>Feature Creation (Local LSI)</a:t>
            </a:r>
          </a:p>
          <a:p>
            <a:pPr lvl="2"/>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28</a:t>
            </a:fld>
            <a:endParaRPr lang="en-US" sz="900">
              <a:solidFill>
                <a:schemeClr val="lt1"/>
              </a:solidFill>
            </a:endParaRPr>
          </a:p>
        </p:txBody>
      </p:sp>
    </p:spTree>
    <p:extLst>
      <p:ext uri="{BB962C8B-B14F-4D97-AF65-F5344CB8AC3E}">
        <p14:creationId xmlns:p14="http://schemas.microsoft.com/office/powerpoint/2010/main" val="2419835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3"/>
            <a:ext cx="10972800" cy="858054"/>
          </a:xfrm>
        </p:spPr>
        <p:txBody>
          <a:bodyPr/>
          <a:lstStyle/>
          <a:p>
            <a:r>
              <a:rPr lang="en-US" sz="3600" b="1" dirty="0">
                <a:effectLst/>
                <a:latin typeface="Calibri" panose="020F0502020204030204" pitchFamily="34" charset="0"/>
                <a:cs typeface="Calibri" panose="020F0502020204030204" pitchFamily="34" charset="0"/>
              </a:rPr>
              <a:t>Feature Selection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073427"/>
            <a:ext cx="10977033" cy="5077991"/>
          </a:xfrm>
        </p:spPr>
        <p:txBody>
          <a:bodyPr/>
          <a:lstStyle/>
          <a:p>
            <a:r>
              <a:rPr lang="en-US" sz="2600" dirty="0">
                <a:latin typeface="Calibri" panose="020F0502020204030204" pitchFamily="34" charset="0"/>
                <a:cs typeface="Calibri" panose="020F0502020204030204" pitchFamily="34" charset="0"/>
              </a:rPr>
              <a:t>Select a subset of existing features (terms) using a chi-squared ()test to identify the most important terms.</a:t>
            </a:r>
          </a:p>
          <a:p>
            <a:r>
              <a:rPr lang="en-US" sz="2600" dirty="0">
                <a:latin typeface="Calibri" panose="020F0502020204030204" pitchFamily="34" charset="0"/>
                <a:cs typeface="Calibri" panose="020F0502020204030204" pitchFamily="34" charset="0"/>
              </a:rPr>
              <a:t>The first equation in the image is: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29</a:t>
            </a:fld>
            <a:endParaRPr lang="en-US" sz="900">
              <a:solidFill>
                <a:schemeClr val="lt1"/>
              </a:solidFill>
            </a:endParaRPr>
          </a:p>
        </p:txBody>
      </p:sp>
      <p:pic>
        <p:nvPicPr>
          <p:cNvPr id="3" name="Picture 2">
            <a:extLst>
              <a:ext uri="{FF2B5EF4-FFF2-40B4-BE49-F238E27FC236}">
                <a16:creationId xmlns:a16="http://schemas.microsoft.com/office/drawing/2014/main" id="{1D8526C5-7325-025B-0715-E779435B6FCB}"/>
              </a:ext>
            </a:extLst>
          </p:cNvPr>
          <p:cNvPicPr>
            <a:picLocks noChangeAspect="1"/>
          </p:cNvPicPr>
          <p:nvPr/>
        </p:nvPicPr>
        <p:blipFill>
          <a:blip r:embed="rId2"/>
          <a:stretch>
            <a:fillRect/>
          </a:stretch>
        </p:blipFill>
        <p:spPr>
          <a:xfrm>
            <a:off x="5878123" y="1851579"/>
            <a:ext cx="5304922" cy="859248"/>
          </a:xfrm>
          <a:prstGeom prst="rect">
            <a:avLst/>
          </a:prstGeom>
        </p:spPr>
      </p:pic>
      <p:pic>
        <p:nvPicPr>
          <p:cNvPr id="8" name="Picture 7">
            <a:extLst>
              <a:ext uri="{FF2B5EF4-FFF2-40B4-BE49-F238E27FC236}">
                <a16:creationId xmlns:a16="http://schemas.microsoft.com/office/drawing/2014/main" id="{65CD1B99-B453-44EC-CB67-F4D4AAB74F7D}"/>
              </a:ext>
            </a:extLst>
          </p:cNvPr>
          <p:cNvPicPr>
            <a:picLocks noChangeAspect="1"/>
          </p:cNvPicPr>
          <p:nvPr/>
        </p:nvPicPr>
        <p:blipFill>
          <a:blip r:embed="rId3"/>
          <a:stretch>
            <a:fillRect/>
          </a:stretch>
        </p:blipFill>
        <p:spPr>
          <a:xfrm>
            <a:off x="1832527" y="2710827"/>
            <a:ext cx="9350518" cy="3569390"/>
          </a:xfrm>
          <a:prstGeom prst="rect">
            <a:avLst/>
          </a:prstGeom>
        </p:spPr>
      </p:pic>
    </p:spTree>
    <p:extLst>
      <p:ext uri="{BB962C8B-B14F-4D97-AF65-F5344CB8AC3E}">
        <p14:creationId xmlns:p14="http://schemas.microsoft.com/office/powerpoint/2010/main" val="3708787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619515"/>
          </a:xfrm>
        </p:spPr>
        <p:txBody>
          <a:bodyPr/>
          <a:lstStyle/>
          <a:p>
            <a:r>
              <a:rPr lang="en-US" sz="3600" b="1" dirty="0">
                <a:effectLst/>
                <a:latin typeface="Calibri" panose="020F0502020204030204" pitchFamily="34" charset="0"/>
                <a:cs typeface="Calibri" panose="020F0502020204030204" pitchFamily="34" charset="0"/>
              </a:rPr>
              <a:t>Feature Creation (Local LSI)</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834887"/>
            <a:ext cx="10977033" cy="5316531"/>
          </a:xfrm>
        </p:spPr>
        <p:txBody>
          <a:bodyPr/>
          <a:lstStyle/>
          <a:p>
            <a:r>
              <a:rPr lang="en-US" sz="2600" dirty="0">
                <a:latin typeface="Calibri" panose="020F0502020204030204" pitchFamily="34" charset="0"/>
                <a:cs typeface="Calibri" panose="020F0502020204030204" pitchFamily="34" charset="0"/>
              </a:rPr>
              <a:t>Use a modified Latent Semantic Indexing (LSI) technique to create a smaller set of concept vectors.</a:t>
            </a:r>
          </a:p>
          <a:p>
            <a:r>
              <a:rPr lang="en-US" sz="2600" dirty="0">
                <a:latin typeface="Calibri" panose="020F0502020204030204" pitchFamily="34" charset="0"/>
                <a:cs typeface="Calibri" panose="020F0502020204030204" pitchFamily="34" charset="0"/>
              </a:rPr>
              <a:t>Unlike standard LSI (Chapter 5), this method creates a separate representation of terms and items for each profile, forming a "local" space of likely relevant items.</a:t>
            </a:r>
          </a:p>
          <a:p>
            <a:r>
              <a:rPr lang="en-US" sz="2600" dirty="0">
                <a:latin typeface="Calibri" panose="020F0502020204030204" pitchFamily="34" charset="0"/>
                <a:cs typeface="Calibri" panose="020F0502020204030204" pitchFamily="34" charset="0"/>
              </a:rPr>
              <a:t>This reduces the number of LSI factors (dimensions) to a manageable level (e.g., fewer than hundreds), making processing feasible.</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30</a:t>
            </a:fld>
            <a:endParaRPr lang="en-US" sz="900">
              <a:solidFill>
                <a:schemeClr val="lt1"/>
              </a:solidFill>
            </a:endParaRPr>
          </a:p>
        </p:txBody>
      </p:sp>
    </p:spTree>
    <p:extLst>
      <p:ext uri="{BB962C8B-B14F-4D97-AF65-F5344CB8AC3E}">
        <p14:creationId xmlns:p14="http://schemas.microsoft.com/office/powerpoint/2010/main" val="1497015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Learning Algorithms for Classification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Linear Discriminant Analysis (LDA)</a:t>
            </a:r>
          </a:p>
          <a:p>
            <a:r>
              <a:rPr lang="en-US" sz="2600" dirty="0">
                <a:effectLst/>
                <a:latin typeface="Calibri" panose="020F0502020204030204" pitchFamily="34" charset="0"/>
                <a:cs typeface="Calibri" panose="020F0502020204030204" pitchFamily="34" charset="0"/>
              </a:rPr>
              <a:t>Logistic Regression</a:t>
            </a:r>
          </a:p>
          <a:p>
            <a:r>
              <a:rPr lang="en-US" sz="2600" dirty="0">
                <a:effectLst/>
                <a:latin typeface="Calibri" panose="020F0502020204030204" pitchFamily="34" charset="0"/>
                <a:cs typeface="Calibri" panose="020F0502020204030204" pitchFamily="34" charset="0"/>
              </a:rPr>
              <a:t>Neural Networks</a:t>
            </a:r>
          </a:p>
          <a:p>
            <a:endParaRPr lang="en-US" sz="2600"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31</a:t>
            </a:fld>
            <a:endParaRPr lang="en-US" sz="900">
              <a:solidFill>
                <a:schemeClr val="lt1"/>
              </a:solidFill>
            </a:endParaRPr>
          </a:p>
        </p:txBody>
      </p:sp>
    </p:spTree>
    <p:extLst>
      <p:ext uri="{BB962C8B-B14F-4D97-AF65-F5344CB8AC3E}">
        <p14:creationId xmlns:p14="http://schemas.microsoft.com/office/powerpoint/2010/main" val="1608292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Linear Discriminant Analysis (LDA)</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Goal: Maximize the separation between two classes (relevant and non-relevant) by finding a direction “a” that maximizes the distance between the class means, adjusted for the covariance structure.</a:t>
            </a:r>
          </a:p>
          <a:p>
            <a:endParaRPr lang="en-US" sz="2600" dirty="0">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32</a:t>
            </a:fld>
            <a:endParaRPr lang="en-US" sz="900">
              <a:solidFill>
                <a:schemeClr val="lt1"/>
              </a:solidFill>
            </a:endParaRPr>
          </a:p>
        </p:txBody>
      </p:sp>
      <p:pic>
        <p:nvPicPr>
          <p:cNvPr id="3" name="Picture 2">
            <a:extLst>
              <a:ext uri="{FF2B5EF4-FFF2-40B4-BE49-F238E27FC236}">
                <a16:creationId xmlns:a16="http://schemas.microsoft.com/office/drawing/2014/main" id="{43F124E3-154F-EB60-1EA6-4F40BB142E40}"/>
              </a:ext>
            </a:extLst>
          </p:cNvPr>
          <p:cNvPicPr>
            <a:picLocks noChangeAspect="1"/>
          </p:cNvPicPr>
          <p:nvPr/>
        </p:nvPicPr>
        <p:blipFill>
          <a:blip r:embed="rId2"/>
          <a:stretch>
            <a:fillRect/>
          </a:stretch>
        </p:blipFill>
        <p:spPr>
          <a:xfrm>
            <a:off x="4264508" y="2733468"/>
            <a:ext cx="2790961" cy="1003646"/>
          </a:xfrm>
          <a:prstGeom prst="rect">
            <a:avLst/>
          </a:prstGeom>
        </p:spPr>
      </p:pic>
      <p:pic>
        <p:nvPicPr>
          <p:cNvPr id="8" name="Picture 7">
            <a:extLst>
              <a:ext uri="{FF2B5EF4-FFF2-40B4-BE49-F238E27FC236}">
                <a16:creationId xmlns:a16="http://schemas.microsoft.com/office/drawing/2014/main" id="{A8F18DF6-87F0-73C5-E024-3DEBEB0675B7}"/>
              </a:ext>
            </a:extLst>
          </p:cNvPr>
          <p:cNvPicPr>
            <a:picLocks noChangeAspect="1"/>
          </p:cNvPicPr>
          <p:nvPr/>
        </p:nvPicPr>
        <p:blipFill>
          <a:blip r:embed="rId3"/>
          <a:stretch>
            <a:fillRect/>
          </a:stretch>
        </p:blipFill>
        <p:spPr>
          <a:xfrm>
            <a:off x="1000746" y="3737114"/>
            <a:ext cx="9101003" cy="1470990"/>
          </a:xfrm>
          <a:prstGeom prst="rect">
            <a:avLst/>
          </a:prstGeom>
        </p:spPr>
      </p:pic>
    </p:spTree>
    <p:extLst>
      <p:ext uri="{BB962C8B-B14F-4D97-AF65-F5344CB8AC3E}">
        <p14:creationId xmlns:p14="http://schemas.microsoft.com/office/powerpoint/2010/main" val="3646029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Simplification</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pPr marL="101600" indent="0">
              <a:buNone/>
            </a:pPr>
            <a:r>
              <a:rPr lang="en-US" sz="2400" dirty="0">
                <a:latin typeface="Calibri" panose="020F0502020204030204" pitchFamily="34" charset="0"/>
                <a:cs typeface="Calibri" panose="020F0502020204030204" pitchFamily="34" charset="0"/>
              </a:rPr>
              <a:t>                                                                                                    then the formula becomes;</a:t>
            </a:r>
          </a:p>
          <a:p>
            <a:pPr marL="101600" indent="0">
              <a:buNone/>
            </a:pPr>
            <a:endParaRPr lang="en-US" sz="2400" dirty="0">
              <a:latin typeface="Calibri" panose="020F0502020204030204" pitchFamily="34" charset="0"/>
              <a:cs typeface="Calibri" panose="020F0502020204030204" pitchFamily="34" charset="0"/>
            </a:endParaRPr>
          </a:p>
          <a:p>
            <a:pPr marL="101600" indent="0">
              <a:buNone/>
            </a:pPr>
            <a:endParaRPr lang="en-US" sz="2400" dirty="0">
              <a:latin typeface="Calibri" panose="020F0502020204030204" pitchFamily="34" charset="0"/>
              <a:cs typeface="Calibri" panose="020F0502020204030204" pitchFamily="34" charset="0"/>
            </a:endParaRPr>
          </a:p>
          <a:p>
            <a:pPr marL="101600" indent="0">
              <a:buNone/>
            </a:pPr>
            <a:endParaRPr lang="en-US" sz="2400" dirty="0">
              <a:latin typeface="Calibri" panose="020F0502020204030204" pitchFamily="34" charset="0"/>
              <a:cs typeface="Calibri" panose="020F0502020204030204" pitchFamily="34" charset="0"/>
            </a:endParaRPr>
          </a:p>
          <a:p>
            <a:pPr marL="101600" indent="0">
              <a:buNone/>
            </a:pPr>
            <a:endParaRPr lang="en-US" sz="2400" dirty="0">
              <a:latin typeface="Calibri" panose="020F0502020204030204" pitchFamily="34" charset="0"/>
              <a:cs typeface="Calibri" panose="020F0502020204030204" pitchFamily="34" charset="0"/>
            </a:endParaRPr>
          </a:p>
          <a:p>
            <a:endParaRPr lang="en-US" sz="2400" b="1" dirty="0">
              <a:effectLst/>
              <a:latin typeface="Calibri" panose="020F0502020204030204" pitchFamily="34" charset="0"/>
              <a:cs typeface="Calibri" panose="020F0502020204030204" pitchFamily="34" charset="0"/>
            </a:endParaRPr>
          </a:p>
          <a:p>
            <a:r>
              <a:rPr lang="en-US" sz="2400" b="1" dirty="0">
                <a:effectLst/>
                <a:latin typeface="Calibri" panose="020F0502020204030204" pitchFamily="34" charset="0"/>
                <a:cs typeface="Calibri" panose="020F0502020204030204" pitchFamily="34" charset="0"/>
              </a:rPr>
              <a:t>Regularized Discriminant Analysis (RDA): </a:t>
            </a:r>
            <a:r>
              <a:rPr lang="en-US" sz="2400" dirty="0">
                <a:effectLst/>
                <a:latin typeface="Calibri" panose="020F0502020204030204" pitchFamily="34" charset="0"/>
                <a:cs typeface="Calibri" panose="020F0502020204030204" pitchFamily="34" charset="0"/>
              </a:rPr>
              <a:t>Introduces shrinkage parameters to combine pooled and </a:t>
            </a:r>
            <a:r>
              <a:rPr lang="en-US" sz="2400" dirty="0" err="1">
                <a:effectLst/>
                <a:latin typeface="Calibri" panose="020F0502020204030204" pitchFamily="34" charset="0"/>
                <a:cs typeface="Calibri" panose="020F0502020204030204" pitchFamily="34" charset="0"/>
              </a:rPr>
              <a:t>unpooled</a:t>
            </a:r>
            <a:r>
              <a:rPr lang="en-US" sz="2400" dirty="0">
                <a:effectLst/>
                <a:latin typeface="Calibri" panose="020F0502020204030204" pitchFamily="34" charset="0"/>
                <a:cs typeface="Calibri" panose="020F0502020204030204" pitchFamily="34" charset="0"/>
              </a:rPr>
              <a:t> covariance matrices, creating a non-linear classifier. However, this doesn’t significantly improve performance.</a:t>
            </a:r>
          </a:p>
          <a:p>
            <a:pPr marL="101600" indent="0">
              <a:buNone/>
            </a:pPr>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33</a:t>
            </a:fld>
            <a:endParaRPr lang="en-US" sz="900">
              <a:solidFill>
                <a:schemeClr val="lt1"/>
              </a:solidFill>
            </a:endParaRPr>
          </a:p>
        </p:txBody>
      </p:sp>
      <p:pic>
        <p:nvPicPr>
          <p:cNvPr id="8" name="Picture 7">
            <a:extLst>
              <a:ext uri="{FF2B5EF4-FFF2-40B4-BE49-F238E27FC236}">
                <a16:creationId xmlns:a16="http://schemas.microsoft.com/office/drawing/2014/main" id="{56723882-2F9D-AB7A-837C-0450E727E2AC}"/>
              </a:ext>
            </a:extLst>
          </p:cNvPr>
          <p:cNvPicPr>
            <a:picLocks noChangeAspect="1"/>
          </p:cNvPicPr>
          <p:nvPr/>
        </p:nvPicPr>
        <p:blipFill>
          <a:blip r:embed="rId2"/>
          <a:stretch>
            <a:fillRect/>
          </a:stretch>
        </p:blipFill>
        <p:spPr>
          <a:xfrm>
            <a:off x="2912324" y="1924357"/>
            <a:ext cx="6505349" cy="2637704"/>
          </a:xfrm>
          <a:prstGeom prst="rect">
            <a:avLst/>
          </a:prstGeom>
        </p:spPr>
      </p:pic>
      <p:pic>
        <p:nvPicPr>
          <p:cNvPr id="12" name="Picture 11">
            <a:extLst>
              <a:ext uri="{FF2B5EF4-FFF2-40B4-BE49-F238E27FC236}">
                <a16:creationId xmlns:a16="http://schemas.microsoft.com/office/drawing/2014/main" id="{EB5FD7C9-DA08-4CFE-D470-4F108C47E891}"/>
              </a:ext>
            </a:extLst>
          </p:cNvPr>
          <p:cNvPicPr>
            <a:picLocks noChangeAspect="1"/>
          </p:cNvPicPr>
          <p:nvPr/>
        </p:nvPicPr>
        <p:blipFill>
          <a:blip r:embed="rId3"/>
          <a:stretch>
            <a:fillRect/>
          </a:stretch>
        </p:blipFill>
        <p:spPr>
          <a:xfrm>
            <a:off x="1001219" y="1564581"/>
            <a:ext cx="7185518" cy="362295"/>
          </a:xfrm>
          <a:prstGeom prst="rect">
            <a:avLst/>
          </a:prstGeom>
        </p:spPr>
      </p:pic>
    </p:spTree>
    <p:extLst>
      <p:ext uri="{BB962C8B-B14F-4D97-AF65-F5344CB8AC3E}">
        <p14:creationId xmlns:p14="http://schemas.microsoft.com/office/powerpoint/2010/main" val="3046822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434009" y="136763"/>
            <a:ext cx="11323982" cy="569819"/>
          </a:xfrm>
        </p:spPr>
        <p:txBody>
          <a:bodyPr/>
          <a:lstStyle/>
          <a:p>
            <a:r>
              <a:rPr lang="en-US" dirty="0">
                <a:effectLst/>
              </a:rPr>
              <a:t>Logistic Regression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706582"/>
            <a:ext cx="11148390" cy="5444836"/>
          </a:xfrm>
        </p:spPr>
        <p:txBody>
          <a:bodyPr/>
          <a:lstStyle/>
          <a:p>
            <a:r>
              <a:rPr lang="en-US" sz="2400" dirty="0">
                <a:effectLst/>
                <a:latin typeface="Calibri" panose="020F0502020204030204" pitchFamily="34" charset="0"/>
                <a:cs typeface="Calibri" panose="020F0502020204030204" pitchFamily="34" charset="0"/>
              </a:rPr>
              <a:t>Models the probability of relevance as a binary response variable using a </a:t>
            </a:r>
            <a:r>
              <a:rPr lang="en-US" sz="2400" b="1" dirty="0">
                <a:effectLst/>
                <a:latin typeface="Calibri" panose="020F0502020204030204" pitchFamily="34" charset="0"/>
                <a:cs typeface="Calibri" panose="020F0502020204030204" pitchFamily="34" charset="0"/>
              </a:rPr>
              <a:t>logit link function.</a:t>
            </a:r>
          </a:p>
          <a:p>
            <a:r>
              <a:rPr lang="en-US" sz="2400" dirty="0">
                <a:effectLst/>
                <a:latin typeface="Calibri" panose="020F0502020204030204" pitchFamily="34" charset="0"/>
                <a:cs typeface="Calibri" panose="020F0502020204030204" pitchFamily="34" charset="0"/>
              </a:rPr>
              <a:t>The sigmoid function used to model the probability :</a:t>
            </a:r>
          </a:p>
          <a:p>
            <a:r>
              <a:rPr lang="en-US" sz="2400" dirty="0">
                <a:effectLst/>
                <a:latin typeface="Calibri" panose="020F0502020204030204" pitchFamily="34" charset="0"/>
                <a:cs typeface="Calibri" panose="020F0502020204030204" pitchFamily="34" charset="0"/>
              </a:rPr>
              <a:t>The cross-entropy error minimized by logistic regression:</a:t>
            </a:r>
          </a:p>
          <a:p>
            <a:pPr marL="101600" indent="0">
              <a:buNone/>
            </a:pPr>
            <a:endParaRPr lang="en-US" sz="2400" dirty="0">
              <a:latin typeface="Calibri" panose="020F0502020204030204" pitchFamily="34" charset="0"/>
              <a:cs typeface="Calibri" panose="020F0502020204030204" pitchFamily="34" charset="0"/>
            </a:endParaRPr>
          </a:p>
          <a:p>
            <a:pPr marL="101600" indent="0">
              <a:buNone/>
            </a:pPr>
            <a:endParaRPr lang="en-US" sz="2400" b="1" dirty="0">
              <a:effectLst/>
              <a:latin typeface="Calibri" panose="020F0502020204030204" pitchFamily="34" charset="0"/>
              <a:cs typeface="Calibri" panose="020F0502020204030204" pitchFamily="34" charset="0"/>
            </a:endParaRPr>
          </a:p>
          <a:p>
            <a:r>
              <a:rPr lang="en-US" sz="2400" dirty="0">
                <a:effectLst/>
                <a:latin typeface="Calibri" panose="020F0502020204030204" pitchFamily="34" charset="0"/>
                <a:cs typeface="Calibri" panose="020F0502020204030204" pitchFamily="34" charset="0"/>
              </a:rPr>
              <a:t>The sigmoid to the logit</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34</a:t>
            </a:fld>
            <a:endParaRPr lang="en-US" sz="900">
              <a:solidFill>
                <a:schemeClr val="lt1"/>
              </a:solidFill>
            </a:endParaRPr>
          </a:p>
        </p:txBody>
      </p:sp>
      <p:pic>
        <p:nvPicPr>
          <p:cNvPr id="3" name="Picture 2">
            <a:extLst>
              <a:ext uri="{FF2B5EF4-FFF2-40B4-BE49-F238E27FC236}">
                <a16:creationId xmlns:a16="http://schemas.microsoft.com/office/drawing/2014/main" id="{276D64F4-6262-4691-70CC-3E7288AD68FE}"/>
              </a:ext>
            </a:extLst>
          </p:cNvPr>
          <p:cNvPicPr>
            <a:picLocks noChangeAspect="1"/>
          </p:cNvPicPr>
          <p:nvPr/>
        </p:nvPicPr>
        <p:blipFill>
          <a:blip r:embed="rId2"/>
          <a:stretch>
            <a:fillRect/>
          </a:stretch>
        </p:blipFill>
        <p:spPr>
          <a:xfrm>
            <a:off x="3735248" y="1115023"/>
            <a:ext cx="1841357" cy="634314"/>
          </a:xfrm>
          <a:prstGeom prst="rect">
            <a:avLst/>
          </a:prstGeom>
        </p:spPr>
      </p:pic>
      <p:pic>
        <p:nvPicPr>
          <p:cNvPr id="18" name="Picture 17">
            <a:extLst>
              <a:ext uri="{FF2B5EF4-FFF2-40B4-BE49-F238E27FC236}">
                <a16:creationId xmlns:a16="http://schemas.microsoft.com/office/drawing/2014/main" id="{30719940-4D19-7F14-94E7-D43AF7723457}"/>
              </a:ext>
            </a:extLst>
          </p:cNvPr>
          <p:cNvPicPr>
            <a:picLocks noChangeAspect="1"/>
          </p:cNvPicPr>
          <p:nvPr/>
        </p:nvPicPr>
        <p:blipFill>
          <a:blip r:embed="rId3"/>
          <a:stretch>
            <a:fillRect/>
          </a:stretch>
        </p:blipFill>
        <p:spPr>
          <a:xfrm>
            <a:off x="7712407" y="1352634"/>
            <a:ext cx="1570946" cy="793407"/>
          </a:xfrm>
          <a:prstGeom prst="rect">
            <a:avLst/>
          </a:prstGeom>
        </p:spPr>
      </p:pic>
      <p:pic>
        <p:nvPicPr>
          <p:cNvPr id="20" name="Picture 19">
            <a:extLst>
              <a:ext uri="{FF2B5EF4-FFF2-40B4-BE49-F238E27FC236}">
                <a16:creationId xmlns:a16="http://schemas.microsoft.com/office/drawing/2014/main" id="{65BE0DA0-369C-F04D-9E41-4F139AC06D31}"/>
              </a:ext>
            </a:extLst>
          </p:cNvPr>
          <p:cNvPicPr>
            <a:picLocks noChangeAspect="1"/>
          </p:cNvPicPr>
          <p:nvPr/>
        </p:nvPicPr>
        <p:blipFill>
          <a:blip r:embed="rId4"/>
          <a:stretch>
            <a:fillRect/>
          </a:stretch>
        </p:blipFill>
        <p:spPr>
          <a:xfrm>
            <a:off x="8243059" y="2251141"/>
            <a:ext cx="3514932" cy="499510"/>
          </a:xfrm>
          <a:prstGeom prst="rect">
            <a:avLst/>
          </a:prstGeom>
        </p:spPr>
      </p:pic>
      <p:pic>
        <p:nvPicPr>
          <p:cNvPr id="22" name="Picture 21">
            <a:extLst>
              <a:ext uri="{FF2B5EF4-FFF2-40B4-BE49-F238E27FC236}">
                <a16:creationId xmlns:a16="http://schemas.microsoft.com/office/drawing/2014/main" id="{BAB2BD89-C4D4-9EF8-E053-EDE2913549E9}"/>
              </a:ext>
            </a:extLst>
          </p:cNvPr>
          <p:cNvPicPr>
            <a:picLocks noChangeAspect="1"/>
          </p:cNvPicPr>
          <p:nvPr/>
        </p:nvPicPr>
        <p:blipFill>
          <a:blip r:embed="rId5"/>
          <a:stretch>
            <a:fillRect/>
          </a:stretch>
        </p:blipFill>
        <p:spPr>
          <a:xfrm>
            <a:off x="1162879" y="2746305"/>
            <a:ext cx="6261651" cy="871537"/>
          </a:xfrm>
          <a:prstGeom prst="rect">
            <a:avLst/>
          </a:prstGeom>
        </p:spPr>
      </p:pic>
      <p:pic>
        <p:nvPicPr>
          <p:cNvPr id="24" name="Picture 23">
            <a:extLst>
              <a:ext uri="{FF2B5EF4-FFF2-40B4-BE49-F238E27FC236}">
                <a16:creationId xmlns:a16="http://schemas.microsoft.com/office/drawing/2014/main" id="{901C7746-2244-DC64-3075-DB1071210448}"/>
              </a:ext>
            </a:extLst>
          </p:cNvPr>
          <p:cNvPicPr>
            <a:picLocks noChangeAspect="1"/>
          </p:cNvPicPr>
          <p:nvPr/>
        </p:nvPicPr>
        <p:blipFill>
          <a:blip r:embed="rId6"/>
          <a:stretch>
            <a:fillRect/>
          </a:stretch>
        </p:blipFill>
        <p:spPr>
          <a:xfrm>
            <a:off x="4172985" y="3763634"/>
            <a:ext cx="2010811" cy="705383"/>
          </a:xfrm>
          <a:prstGeom prst="rect">
            <a:avLst/>
          </a:prstGeom>
        </p:spPr>
      </p:pic>
      <p:pic>
        <p:nvPicPr>
          <p:cNvPr id="26" name="Picture 25">
            <a:extLst>
              <a:ext uri="{FF2B5EF4-FFF2-40B4-BE49-F238E27FC236}">
                <a16:creationId xmlns:a16="http://schemas.microsoft.com/office/drawing/2014/main" id="{F9DEF55F-D610-319C-357F-8093D584C321}"/>
              </a:ext>
            </a:extLst>
          </p:cNvPr>
          <p:cNvPicPr>
            <a:picLocks noChangeAspect="1"/>
          </p:cNvPicPr>
          <p:nvPr/>
        </p:nvPicPr>
        <p:blipFill>
          <a:blip r:embed="rId7"/>
          <a:stretch>
            <a:fillRect/>
          </a:stretch>
        </p:blipFill>
        <p:spPr>
          <a:xfrm>
            <a:off x="1017311" y="4614809"/>
            <a:ext cx="9839325" cy="1128167"/>
          </a:xfrm>
          <a:prstGeom prst="rect">
            <a:avLst/>
          </a:prstGeom>
        </p:spPr>
      </p:pic>
    </p:spTree>
    <p:extLst>
      <p:ext uri="{BB962C8B-B14F-4D97-AF65-F5344CB8AC3E}">
        <p14:creationId xmlns:p14="http://schemas.microsoft.com/office/powerpoint/2010/main" val="2055380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dirty="0">
                <a:effectLst/>
                <a:latin typeface="Calibri" panose="020F0502020204030204" pitchFamily="34" charset="0"/>
                <a:cs typeface="Calibri" panose="020F0502020204030204" pitchFamily="34" charset="0"/>
              </a:rPr>
              <a:t>Neural Networks</a:t>
            </a:r>
            <a:endParaRPr lang="en-US" dirty="0"/>
          </a:p>
        </p:txBody>
      </p:sp>
      <p:sp>
        <p:nvSpPr>
          <p:cNvPr id="2" name="Content Placeholder 1">
            <a:extLst>
              <a:ext uri="{FF2B5EF4-FFF2-40B4-BE49-F238E27FC236}">
                <a16:creationId xmlns:a16="http://schemas.microsoft.com/office/drawing/2014/main" id="{A68891DF-E050-4126-37CE-056B677F249C}"/>
              </a:ext>
            </a:extLst>
          </p:cNvPr>
          <p:cNvSpPr>
            <a:spLocks noGrp="1"/>
          </p:cNvSpPr>
          <p:nvPr>
            <p:ph sz="quarter" idx="13"/>
          </p:nvPr>
        </p:nvSpPr>
        <p:spPr>
          <a:xfrm>
            <a:off x="609600" y="1414951"/>
            <a:ext cx="5184913" cy="4576274"/>
          </a:xfrm>
        </p:spPr>
        <p:txBody>
          <a:bodyPr/>
          <a:lstStyle/>
          <a:p>
            <a:r>
              <a:rPr lang="en-US" sz="2400" dirty="0">
                <a:latin typeface="Calibri" panose="020F0502020204030204" pitchFamily="34" charset="0"/>
                <a:cs typeface="Calibri" panose="020F0502020204030204" pitchFamily="34" charset="0"/>
              </a:rPr>
              <a:t>Linear Neural Network (Left): Input units (LSI representation and term representation) are directly connected to the output unit.</a:t>
            </a:r>
          </a:p>
          <a:p>
            <a:r>
              <a:rPr lang="en-US" sz="2400" dirty="0">
                <a:latin typeface="Calibri" panose="020F0502020204030204" pitchFamily="34" charset="0"/>
                <a:cs typeface="Calibri" panose="020F0502020204030204" pitchFamily="34" charset="0"/>
              </a:rPr>
              <a:t>Non-linear Neural Network (Right): Includes hidden blocks for LSI and terms, each with three hidden units acting as feature detectors, before connecting to the output unit.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35</a:t>
            </a:fld>
            <a:endParaRPr lang="en-US" sz="900">
              <a:solidFill>
                <a:schemeClr val="lt1"/>
              </a:solidFill>
            </a:endParaRPr>
          </a:p>
        </p:txBody>
      </p:sp>
      <p:pic>
        <p:nvPicPr>
          <p:cNvPr id="8" name="Picture 7">
            <a:extLst>
              <a:ext uri="{FF2B5EF4-FFF2-40B4-BE49-F238E27FC236}">
                <a16:creationId xmlns:a16="http://schemas.microsoft.com/office/drawing/2014/main" id="{FC090AD4-DD7D-74D9-911E-DEA4E4C0CA7D}"/>
              </a:ext>
            </a:extLst>
          </p:cNvPr>
          <p:cNvPicPr>
            <a:picLocks noChangeAspect="1"/>
          </p:cNvPicPr>
          <p:nvPr/>
        </p:nvPicPr>
        <p:blipFill>
          <a:blip r:embed="rId2"/>
          <a:stretch>
            <a:fillRect/>
          </a:stretch>
        </p:blipFill>
        <p:spPr>
          <a:xfrm>
            <a:off x="5666947" y="950868"/>
            <a:ext cx="5915453" cy="5430054"/>
          </a:xfrm>
          <a:prstGeom prst="rect">
            <a:avLst/>
          </a:prstGeom>
        </p:spPr>
      </p:pic>
    </p:spTree>
    <p:extLst>
      <p:ext uri="{BB962C8B-B14F-4D97-AF65-F5344CB8AC3E}">
        <p14:creationId xmlns:p14="http://schemas.microsoft.com/office/powerpoint/2010/main" val="1258522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dirty="0">
                <a:effectLst/>
                <a:latin typeface="Calibri" panose="020F0502020204030204" pitchFamily="34" charset="0"/>
                <a:cs typeface="Calibri" panose="020F0502020204030204" pitchFamily="34" charset="0"/>
              </a:rPr>
              <a:t>Neural Networks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Function: Neural networks propagate input (document features) forward to compute relevance, then backpropagate errors to adjust weights.</a:t>
            </a:r>
          </a:p>
          <a:p>
            <a:r>
              <a:rPr lang="en-US" sz="2600" dirty="0">
                <a:latin typeface="Calibri" panose="020F0502020204030204" pitchFamily="34" charset="0"/>
                <a:cs typeface="Calibri" panose="020F0502020204030204" pitchFamily="34" charset="0"/>
              </a:rPr>
              <a:t>Sigmoid Activation: Uses the sigmoid function                      (same as in logistic regression) to compute activations.</a:t>
            </a:r>
          </a:p>
          <a:p>
            <a:r>
              <a:rPr lang="en-US" sz="2600" dirty="0">
                <a:latin typeface="Calibri" panose="020F0502020204030204" pitchFamily="34" charset="0"/>
                <a:cs typeface="Calibri" panose="020F0502020204030204" pitchFamily="34" charset="0"/>
              </a:rPr>
              <a:t>Error Minimization: Minimizes the cross-entropy error (same as logistic regression), using backpropagation and gradient descent.</a:t>
            </a:r>
          </a:p>
          <a:p>
            <a:r>
              <a:rPr lang="en-US" sz="2600" dirty="0">
                <a:latin typeface="Calibri" panose="020F0502020204030204" pitchFamily="34" charset="0"/>
                <a:cs typeface="Calibri" panose="020F0502020204030204" pitchFamily="34" charset="0"/>
              </a:rPr>
              <a:t>Overfitting Prevention: A validation set is used during training to detect overfitting. If errors on the validation set increase, training stops to ensure generalization.</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36</a:t>
            </a:fld>
            <a:endParaRPr lang="en-US" sz="900">
              <a:solidFill>
                <a:schemeClr val="lt1"/>
              </a:solidFill>
            </a:endParaRPr>
          </a:p>
        </p:txBody>
      </p:sp>
      <p:pic>
        <p:nvPicPr>
          <p:cNvPr id="3" name="Picture 2">
            <a:extLst>
              <a:ext uri="{FF2B5EF4-FFF2-40B4-BE49-F238E27FC236}">
                <a16:creationId xmlns:a16="http://schemas.microsoft.com/office/drawing/2014/main" id="{59E995B8-DF77-ACCD-543A-1C5C86EE8712}"/>
              </a:ext>
            </a:extLst>
          </p:cNvPr>
          <p:cNvPicPr>
            <a:picLocks noChangeAspect="1"/>
          </p:cNvPicPr>
          <p:nvPr/>
        </p:nvPicPr>
        <p:blipFill>
          <a:blip r:embed="rId2"/>
          <a:stretch>
            <a:fillRect/>
          </a:stretch>
        </p:blipFill>
        <p:spPr>
          <a:xfrm>
            <a:off x="7303397" y="2458826"/>
            <a:ext cx="1214438" cy="639178"/>
          </a:xfrm>
          <a:prstGeom prst="rect">
            <a:avLst/>
          </a:prstGeom>
        </p:spPr>
      </p:pic>
    </p:spTree>
    <p:extLst>
      <p:ext uri="{BB962C8B-B14F-4D97-AF65-F5344CB8AC3E}">
        <p14:creationId xmlns:p14="http://schemas.microsoft.com/office/powerpoint/2010/main" val="2416491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dirty="0">
                <a:latin typeface="Calibri" panose="020F0502020204030204" pitchFamily="34" charset="0"/>
                <a:cs typeface="Calibri" panose="020F0502020204030204" pitchFamily="34" charset="0"/>
              </a:rPr>
              <a:t>Weighted Searches of Boolean Systems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Boolean queries (e.g., "A AND B", "A OR B", "A NOT B") </a:t>
            </a:r>
            <a:r>
              <a:rPr lang="en-US" sz="2600" dirty="0">
                <a:latin typeface="Calibri" panose="020F0502020204030204" pitchFamily="34" charset="0"/>
                <a:cs typeface="Calibri" panose="020F0502020204030204" pitchFamily="34" charset="0"/>
              </a:rPr>
              <a:t>are traditionally strict—they return items that exactly match the conditions (e.g., both A and B for AND). </a:t>
            </a:r>
          </a:p>
          <a:p>
            <a:r>
              <a:rPr lang="en-US" sz="2600" dirty="0">
                <a:latin typeface="Calibri" panose="020F0502020204030204" pitchFamily="34" charset="0"/>
                <a:cs typeface="Calibri" panose="020F0502020204030204" pitchFamily="34" charset="0"/>
              </a:rPr>
              <a:t>In </a:t>
            </a:r>
            <a:r>
              <a:rPr lang="en-US" sz="2600" b="1" dirty="0">
                <a:latin typeface="Calibri" panose="020F0502020204030204" pitchFamily="34" charset="0"/>
                <a:cs typeface="Calibri" panose="020F0502020204030204" pitchFamily="34" charset="0"/>
              </a:rPr>
              <a:t>weighted index systems </a:t>
            </a:r>
            <a:r>
              <a:rPr lang="en-US" sz="2600" dirty="0">
                <a:latin typeface="Calibri" panose="020F0502020204030204" pitchFamily="34" charset="0"/>
                <a:cs typeface="Calibri" panose="020F0502020204030204" pitchFamily="34" charset="0"/>
              </a:rPr>
              <a:t>(where terms have weights representing their importance)strict Boolean logic can be too restrictive (AND) or too general (OR), leading to suboptimal retrieval results. </a:t>
            </a:r>
          </a:p>
          <a:p>
            <a:r>
              <a:rPr lang="en-US" sz="2600" dirty="0">
                <a:latin typeface="Calibri" panose="020F0502020204030204" pitchFamily="34" charset="0"/>
                <a:cs typeface="Calibri" panose="020F0502020204030204" pitchFamily="34" charset="0"/>
              </a:rPr>
              <a:t>Additionally, pure </a:t>
            </a:r>
            <a:r>
              <a:rPr lang="en-US" sz="2600" b="1" dirty="0">
                <a:latin typeface="Calibri" panose="020F0502020204030204" pitchFamily="34" charset="0"/>
                <a:cs typeface="Calibri" panose="020F0502020204030204" pitchFamily="34" charset="0"/>
              </a:rPr>
              <a:t>Boolean systems lack ranking, which is critical for user experience</a:t>
            </a:r>
            <a:r>
              <a:rPr lang="en-US" sz="2600" dirty="0">
                <a:latin typeface="Calibri" panose="020F0502020204030204" pitchFamily="34" charset="0"/>
                <a:cs typeface="Calibri" panose="020F0502020204030204" pitchFamily="34" charset="0"/>
              </a:rPr>
              <a:t> in information retrieval. </a:t>
            </a:r>
          </a:p>
          <a:p>
            <a:r>
              <a:rPr lang="en-US" sz="2600" dirty="0">
                <a:latin typeface="Calibri" panose="020F0502020204030204" pitchFamily="34" charset="0"/>
                <a:cs typeface="Calibri" panose="020F0502020204030204" pitchFamily="34" charset="0"/>
              </a:rPr>
              <a:t>The goal is to </a:t>
            </a:r>
            <a:r>
              <a:rPr lang="en-US" sz="2600" b="1" dirty="0">
                <a:latin typeface="Calibri" panose="020F0502020204030204" pitchFamily="34" charset="0"/>
                <a:cs typeface="Calibri" panose="020F0502020204030204" pitchFamily="34" charset="0"/>
              </a:rPr>
              <a:t>combine Boolean logic with weighted systems </a:t>
            </a:r>
            <a:r>
              <a:rPr lang="en-US" sz="2600" dirty="0">
                <a:latin typeface="Calibri" panose="020F0502020204030204" pitchFamily="34" charset="0"/>
                <a:cs typeface="Calibri" panose="020F0502020204030204" pitchFamily="34" charset="0"/>
              </a:rPr>
              <a:t>to allow for fuzziness and ranking.</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37</a:t>
            </a:fld>
            <a:endParaRPr lang="en-US" sz="900">
              <a:solidFill>
                <a:schemeClr val="lt1"/>
              </a:solidFill>
            </a:endParaRPr>
          </a:p>
        </p:txBody>
      </p:sp>
    </p:spTree>
    <p:extLst>
      <p:ext uri="{BB962C8B-B14F-4D97-AF65-F5344CB8AC3E}">
        <p14:creationId xmlns:p14="http://schemas.microsoft.com/office/powerpoint/2010/main" val="26441573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pPr marL="742950" indent="-742950">
              <a:buFont typeface="+mj-lt"/>
              <a:buAutoNum type="arabicPeriod"/>
            </a:pPr>
            <a:r>
              <a:rPr lang="en-US" dirty="0">
                <a:effectLst/>
              </a:rPr>
              <a:t>Fuzzy Set Approach (Fox and Sharat)</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Fuzzy sets introduce the concept of </a:t>
            </a:r>
            <a:r>
              <a:rPr lang="en-US" sz="2600" b="1" dirty="0">
                <a:effectLst/>
                <a:latin typeface="Calibri" panose="020F0502020204030204" pitchFamily="34" charset="0"/>
                <a:cs typeface="Calibri" panose="020F0502020204030204" pitchFamily="34" charset="0"/>
              </a:rPr>
              <a:t>"degree of membership" (DEG)</a:t>
            </a:r>
            <a:r>
              <a:rPr lang="en-US" sz="2600" dirty="0">
                <a:effectLst/>
                <a:latin typeface="Calibri" panose="020F0502020204030204" pitchFamily="34" charset="0"/>
                <a:cs typeface="Calibri" panose="020F0502020204030204" pitchFamily="34" charset="0"/>
              </a:rPr>
              <a:t>, allowing terms to partially belong to a set rather than strictly being in or out. This is useful for combining </a:t>
            </a:r>
            <a:r>
              <a:rPr lang="en-US" sz="2600" b="1" dirty="0">
                <a:effectLst/>
                <a:latin typeface="Calibri" panose="020F0502020204030204" pitchFamily="34" charset="0"/>
                <a:cs typeface="Calibri" panose="020F0502020204030204" pitchFamily="34" charset="0"/>
              </a:rPr>
              <a:t>Boolean logic with weights</a:t>
            </a:r>
            <a:r>
              <a:rPr lang="en-US" sz="2600" dirty="0">
                <a:effectLst/>
                <a:latin typeface="Calibri" panose="020F0502020204030204" pitchFamily="34" charset="0"/>
                <a:cs typeface="Calibri" panose="020F0502020204030204" pitchFamily="34" charset="0"/>
              </a:rPr>
              <a:t>.</a:t>
            </a:r>
          </a:p>
          <a:p>
            <a:r>
              <a:rPr lang="en-US" sz="2600" b="1" dirty="0">
                <a:effectLst/>
                <a:latin typeface="Calibri" panose="020F0502020204030204" pitchFamily="34" charset="0"/>
                <a:cs typeface="Calibri" panose="020F0502020204030204" pitchFamily="34" charset="0"/>
              </a:rPr>
              <a:t>Degree of Membership for AND </a:t>
            </a:r>
            <a:r>
              <a:rPr lang="en-US" sz="2600" b="1" dirty="0" err="1">
                <a:effectLst/>
                <a:latin typeface="Calibri" panose="020F0502020204030204" pitchFamily="34" charset="0"/>
                <a:cs typeface="Calibri" panose="020F0502020204030204" pitchFamily="34" charset="0"/>
              </a:rPr>
              <a:t>and</a:t>
            </a:r>
            <a:r>
              <a:rPr lang="en-US" sz="2600" b="1" dirty="0">
                <a:effectLst/>
                <a:latin typeface="Calibri" panose="020F0502020204030204" pitchFamily="34" charset="0"/>
                <a:cs typeface="Calibri" panose="020F0502020204030204" pitchFamily="34" charset="0"/>
              </a:rPr>
              <a:t> OR</a:t>
            </a:r>
          </a:p>
          <a:p>
            <a:endParaRPr lang="en-US" sz="2600" b="1"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38</a:t>
            </a:fld>
            <a:endParaRPr lang="en-US" sz="900">
              <a:solidFill>
                <a:schemeClr val="lt1"/>
              </a:solidFill>
            </a:endParaRPr>
          </a:p>
        </p:txBody>
      </p:sp>
      <p:pic>
        <p:nvPicPr>
          <p:cNvPr id="3" name="Picture 2">
            <a:extLst>
              <a:ext uri="{FF2B5EF4-FFF2-40B4-BE49-F238E27FC236}">
                <a16:creationId xmlns:a16="http://schemas.microsoft.com/office/drawing/2014/main" id="{4DE93BFF-09E1-4D17-8E8B-E13EB0CAF94E}"/>
              </a:ext>
            </a:extLst>
          </p:cNvPr>
          <p:cNvPicPr>
            <a:picLocks noChangeAspect="1"/>
          </p:cNvPicPr>
          <p:nvPr/>
        </p:nvPicPr>
        <p:blipFill>
          <a:blip r:embed="rId2"/>
          <a:stretch>
            <a:fillRect/>
          </a:stretch>
        </p:blipFill>
        <p:spPr>
          <a:xfrm>
            <a:off x="3380426" y="3429000"/>
            <a:ext cx="3388399" cy="1123121"/>
          </a:xfrm>
          <a:prstGeom prst="rect">
            <a:avLst/>
          </a:prstGeom>
        </p:spPr>
      </p:pic>
    </p:spTree>
    <p:extLst>
      <p:ext uri="{BB962C8B-B14F-4D97-AF65-F5344CB8AC3E}">
        <p14:creationId xmlns:p14="http://schemas.microsoft.com/office/powerpoint/2010/main" val="4548884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pPr marL="742950" indent="-742950">
              <a:buFont typeface="+mj-lt"/>
              <a:buAutoNum type="arabicPeriod" startAt="2"/>
            </a:pPr>
            <a:r>
              <a:rPr lang="en-US" dirty="0">
                <a:effectLst/>
              </a:rPr>
              <a:t>Mixed Min and Max (MMM) Model</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The MMM model calculates the similarity between a query (QUERY) and a document (DOC) as a linear combination of minimum and maximum weights of the terms:</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39</a:t>
            </a:fld>
            <a:endParaRPr lang="en-US" sz="900">
              <a:solidFill>
                <a:schemeClr val="lt1"/>
              </a:solidFill>
            </a:endParaRPr>
          </a:p>
        </p:txBody>
      </p:sp>
      <p:pic>
        <p:nvPicPr>
          <p:cNvPr id="8" name="Picture 7">
            <a:extLst>
              <a:ext uri="{FF2B5EF4-FFF2-40B4-BE49-F238E27FC236}">
                <a16:creationId xmlns:a16="http://schemas.microsoft.com/office/drawing/2014/main" id="{91A9B749-98F1-0B41-B3A8-05E4EBA081AB}"/>
              </a:ext>
            </a:extLst>
          </p:cNvPr>
          <p:cNvPicPr>
            <a:picLocks noChangeAspect="1"/>
          </p:cNvPicPr>
          <p:nvPr/>
        </p:nvPicPr>
        <p:blipFill>
          <a:blip r:embed="rId2"/>
          <a:stretch>
            <a:fillRect/>
          </a:stretch>
        </p:blipFill>
        <p:spPr>
          <a:xfrm>
            <a:off x="3041731" y="2832652"/>
            <a:ext cx="5267381" cy="1028460"/>
          </a:xfrm>
          <a:prstGeom prst="rect">
            <a:avLst/>
          </a:prstGeom>
        </p:spPr>
      </p:pic>
      <p:pic>
        <p:nvPicPr>
          <p:cNvPr id="10" name="Picture 9">
            <a:extLst>
              <a:ext uri="{FF2B5EF4-FFF2-40B4-BE49-F238E27FC236}">
                <a16:creationId xmlns:a16="http://schemas.microsoft.com/office/drawing/2014/main" id="{EA2F8B88-5F8A-9C18-F15E-974FEC227431}"/>
              </a:ext>
            </a:extLst>
          </p:cNvPr>
          <p:cNvPicPr>
            <a:picLocks noChangeAspect="1"/>
          </p:cNvPicPr>
          <p:nvPr/>
        </p:nvPicPr>
        <p:blipFill>
          <a:blip r:embed="rId3"/>
          <a:stretch>
            <a:fillRect/>
          </a:stretch>
        </p:blipFill>
        <p:spPr>
          <a:xfrm>
            <a:off x="1200150" y="4110245"/>
            <a:ext cx="9791700" cy="704850"/>
          </a:xfrm>
          <a:prstGeom prst="rect">
            <a:avLst/>
          </a:prstGeom>
        </p:spPr>
      </p:pic>
    </p:spTree>
    <p:extLst>
      <p:ext uri="{BB962C8B-B14F-4D97-AF65-F5344CB8AC3E}">
        <p14:creationId xmlns:p14="http://schemas.microsoft.com/office/powerpoint/2010/main" val="2118139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pPr marL="742950" indent="-742950">
              <a:buFont typeface="+mj-lt"/>
              <a:buAutoNum type="arabicPeriod" startAt="3"/>
            </a:pPr>
            <a:r>
              <a:rPr lang="en-US" dirty="0" err="1">
                <a:effectLst/>
              </a:rPr>
              <a:t>Paice’s</a:t>
            </a:r>
            <a:r>
              <a:rPr lang="en-US" dirty="0">
                <a:effectLst/>
              </a:rPr>
              <a:t> Extension of MMM</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err="1">
                <a:effectLst/>
                <a:latin typeface="Calibri" panose="020F0502020204030204" pitchFamily="34" charset="0"/>
                <a:cs typeface="Calibri" panose="020F0502020204030204" pitchFamily="34" charset="0"/>
              </a:rPr>
              <a:t>Paice</a:t>
            </a:r>
            <a:r>
              <a:rPr lang="en-US" sz="2600" dirty="0">
                <a:effectLst/>
                <a:latin typeface="Calibri" panose="020F0502020204030204" pitchFamily="34" charset="0"/>
                <a:cs typeface="Calibri" panose="020F0502020204030204" pitchFamily="34" charset="0"/>
              </a:rPr>
              <a:t> expanded the MMM model by considering all term weights (not just min/max) and sorting them:</a:t>
            </a:r>
          </a:p>
          <a:p>
            <a:pPr>
              <a:buFont typeface="Arial" panose="020B0604020202020204" pitchFamily="34" charset="0"/>
              <a:buChar char="•"/>
            </a:pPr>
            <a:r>
              <a:rPr lang="en-US" sz="2600" dirty="0">
                <a:latin typeface="Calibri" panose="020F0502020204030204" pitchFamily="34" charset="0"/>
                <a:cs typeface="Calibri" panose="020F0502020204030204" pitchFamily="34" charset="0"/>
              </a:rPr>
              <a:t>Similarity is calculated as:</a:t>
            </a:r>
          </a:p>
          <a:p>
            <a:pPr>
              <a:buFont typeface="Arial" panose="020B0604020202020204" pitchFamily="34" charset="0"/>
              <a:buChar char="•"/>
            </a:pPr>
            <a:endParaRPr lang="en-US" sz="26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6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600" dirty="0">
              <a:effectLst/>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6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sz="2600" dirty="0">
                <a:effectLst/>
                <a:latin typeface="Calibri" panose="020F0502020204030204" pitchFamily="34" charset="0"/>
                <a:cs typeface="Calibri" panose="020F0502020204030204" pitchFamily="34" charset="0"/>
              </a:rPr>
              <a:t>This method requires more computation due to sorting but provides a more comprehensive use of weights.</a:t>
            </a:r>
          </a:p>
          <a:p>
            <a:pPr>
              <a:buFont typeface="Arial" panose="020B0604020202020204" pitchFamily="34" charset="0"/>
              <a:buChar char="•"/>
            </a:pPr>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40</a:t>
            </a:fld>
            <a:endParaRPr lang="en-US" sz="900">
              <a:solidFill>
                <a:schemeClr val="lt1"/>
              </a:solidFill>
            </a:endParaRPr>
          </a:p>
        </p:txBody>
      </p:sp>
      <p:pic>
        <p:nvPicPr>
          <p:cNvPr id="3" name="Picture 2">
            <a:extLst>
              <a:ext uri="{FF2B5EF4-FFF2-40B4-BE49-F238E27FC236}">
                <a16:creationId xmlns:a16="http://schemas.microsoft.com/office/drawing/2014/main" id="{A8617E84-A918-F65A-B0E3-25629B7A8645}"/>
              </a:ext>
            </a:extLst>
          </p:cNvPr>
          <p:cNvPicPr>
            <a:picLocks noChangeAspect="1"/>
          </p:cNvPicPr>
          <p:nvPr/>
        </p:nvPicPr>
        <p:blipFill>
          <a:blip r:embed="rId2"/>
          <a:stretch>
            <a:fillRect/>
          </a:stretch>
        </p:blipFill>
        <p:spPr>
          <a:xfrm>
            <a:off x="3241069" y="3124166"/>
            <a:ext cx="4076206" cy="821561"/>
          </a:xfrm>
          <a:prstGeom prst="rect">
            <a:avLst/>
          </a:prstGeom>
        </p:spPr>
      </p:pic>
      <p:pic>
        <p:nvPicPr>
          <p:cNvPr id="8" name="Picture 7">
            <a:extLst>
              <a:ext uri="{FF2B5EF4-FFF2-40B4-BE49-F238E27FC236}">
                <a16:creationId xmlns:a16="http://schemas.microsoft.com/office/drawing/2014/main" id="{30428038-B54D-04A6-8676-534AD9503205}"/>
              </a:ext>
            </a:extLst>
          </p:cNvPr>
          <p:cNvPicPr>
            <a:picLocks noChangeAspect="1"/>
          </p:cNvPicPr>
          <p:nvPr/>
        </p:nvPicPr>
        <p:blipFill>
          <a:blip r:embed="rId3"/>
          <a:stretch>
            <a:fillRect/>
          </a:stretch>
        </p:blipFill>
        <p:spPr>
          <a:xfrm>
            <a:off x="605366" y="4432402"/>
            <a:ext cx="10427505" cy="821561"/>
          </a:xfrm>
          <a:prstGeom prst="rect">
            <a:avLst/>
          </a:prstGeom>
        </p:spPr>
      </p:pic>
    </p:spTree>
    <p:extLst>
      <p:ext uri="{BB962C8B-B14F-4D97-AF65-F5344CB8AC3E}">
        <p14:creationId xmlns:p14="http://schemas.microsoft.com/office/powerpoint/2010/main" val="2508894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pPr marL="742950" indent="-742950">
              <a:buFont typeface="+mj-lt"/>
              <a:buAutoNum type="arabicPeriod" startAt="4"/>
            </a:pPr>
            <a:r>
              <a:rPr lang="en-US" dirty="0">
                <a:effectLst/>
              </a:rPr>
              <a:t>P-norm Model</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For </a:t>
            </a:r>
            <a:r>
              <a:rPr lang="en-US" sz="2600" b="1" dirty="0">
                <a:latin typeface="Calibri" panose="020F0502020204030204" pitchFamily="34" charset="0"/>
                <a:cs typeface="Calibri" panose="020F0502020204030204" pitchFamily="34" charset="0"/>
              </a:rPr>
              <a:t>OR queries</a:t>
            </a:r>
            <a:r>
              <a:rPr lang="en-US" sz="2600" dirty="0">
                <a:latin typeface="Calibri" panose="020F0502020204030204" pitchFamily="34" charset="0"/>
                <a:cs typeface="Calibri" panose="020F0502020204030204" pitchFamily="34" charset="0"/>
              </a:rPr>
              <a:t>, the origin </a:t>
            </a:r>
            <a:r>
              <a:rPr lang="en-US" sz="2600" b="1" dirty="0">
                <a:latin typeface="Calibri" panose="020F0502020204030204" pitchFamily="34" charset="0"/>
                <a:cs typeface="Calibri" panose="020F0502020204030204" pitchFamily="34" charset="0"/>
              </a:rPr>
              <a:t>(all weights = 0) is the worst case</a:t>
            </a:r>
            <a:r>
              <a:rPr lang="en-US" sz="2600" dirty="0">
                <a:latin typeface="Calibri" panose="020F0502020204030204" pitchFamily="34" charset="0"/>
                <a:cs typeface="Calibri" panose="020F0502020204030204" pitchFamily="34" charset="0"/>
              </a:rPr>
              <a:t>; the best documents are farthest from the origin.</a:t>
            </a:r>
          </a:p>
          <a:p>
            <a:r>
              <a:rPr lang="en-US" sz="2600" dirty="0">
                <a:latin typeface="Calibri" panose="020F0502020204030204" pitchFamily="34" charset="0"/>
                <a:cs typeface="Calibri" panose="020F0502020204030204" pitchFamily="34" charset="0"/>
              </a:rPr>
              <a:t>For </a:t>
            </a:r>
            <a:r>
              <a:rPr lang="en-US" sz="2600" b="1" dirty="0">
                <a:latin typeface="Calibri" panose="020F0502020204030204" pitchFamily="34" charset="0"/>
                <a:cs typeface="Calibri" panose="020F0502020204030204" pitchFamily="34" charset="0"/>
              </a:rPr>
              <a:t>AND queries</a:t>
            </a:r>
            <a:r>
              <a:rPr lang="en-US" sz="2600" dirty="0">
                <a:latin typeface="Calibri" panose="020F0502020204030204" pitchFamily="34" charset="0"/>
                <a:cs typeface="Calibri" panose="020F0502020204030204" pitchFamily="34" charset="0"/>
              </a:rPr>
              <a:t>, the </a:t>
            </a:r>
            <a:r>
              <a:rPr lang="en-US" sz="2600" b="1" dirty="0">
                <a:latin typeface="Calibri" panose="020F0502020204030204" pitchFamily="34" charset="0"/>
                <a:cs typeface="Calibri" panose="020F0502020204030204" pitchFamily="34" charset="0"/>
              </a:rPr>
              <a:t>ideal point is the unit vector (all weights = 1); </a:t>
            </a:r>
            <a:r>
              <a:rPr lang="en-US" sz="2600" dirty="0">
                <a:latin typeface="Calibri" panose="020F0502020204030204" pitchFamily="34" charset="0"/>
                <a:cs typeface="Calibri" panose="020F0502020204030204" pitchFamily="34" charset="0"/>
              </a:rPr>
              <a:t>the best documents are closest to this point.</a:t>
            </a:r>
          </a:p>
          <a:p>
            <a:pPr lvl="8"/>
            <a:r>
              <a:rPr lang="en-US" sz="2600" dirty="0">
                <a:latin typeface="Calibri" panose="020F0502020204030204" pitchFamily="34" charset="0"/>
                <a:cs typeface="Calibri" panose="020F0502020204030204" pitchFamily="34" charset="0"/>
              </a:rPr>
              <a:t>                                 </a:t>
            </a:r>
          </a:p>
          <a:p>
            <a:pPr lvl="8"/>
            <a:endParaRPr lang="en-US" sz="2600" dirty="0">
              <a:effectLst/>
              <a:latin typeface="Calibri" panose="020F0502020204030204" pitchFamily="34" charset="0"/>
              <a:cs typeface="Calibri" panose="020F0502020204030204" pitchFamily="34" charset="0"/>
            </a:endParaRPr>
          </a:p>
          <a:p>
            <a:pPr lvl="8"/>
            <a:endParaRPr lang="en-US" sz="2600" dirty="0">
              <a:latin typeface="Calibri" panose="020F0502020204030204" pitchFamily="34" charset="0"/>
              <a:cs typeface="Calibri" panose="020F0502020204030204" pitchFamily="34" charset="0"/>
            </a:endParaRPr>
          </a:p>
          <a:p>
            <a:r>
              <a:rPr lang="en-US" sz="2600" dirty="0">
                <a:effectLst/>
                <a:latin typeface="Calibri" panose="020F0502020204030204" pitchFamily="34" charset="0"/>
                <a:cs typeface="Calibri" panose="020F0502020204030204" pitchFamily="34" charset="0"/>
              </a:rPr>
              <a:t>Similarity formulas :</a:t>
            </a:r>
          </a:p>
          <a:p>
            <a:pPr lvl="8"/>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41</a:t>
            </a:fld>
            <a:endParaRPr lang="en-US" sz="900">
              <a:solidFill>
                <a:schemeClr val="lt1"/>
              </a:solidFill>
            </a:endParaRPr>
          </a:p>
        </p:txBody>
      </p:sp>
      <p:pic>
        <p:nvPicPr>
          <p:cNvPr id="3" name="Picture 2">
            <a:extLst>
              <a:ext uri="{FF2B5EF4-FFF2-40B4-BE49-F238E27FC236}">
                <a16:creationId xmlns:a16="http://schemas.microsoft.com/office/drawing/2014/main" id="{C468CED9-C5A8-2471-D73C-2D2F369346C0}"/>
              </a:ext>
            </a:extLst>
          </p:cNvPr>
          <p:cNvPicPr>
            <a:picLocks noChangeAspect="1"/>
          </p:cNvPicPr>
          <p:nvPr/>
        </p:nvPicPr>
        <p:blipFill>
          <a:blip r:embed="rId2"/>
          <a:stretch>
            <a:fillRect/>
          </a:stretch>
        </p:blipFill>
        <p:spPr>
          <a:xfrm>
            <a:off x="1087921" y="3429000"/>
            <a:ext cx="5844208" cy="1152939"/>
          </a:xfrm>
          <a:prstGeom prst="rect">
            <a:avLst/>
          </a:prstGeom>
        </p:spPr>
      </p:pic>
      <p:pic>
        <p:nvPicPr>
          <p:cNvPr id="8" name="Content Placeholder 7">
            <a:extLst>
              <a:ext uri="{FF2B5EF4-FFF2-40B4-BE49-F238E27FC236}">
                <a16:creationId xmlns:a16="http://schemas.microsoft.com/office/drawing/2014/main" id="{3A446EBA-41A9-608D-4228-4E60660BE6FE}"/>
              </a:ext>
            </a:extLst>
          </p:cNvPr>
          <p:cNvPicPr>
            <a:picLocks noChangeAspect="1"/>
          </p:cNvPicPr>
          <p:nvPr/>
        </p:nvPicPr>
        <p:blipFill>
          <a:blip r:embed="rId3"/>
          <a:stretch>
            <a:fillRect/>
          </a:stretch>
        </p:blipFill>
        <p:spPr>
          <a:xfrm>
            <a:off x="4432852" y="4651514"/>
            <a:ext cx="6370983" cy="1971236"/>
          </a:xfrm>
          <a:prstGeom prst="rect">
            <a:avLst/>
          </a:prstGeom>
          <a:noFill/>
          <a:ln>
            <a:noFill/>
          </a:ln>
        </p:spPr>
      </p:pic>
    </p:spTree>
    <p:extLst>
      <p:ext uri="{BB962C8B-B14F-4D97-AF65-F5344CB8AC3E}">
        <p14:creationId xmlns:p14="http://schemas.microsoft.com/office/powerpoint/2010/main" val="2139245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pPr marL="742950" indent="-742950">
              <a:buFont typeface="+mj-lt"/>
              <a:buAutoNum type="arabicPeriod" startAt="5"/>
            </a:pPr>
            <a:r>
              <a:rPr lang="en-US" dirty="0">
                <a:effectLst/>
              </a:rPr>
              <a:t>Salton’s Approach (No Weights in Indexes)</a:t>
            </a:r>
            <a:endParaRPr lang="en-US" dirty="0"/>
          </a:p>
        </p:txBody>
      </p:sp>
      <p:sp>
        <p:nvSpPr>
          <p:cNvPr id="12" name="Content Placeholder 11">
            <a:extLst>
              <a:ext uri="{FF2B5EF4-FFF2-40B4-BE49-F238E27FC236}">
                <a16:creationId xmlns:a16="http://schemas.microsoft.com/office/drawing/2014/main" id="{70A828EA-BA5C-D6D9-DB5B-E580FF04B91E}"/>
              </a:ext>
            </a:extLst>
          </p:cNvPr>
          <p:cNvSpPr>
            <a:spLocks noGrp="1"/>
          </p:cNvSpPr>
          <p:nvPr>
            <p:ph sz="quarter" idx="13"/>
          </p:nvPr>
        </p:nvSpPr>
        <p:spPr>
          <a:xfrm>
            <a:off x="609600" y="1552575"/>
            <a:ext cx="10770704" cy="1309895"/>
          </a:xfrm>
        </p:spPr>
        <p:txBody>
          <a:bodyPr/>
          <a:lstStyle/>
          <a:p>
            <a:r>
              <a:rPr lang="en-US" sz="2600" dirty="0">
                <a:effectLst/>
                <a:latin typeface="Calibri" panose="020F0502020204030204" pitchFamily="34" charset="0"/>
                <a:cs typeface="Calibri" panose="020F0502020204030204" pitchFamily="34" charset="0"/>
              </a:rPr>
              <a:t>Salton’s method applies Boolean operations first, then refines results using weights.</a:t>
            </a:r>
          </a:p>
          <a:p>
            <a:endParaRPr lang="en-US" sz="2600" dirty="0">
              <a:effectLst/>
              <a:latin typeface="Calibri" panose="020F0502020204030204" pitchFamily="34" charset="0"/>
              <a:cs typeface="Calibri" panose="020F0502020204030204" pitchFamily="34" charset="0"/>
            </a:endParaRPr>
          </a:p>
          <a:p>
            <a:pPr marL="615950" indent="-514350">
              <a:buFont typeface="+mj-lt"/>
              <a:buAutoNum type="arabicPeriod"/>
            </a:pPr>
            <a:r>
              <a:rPr lang="en-US" sz="3200" dirty="0">
                <a:effectLst/>
              </a:rPr>
              <a:t>Boolean Operations:</a:t>
            </a:r>
          </a:p>
          <a:p>
            <a:endParaRPr lang="en-US" sz="2600"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15" name="Content Placeholder 14">
            <a:extLst>
              <a:ext uri="{FF2B5EF4-FFF2-40B4-BE49-F238E27FC236}">
                <a16:creationId xmlns:a16="http://schemas.microsoft.com/office/drawing/2014/main" id="{155A9D9B-AD9C-1B56-A4DB-DC8703C3CCE6}"/>
              </a:ext>
            </a:extLst>
          </p:cNvPr>
          <p:cNvSpPr>
            <a:spLocks noGrp="1"/>
          </p:cNvSpPr>
          <p:nvPr>
            <p:ph sz="quarter" idx="14"/>
          </p:nvPr>
        </p:nvSpPr>
        <p:spPr>
          <a:xfrm>
            <a:off x="6259773" y="3130825"/>
            <a:ext cx="5322627" cy="2860399"/>
          </a:xfrm>
        </p:spPr>
        <p:txBody>
          <a:bodyPr/>
          <a:lstStyle/>
          <a:p>
            <a:pPr marL="615950" indent="-514350">
              <a:buFont typeface="+mj-lt"/>
              <a:buAutoNum type="arabicPeriod" startAt="2"/>
            </a:pPr>
            <a:r>
              <a:rPr lang="en-US" sz="3200" dirty="0">
                <a:effectLst/>
                <a:latin typeface="+mj-lt"/>
                <a:cs typeface="Calibri" panose="020F0502020204030204" pitchFamily="34" charset="0"/>
              </a:rPr>
              <a:t>Weighted Interpretation</a:t>
            </a:r>
            <a:r>
              <a:rPr lang="en-US" sz="2600" dirty="0">
                <a:effectLst/>
                <a:latin typeface="Calibri" panose="020F0502020204030204" pitchFamily="34" charset="0"/>
                <a:cs typeface="Calibri" panose="020F0502020204030204" pitchFamily="34" charset="0"/>
              </a:rPr>
              <a:t>:</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42</a:t>
            </a:fld>
            <a:endParaRPr lang="en-US" sz="900">
              <a:solidFill>
                <a:schemeClr val="lt1"/>
              </a:solidFill>
            </a:endParaRPr>
          </a:p>
        </p:txBody>
      </p:sp>
      <p:pic>
        <p:nvPicPr>
          <p:cNvPr id="14" name="Picture 13">
            <a:extLst>
              <a:ext uri="{FF2B5EF4-FFF2-40B4-BE49-F238E27FC236}">
                <a16:creationId xmlns:a16="http://schemas.microsoft.com/office/drawing/2014/main" id="{4D06B27E-D21B-E878-8C6E-46653F1EA95F}"/>
              </a:ext>
            </a:extLst>
          </p:cNvPr>
          <p:cNvPicPr>
            <a:picLocks noChangeAspect="1"/>
          </p:cNvPicPr>
          <p:nvPr/>
        </p:nvPicPr>
        <p:blipFill>
          <a:blip r:embed="rId2"/>
          <a:stretch>
            <a:fillRect/>
          </a:stretch>
        </p:blipFill>
        <p:spPr>
          <a:xfrm>
            <a:off x="467157" y="3697358"/>
            <a:ext cx="5310584" cy="2385390"/>
          </a:xfrm>
          <a:prstGeom prst="rect">
            <a:avLst/>
          </a:prstGeom>
        </p:spPr>
      </p:pic>
      <p:pic>
        <p:nvPicPr>
          <p:cNvPr id="17" name="Picture 16">
            <a:extLst>
              <a:ext uri="{FF2B5EF4-FFF2-40B4-BE49-F238E27FC236}">
                <a16:creationId xmlns:a16="http://schemas.microsoft.com/office/drawing/2014/main" id="{06EF29FE-67E9-C641-05B8-6306436B36B6}"/>
              </a:ext>
            </a:extLst>
          </p:cNvPr>
          <p:cNvPicPr>
            <a:picLocks noChangeAspect="1"/>
          </p:cNvPicPr>
          <p:nvPr/>
        </p:nvPicPr>
        <p:blipFill>
          <a:blip r:embed="rId3"/>
          <a:stretch>
            <a:fillRect/>
          </a:stretch>
        </p:blipFill>
        <p:spPr>
          <a:xfrm>
            <a:off x="5932228" y="4075043"/>
            <a:ext cx="5825179" cy="1484178"/>
          </a:xfrm>
          <a:prstGeom prst="rect">
            <a:avLst/>
          </a:prstGeom>
        </p:spPr>
      </p:pic>
    </p:spTree>
    <p:extLst>
      <p:ext uri="{BB962C8B-B14F-4D97-AF65-F5344CB8AC3E}">
        <p14:creationId xmlns:p14="http://schemas.microsoft.com/office/powerpoint/2010/main" val="2695574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72887" y="185941"/>
            <a:ext cx="5650173" cy="5946501"/>
          </a:xfrm>
        </p:spPr>
        <p:txBody>
          <a:bodyPr/>
          <a:lstStyle/>
          <a:p>
            <a:r>
              <a:rPr lang="en-US" sz="2600" dirty="0">
                <a:effectLst/>
                <a:latin typeface="Calibri" panose="020F0502020204030204" pitchFamily="34" charset="0"/>
                <a:cs typeface="Calibri" panose="020F0502020204030204" pitchFamily="34" charset="0"/>
              </a:rPr>
              <a:t>Two circles represent sets A and B.</a:t>
            </a:r>
          </a:p>
          <a:p>
            <a:r>
              <a:rPr lang="en-US" sz="2600" dirty="0">
                <a:latin typeface="Calibri" panose="020F0502020204030204" pitchFamily="34" charset="0"/>
                <a:cs typeface="Calibri" panose="020F0502020204030204" pitchFamily="34" charset="0"/>
              </a:rPr>
              <a:t>Areas:</a:t>
            </a:r>
          </a:p>
          <a:p>
            <a:pPr lvl="1"/>
            <a:r>
              <a:rPr lang="en-US" sz="2600" dirty="0">
                <a:latin typeface="Calibri" panose="020F0502020204030204" pitchFamily="34" charset="0"/>
                <a:cs typeface="Calibri" panose="020F0502020204030204" pitchFamily="34" charset="0"/>
              </a:rPr>
              <a:t> White:(A NOT B)</a:t>
            </a:r>
          </a:p>
          <a:p>
            <a:pPr lvl="1"/>
            <a:r>
              <a:rPr lang="en-US" sz="2600" dirty="0">
                <a:latin typeface="Calibri" panose="020F0502020204030204" pitchFamily="34" charset="0"/>
                <a:cs typeface="Calibri" panose="020F0502020204030204" pitchFamily="34" charset="0"/>
              </a:rPr>
              <a:t> Black dotted:(A AND B)</a:t>
            </a:r>
          </a:p>
          <a:p>
            <a:pPr lvl="1"/>
            <a:r>
              <a:rPr lang="en-US" sz="2600" dirty="0">
                <a:latin typeface="Calibri" panose="020F0502020204030204" pitchFamily="34" charset="0"/>
                <a:cs typeface="Calibri" panose="020F0502020204030204" pitchFamily="34" charset="0"/>
              </a:rPr>
              <a:t> Grey: ( B NOT A)</a:t>
            </a:r>
          </a:p>
          <a:p>
            <a:r>
              <a:rPr lang="en-US" sz="2600" dirty="0">
                <a:latin typeface="Calibri" panose="020F0502020204030204" pitchFamily="34" charset="0"/>
                <a:cs typeface="Calibri" panose="020F0502020204030204" pitchFamily="34" charset="0"/>
              </a:rPr>
              <a:t> For OR:</a:t>
            </a:r>
          </a:p>
          <a:p>
            <a:pPr lvl="1"/>
            <a:r>
              <a:rPr lang="en-US" sz="2600" dirty="0">
                <a:latin typeface="Calibri" panose="020F0502020204030204" pitchFamily="34" charset="0"/>
                <a:cs typeface="Calibri" panose="020F0502020204030204" pitchFamily="34" charset="0"/>
              </a:rPr>
              <a:t> At weight 0.0 for B, only A (white + black dotted) is included.</a:t>
            </a:r>
          </a:p>
          <a:p>
            <a:pPr lvl="1"/>
            <a:r>
              <a:rPr lang="en-US" sz="2600" dirty="0">
                <a:latin typeface="Calibri" panose="020F0502020204030204" pitchFamily="34" charset="0"/>
                <a:cs typeface="Calibri" panose="020F0502020204030204" pitchFamily="34" charset="0"/>
              </a:rPr>
              <a:t> As B’s weight increases to 1.0, grey area (B NOT A) is added proportionally.</a:t>
            </a:r>
          </a:p>
        </p:txBody>
      </p:sp>
      <p:sp>
        <p:nvSpPr>
          <p:cNvPr id="9" name="Content Placeholder 8">
            <a:extLst>
              <a:ext uri="{FF2B5EF4-FFF2-40B4-BE49-F238E27FC236}">
                <a16:creationId xmlns:a16="http://schemas.microsoft.com/office/drawing/2014/main" id="{F6DAEA01-DDD4-B41C-33AD-2EB644325DAA}"/>
              </a:ext>
            </a:extLst>
          </p:cNvPr>
          <p:cNvSpPr>
            <a:spLocks noGrp="1"/>
          </p:cNvSpPr>
          <p:nvPr>
            <p:ph sz="quarter" idx="14"/>
          </p:nvPr>
        </p:nvSpPr>
        <p:spPr>
          <a:xfrm>
            <a:off x="6437033" y="126307"/>
            <a:ext cx="5322627" cy="6194979"/>
          </a:xfrm>
        </p:spPr>
        <p:txBody>
          <a:bodyPr/>
          <a:lstStyle/>
          <a:p>
            <a:r>
              <a:rPr lang="en-US" sz="2600" dirty="0">
                <a:latin typeface="Calibri" panose="020F0502020204030204" pitchFamily="34" charset="0"/>
                <a:cs typeface="Calibri" panose="020F0502020204030204" pitchFamily="34" charset="0"/>
              </a:rPr>
              <a:t>For AND:</a:t>
            </a:r>
          </a:p>
          <a:p>
            <a:pPr lvl="1"/>
            <a:r>
              <a:rPr lang="en-US" sz="2600" dirty="0">
                <a:latin typeface="Calibri" panose="020F0502020204030204" pitchFamily="34" charset="0"/>
                <a:cs typeface="Calibri" panose="020F0502020204030204" pitchFamily="34" charset="0"/>
              </a:rPr>
              <a:t>At weight 1.0 for B, only black dotted (A AND B) is included.</a:t>
            </a:r>
          </a:p>
          <a:p>
            <a:pPr lvl="1"/>
            <a:r>
              <a:rPr lang="en-US" sz="2600" dirty="0">
                <a:latin typeface="Calibri" panose="020F0502020204030204" pitchFamily="34" charset="0"/>
                <a:cs typeface="Calibri" panose="020F0502020204030204" pitchFamily="34" charset="0"/>
              </a:rPr>
              <a:t>As B’s weight decreases to 0.0, white area (A NOT B) is added.</a:t>
            </a:r>
          </a:p>
          <a:p>
            <a:r>
              <a:rPr lang="en-US" sz="2600" dirty="0">
                <a:latin typeface="Calibri" panose="020F0502020204030204" pitchFamily="34" charset="0"/>
                <a:cs typeface="Calibri" panose="020F0502020204030204" pitchFamily="34" charset="0"/>
              </a:rPr>
              <a:t>For NOT:</a:t>
            </a:r>
          </a:p>
          <a:p>
            <a:pPr lvl="1"/>
            <a:r>
              <a:rPr lang="en-US" sz="2600" dirty="0">
                <a:latin typeface="Calibri" panose="020F0502020204030204" pitchFamily="34" charset="0"/>
                <a:cs typeface="Calibri" panose="020F0502020204030204" pitchFamily="34" charset="0"/>
              </a:rPr>
              <a:t>At weight 0.0 for B, all of A (white + black dotted) is included.</a:t>
            </a:r>
          </a:p>
          <a:p>
            <a:pPr lvl="1"/>
            <a:r>
              <a:rPr lang="en-US" sz="2600" dirty="0">
                <a:latin typeface="Calibri" panose="020F0502020204030204" pitchFamily="34" charset="0"/>
                <a:cs typeface="Calibri" panose="020F0502020204030204" pitchFamily="34" charset="0"/>
              </a:rPr>
              <a:t>As B’s weight increases to 1.0, black dotted (A AND B) is removed, leaving grey.</a:t>
            </a:r>
          </a:p>
          <a:p>
            <a:endParaRPr lang="en-US" sz="2600"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43</a:t>
            </a:fld>
            <a:endParaRPr lang="en-US" sz="900">
              <a:solidFill>
                <a:schemeClr val="lt1"/>
              </a:solidFill>
            </a:endParaRPr>
          </a:p>
        </p:txBody>
      </p:sp>
      <p:pic>
        <p:nvPicPr>
          <p:cNvPr id="11" name="Picture 10">
            <a:extLst>
              <a:ext uri="{FF2B5EF4-FFF2-40B4-BE49-F238E27FC236}">
                <a16:creationId xmlns:a16="http://schemas.microsoft.com/office/drawing/2014/main" id="{887FB12C-C339-A845-EC31-E1AC5909CC07}"/>
              </a:ext>
            </a:extLst>
          </p:cNvPr>
          <p:cNvPicPr>
            <a:picLocks noChangeAspect="1"/>
          </p:cNvPicPr>
          <p:nvPr/>
        </p:nvPicPr>
        <p:blipFill>
          <a:blip r:embed="rId2"/>
          <a:stretch>
            <a:fillRect/>
          </a:stretch>
        </p:blipFill>
        <p:spPr>
          <a:xfrm>
            <a:off x="4196819" y="606288"/>
            <a:ext cx="2642409" cy="2037520"/>
          </a:xfrm>
          <a:prstGeom prst="rect">
            <a:avLst/>
          </a:prstGeom>
        </p:spPr>
      </p:pic>
    </p:spTree>
    <p:extLst>
      <p:ext uri="{BB962C8B-B14F-4D97-AF65-F5344CB8AC3E}">
        <p14:creationId xmlns:p14="http://schemas.microsoft.com/office/powerpoint/2010/main" val="18188598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Algorithm</a:t>
            </a:r>
          </a:p>
        </p:txBody>
      </p:sp>
      <p:pic>
        <p:nvPicPr>
          <p:cNvPr id="3" name="Content Placeholder 2">
            <a:extLst>
              <a:ext uri="{FF2B5EF4-FFF2-40B4-BE49-F238E27FC236}">
                <a16:creationId xmlns:a16="http://schemas.microsoft.com/office/drawing/2014/main" id="{689A58E2-86CE-E08C-F6D7-427173AC96FE}"/>
              </a:ext>
            </a:extLst>
          </p:cNvPr>
          <p:cNvPicPr>
            <a:picLocks noGrp="1" noChangeAspect="1"/>
          </p:cNvPicPr>
          <p:nvPr>
            <p:ph sz="quarter" idx="13"/>
          </p:nvPr>
        </p:nvPicPr>
        <p:blipFill>
          <a:blip r:embed="rId2"/>
          <a:stretch>
            <a:fillRect/>
          </a:stretch>
        </p:blipFill>
        <p:spPr>
          <a:xfrm>
            <a:off x="3004524" y="215372"/>
            <a:ext cx="8375780" cy="6045826"/>
          </a:xfrm>
        </p:spPr>
      </p:pic>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44</a:t>
            </a:fld>
            <a:endParaRPr lang="en-US" sz="900">
              <a:solidFill>
                <a:schemeClr val="lt1"/>
              </a:solidFill>
            </a:endParaRPr>
          </a:p>
        </p:txBody>
      </p:sp>
    </p:spTree>
    <p:extLst>
      <p:ext uri="{BB962C8B-B14F-4D97-AF65-F5344CB8AC3E}">
        <p14:creationId xmlns:p14="http://schemas.microsoft.com/office/powerpoint/2010/main" val="42370803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Example</a:t>
            </a:r>
          </a:p>
        </p:txBody>
      </p:sp>
      <p:pic>
        <p:nvPicPr>
          <p:cNvPr id="3" name="Content Placeholder 2">
            <a:extLst>
              <a:ext uri="{FF2B5EF4-FFF2-40B4-BE49-F238E27FC236}">
                <a16:creationId xmlns:a16="http://schemas.microsoft.com/office/drawing/2014/main" id="{F403670A-2992-688C-36A1-377270122997}"/>
              </a:ext>
            </a:extLst>
          </p:cNvPr>
          <p:cNvPicPr>
            <a:picLocks noGrp="1" noChangeAspect="1"/>
          </p:cNvPicPr>
          <p:nvPr>
            <p:ph sz="quarter" idx="13"/>
          </p:nvPr>
        </p:nvPicPr>
        <p:blipFill>
          <a:blip r:embed="rId2"/>
          <a:stretch>
            <a:fillRect/>
          </a:stretch>
        </p:blipFill>
        <p:spPr>
          <a:xfrm>
            <a:off x="5218044" y="0"/>
            <a:ext cx="6470374" cy="6390861"/>
          </a:xfrm>
        </p:spPr>
      </p:pic>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45</a:t>
            </a:fld>
            <a:endParaRPr lang="en-US" sz="900">
              <a:solidFill>
                <a:schemeClr val="lt1"/>
              </a:solidFill>
            </a:endParaRPr>
          </a:p>
        </p:txBody>
      </p:sp>
    </p:spTree>
    <p:extLst>
      <p:ext uri="{BB962C8B-B14F-4D97-AF65-F5344CB8AC3E}">
        <p14:creationId xmlns:p14="http://schemas.microsoft.com/office/powerpoint/2010/main" val="5782498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46</a:t>
            </a:fld>
            <a:endParaRPr lang="en-US" sz="900">
              <a:solidFill>
                <a:schemeClr val="lt1"/>
              </a:solidFill>
            </a:endParaRPr>
          </a:p>
        </p:txBody>
      </p:sp>
      <p:pic>
        <p:nvPicPr>
          <p:cNvPr id="3" name="Picture 2">
            <a:extLst>
              <a:ext uri="{FF2B5EF4-FFF2-40B4-BE49-F238E27FC236}">
                <a16:creationId xmlns:a16="http://schemas.microsoft.com/office/drawing/2014/main" id="{B3815D84-6685-2ED9-E224-95EB92EB778F}"/>
              </a:ext>
            </a:extLst>
          </p:cNvPr>
          <p:cNvPicPr>
            <a:picLocks noChangeAspect="1"/>
          </p:cNvPicPr>
          <p:nvPr/>
        </p:nvPicPr>
        <p:blipFill>
          <a:blip r:embed="rId2"/>
          <a:stretch>
            <a:fillRect/>
          </a:stretch>
        </p:blipFill>
        <p:spPr>
          <a:xfrm>
            <a:off x="99598" y="0"/>
            <a:ext cx="6996941" cy="5923722"/>
          </a:xfrm>
          <a:prstGeom prst="rect">
            <a:avLst/>
          </a:prstGeom>
        </p:spPr>
      </p:pic>
      <p:pic>
        <p:nvPicPr>
          <p:cNvPr id="10" name="Picture 9">
            <a:extLst>
              <a:ext uri="{FF2B5EF4-FFF2-40B4-BE49-F238E27FC236}">
                <a16:creationId xmlns:a16="http://schemas.microsoft.com/office/drawing/2014/main" id="{B576213C-F869-52BA-4381-F4EE5758A075}"/>
              </a:ext>
            </a:extLst>
          </p:cNvPr>
          <p:cNvPicPr>
            <a:picLocks noChangeAspect="1"/>
          </p:cNvPicPr>
          <p:nvPr/>
        </p:nvPicPr>
        <p:blipFill>
          <a:blip r:embed="rId3"/>
          <a:stretch>
            <a:fillRect/>
          </a:stretch>
        </p:blipFill>
        <p:spPr>
          <a:xfrm>
            <a:off x="6096000" y="1"/>
            <a:ext cx="5691809" cy="4621696"/>
          </a:xfrm>
          <a:prstGeom prst="rect">
            <a:avLst/>
          </a:prstGeom>
        </p:spPr>
      </p:pic>
      <p:pic>
        <p:nvPicPr>
          <p:cNvPr id="12" name="Picture 11">
            <a:extLst>
              <a:ext uri="{FF2B5EF4-FFF2-40B4-BE49-F238E27FC236}">
                <a16:creationId xmlns:a16="http://schemas.microsoft.com/office/drawing/2014/main" id="{36B92CA1-EA26-A98E-BE20-1EB1D941AA2B}"/>
              </a:ext>
            </a:extLst>
          </p:cNvPr>
          <p:cNvPicPr>
            <a:picLocks noChangeAspect="1"/>
          </p:cNvPicPr>
          <p:nvPr/>
        </p:nvPicPr>
        <p:blipFill>
          <a:blip r:embed="rId4"/>
          <a:stretch>
            <a:fillRect/>
          </a:stretch>
        </p:blipFill>
        <p:spPr>
          <a:xfrm>
            <a:off x="4048332" y="5193817"/>
            <a:ext cx="8044070" cy="1000125"/>
          </a:xfrm>
          <a:prstGeom prst="rect">
            <a:avLst/>
          </a:prstGeom>
        </p:spPr>
      </p:pic>
    </p:spTree>
    <p:extLst>
      <p:ext uri="{BB962C8B-B14F-4D97-AF65-F5344CB8AC3E}">
        <p14:creationId xmlns:p14="http://schemas.microsoft.com/office/powerpoint/2010/main" val="3022670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708967"/>
          </a:xfrm>
        </p:spPr>
        <p:txBody>
          <a:bodyPr/>
          <a:lstStyle/>
          <a:p>
            <a:r>
              <a:rPr lang="en-US" dirty="0"/>
              <a:t>Searching the INTERNET and Hypertext</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805070"/>
            <a:ext cx="10977033" cy="5346348"/>
          </a:xfrm>
        </p:spPr>
        <p:txBody>
          <a:bodyPr/>
          <a:lstStyle/>
          <a:p>
            <a:pPr algn="ctr"/>
            <a:r>
              <a:rPr lang="en-US" sz="2400" b="1" dirty="0">
                <a:effectLst/>
                <a:latin typeface="Calibri" panose="020F0502020204030204" pitchFamily="34" charset="0"/>
                <a:cs typeface="Calibri" panose="020F0502020204030204" pitchFamily="34" charset="0"/>
              </a:rPr>
              <a:t>Internet Search Mechanisms</a:t>
            </a:r>
          </a:p>
          <a:p>
            <a:r>
              <a:rPr lang="en-US" sz="2400" dirty="0">
                <a:latin typeface="Calibri" panose="020F0502020204030204" pitchFamily="34" charset="0"/>
                <a:cs typeface="Calibri" panose="020F0502020204030204" pitchFamily="34" charset="0"/>
              </a:rPr>
              <a:t>The Internet in the 1990s relied on search engines like </a:t>
            </a:r>
            <a:r>
              <a:rPr lang="en-US" sz="2400" b="1" dirty="0">
                <a:latin typeface="Calibri" panose="020F0502020204030204" pitchFamily="34" charset="0"/>
                <a:cs typeface="Calibri" panose="020F0502020204030204" pitchFamily="34" charset="0"/>
              </a:rPr>
              <a:t>Yahoo, AltaVista, and Lycos</a:t>
            </a:r>
            <a:r>
              <a:rPr lang="en-US" sz="2400" dirty="0">
                <a:latin typeface="Calibri" panose="020F0502020204030204" pitchFamily="34" charset="0"/>
                <a:cs typeface="Calibri" panose="020F0502020204030204" pitchFamily="34" charset="0"/>
              </a:rPr>
              <a:t> to help users find information. These search engines worked by:</a:t>
            </a:r>
          </a:p>
          <a:p>
            <a:pPr lvl="1"/>
            <a:r>
              <a:rPr lang="en-US" sz="2400" b="1" dirty="0">
                <a:latin typeface="Calibri" panose="020F0502020204030204" pitchFamily="34" charset="0"/>
                <a:cs typeface="Calibri" panose="020F0502020204030204" pitchFamily="34" charset="0"/>
              </a:rPr>
              <a:t>Indexing Process: </a:t>
            </a:r>
            <a:r>
              <a:rPr lang="en-US" sz="2400" dirty="0">
                <a:latin typeface="Calibri" panose="020F0502020204030204" pitchFamily="34" charset="0"/>
                <a:cs typeface="Calibri" panose="020F0502020204030204" pitchFamily="34" charset="0"/>
              </a:rPr>
              <a:t>Automated processes (called crawlers or spiders) visited websites, retrieved text, and created indexes. These indexes stored references to web content, including URLs (web addresses), to help users locate relevant pages.</a:t>
            </a:r>
          </a:p>
          <a:p>
            <a:pPr lvl="2"/>
            <a:r>
              <a:rPr lang="en-US" sz="2400" dirty="0">
                <a:latin typeface="Calibri" panose="020F0502020204030204" pitchFamily="34" charset="0"/>
                <a:cs typeface="Calibri" panose="020F0502020204030204" pitchFamily="34" charset="0"/>
              </a:rPr>
              <a:t>Lycos indexed only the </a:t>
            </a:r>
            <a:r>
              <a:rPr lang="en-US" sz="2400" b="1" dirty="0">
                <a:latin typeface="Calibri" panose="020F0502020204030204" pitchFamily="34" charset="0"/>
                <a:cs typeface="Calibri" panose="020F0502020204030204" pitchFamily="34" charset="0"/>
              </a:rPr>
              <a:t>home pages of websites</a:t>
            </a:r>
            <a:r>
              <a:rPr lang="en-US" sz="2400" dirty="0">
                <a:latin typeface="Calibri" panose="020F0502020204030204" pitchFamily="34" charset="0"/>
                <a:cs typeface="Calibri" panose="020F0502020204030204" pitchFamily="34" charset="0"/>
              </a:rPr>
              <a:t>, focusing on a </a:t>
            </a:r>
            <a:r>
              <a:rPr lang="en-US" sz="2400" b="1" dirty="0">
                <a:latin typeface="Calibri" panose="020F0502020204030204" pitchFamily="34" charset="0"/>
                <a:cs typeface="Calibri" panose="020F0502020204030204" pitchFamily="34" charset="0"/>
              </a:rPr>
              <a:t>limited scope</a:t>
            </a:r>
            <a:r>
              <a:rPr lang="en-US" sz="2400" dirty="0">
                <a:latin typeface="Calibri" panose="020F0502020204030204" pitchFamily="34" charset="0"/>
                <a:cs typeface="Calibri" panose="020F0502020204030204" pitchFamily="34" charset="0"/>
              </a:rPr>
              <a:t>.</a:t>
            </a:r>
          </a:p>
          <a:p>
            <a:pPr lvl="2"/>
            <a:r>
              <a:rPr lang="en-US" sz="2400" dirty="0">
                <a:latin typeface="Calibri" panose="020F0502020204030204" pitchFamily="34" charset="0"/>
                <a:cs typeface="Calibri" panose="020F0502020204030204" pitchFamily="34" charset="0"/>
              </a:rPr>
              <a:t>AltaVista indexed </a:t>
            </a:r>
            <a:r>
              <a:rPr lang="en-US" sz="2400" b="1" dirty="0">
                <a:latin typeface="Calibri" panose="020F0502020204030204" pitchFamily="34" charset="0"/>
                <a:cs typeface="Calibri" panose="020F0502020204030204" pitchFamily="34" charset="0"/>
              </a:rPr>
              <a:t>all text on a website</a:t>
            </a:r>
            <a:r>
              <a:rPr lang="en-US" sz="2400" dirty="0">
                <a:latin typeface="Calibri" panose="020F0502020204030204" pitchFamily="34" charset="0"/>
                <a:cs typeface="Calibri" panose="020F0502020204030204" pitchFamily="34" charset="0"/>
              </a:rPr>
              <a:t>, providing a more </a:t>
            </a:r>
            <a:r>
              <a:rPr lang="en-US" sz="2400" b="1" dirty="0">
                <a:latin typeface="Calibri" panose="020F0502020204030204" pitchFamily="34" charset="0"/>
                <a:cs typeface="Calibri" panose="020F0502020204030204" pitchFamily="34" charset="0"/>
              </a:rPr>
              <a:t>comprehensive search</a:t>
            </a:r>
            <a:r>
              <a:rPr lang="en-US" sz="2400" dirty="0">
                <a:latin typeface="Calibri" panose="020F0502020204030204" pitchFamily="34" charset="0"/>
                <a:cs typeface="Calibri" panose="020F0502020204030204" pitchFamily="34" charset="0"/>
              </a:rPr>
              <a:t>.</a:t>
            </a:r>
          </a:p>
          <a:p>
            <a:pPr lvl="1"/>
            <a:r>
              <a:rPr lang="en-US" sz="2400" b="1" dirty="0">
                <a:latin typeface="Calibri" panose="020F0502020204030204" pitchFamily="34" charset="0"/>
                <a:cs typeface="Calibri" panose="020F0502020204030204" pitchFamily="34" charset="0"/>
              </a:rPr>
              <a:t>Ranking Algorithms: </a:t>
            </a:r>
            <a:r>
              <a:rPr lang="en-US" sz="2400" dirty="0">
                <a:latin typeface="Calibri" panose="020F0502020204030204" pitchFamily="34" charset="0"/>
                <a:cs typeface="Calibri" panose="020F0502020204030204" pitchFamily="34" charset="0"/>
              </a:rPr>
              <a:t>Search results were ranked using simple statistical methods based on </a:t>
            </a:r>
            <a:r>
              <a:rPr lang="en-US" sz="2400" b="1" dirty="0">
                <a:latin typeface="Calibri" panose="020F0502020204030204" pitchFamily="34" charset="0"/>
                <a:cs typeface="Calibri" panose="020F0502020204030204" pitchFamily="34" charset="0"/>
              </a:rPr>
              <a:t>word frequency in the indexed text</a:t>
            </a:r>
            <a:r>
              <a:rPr lang="en-US" sz="2400" dirty="0">
                <a:latin typeface="Calibri" panose="020F0502020204030204" pitchFamily="34" charset="0"/>
                <a:cs typeface="Calibri" panose="020F0502020204030204" pitchFamily="34" charset="0"/>
              </a:rPr>
              <a:t>. This helped prioritize results most relevant to the user's query.</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47</a:t>
            </a:fld>
            <a:endParaRPr lang="en-US" sz="900">
              <a:solidFill>
                <a:schemeClr val="lt1"/>
              </a:solidFill>
            </a:endParaRPr>
          </a:p>
        </p:txBody>
      </p:sp>
    </p:spTree>
    <p:extLst>
      <p:ext uri="{BB962C8B-B14F-4D97-AF65-F5344CB8AC3E}">
        <p14:creationId xmlns:p14="http://schemas.microsoft.com/office/powerpoint/2010/main" val="2084204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828237"/>
          </a:xfrm>
        </p:spPr>
        <p:txBody>
          <a:bodyPr/>
          <a:lstStyle/>
          <a:p>
            <a:r>
              <a:rPr lang="en-US" dirty="0"/>
              <a:t>Six Key Characteristics Of Intelligent Agents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146268"/>
            <a:ext cx="10977033" cy="5005150"/>
          </a:xfrm>
        </p:spPr>
        <p:txBody>
          <a:bodyPr/>
          <a:lstStyle/>
          <a:p>
            <a:r>
              <a:rPr lang="en-US" sz="2600" dirty="0">
                <a:effectLst/>
                <a:latin typeface="Calibri" panose="020F0502020204030204" pitchFamily="34" charset="0"/>
                <a:cs typeface="Calibri" panose="020F0502020204030204" pitchFamily="34" charset="0"/>
              </a:rPr>
              <a:t>Intelligent agents were </a:t>
            </a:r>
            <a:r>
              <a:rPr lang="en-US" sz="2600" b="1" dirty="0">
                <a:effectLst/>
                <a:latin typeface="Calibri" panose="020F0502020204030204" pitchFamily="34" charset="0"/>
                <a:cs typeface="Calibri" panose="020F0502020204030204" pitchFamily="34" charset="0"/>
              </a:rPr>
              <a:t>software programs </a:t>
            </a:r>
            <a:r>
              <a:rPr lang="en-US" sz="2600" dirty="0">
                <a:effectLst/>
                <a:latin typeface="Calibri" panose="020F0502020204030204" pitchFamily="34" charset="0"/>
                <a:cs typeface="Calibri" panose="020F0502020204030204" pitchFamily="34" charset="0"/>
              </a:rPr>
              <a:t>designed to autonomously </a:t>
            </a:r>
            <a:r>
              <a:rPr lang="en-US" sz="2600" b="1" dirty="0">
                <a:effectLst/>
                <a:latin typeface="Calibri" panose="020F0502020204030204" pitchFamily="34" charset="0"/>
                <a:cs typeface="Calibri" panose="020F0502020204030204" pitchFamily="34" charset="0"/>
              </a:rPr>
              <a:t>search the Internet for information</a:t>
            </a:r>
            <a:r>
              <a:rPr lang="en-US" sz="2600" dirty="0">
                <a:effectLst/>
                <a:latin typeface="Calibri" panose="020F0502020204030204" pitchFamily="34" charset="0"/>
                <a:cs typeface="Calibri" panose="020F0502020204030204" pitchFamily="34" charset="0"/>
              </a:rPr>
              <a:t> based on </a:t>
            </a:r>
            <a:r>
              <a:rPr lang="en-US" sz="2600" b="1" dirty="0">
                <a:effectLst/>
                <a:latin typeface="Calibri" panose="020F0502020204030204" pitchFamily="34" charset="0"/>
                <a:cs typeface="Calibri" panose="020F0502020204030204" pitchFamily="34" charset="0"/>
              </a:rPr>
              <a:t>user-defined</a:t>
            </a:r>
            <a:r>
              <a:rPr lang="en-US" sz="2600" dirty="0">
                <a:effectLst/>
                <a:latin typeface="Calibri" panose="020F0502020204030204" pitchFamily="34" charset="0"/>
                <a:cs typeface="Calibri" panose="020F0502020204030204" pitchFamily="34" charset="0"/>
              </a:rPr>
              <a:t> needs.</a:t>
            </a:r>
          </a:p>
          <a:p>
            <a:pPr marL="444500" indent="-342900">
              <a:buFont typeface="+mj-lt"/>
              <a:buAutoNum type="arabicPeriod"/>
            </a:pPr>
            <a:r>
              <a:rPr lang="en-US" sz="2600" b="1" dirty="0">
                <a:effectLst/>
                <a:latin typeface="Calibri" panose="020F0502020204030204" pitchFamily="34" charset="0"/>
                <a:cs typeface="Calibri" panose="020F0502020204030204" pitchFamily="34" charset="0"/>
              </a:rPr>
              <a:t>Autonomy</a:t>
            </a:r>
          </a:p>
          <a:p>
            <a:pPr marL="1045718" lvl="1" indent="-457200"/>
            <a:r>
              <a:rPr lang="en-US" sz="2600" dirty="0">
                <a:effectLst/>
                <a:latin typeface="Calibri" panose="020F0502020204030204" pitchFamily="34" charset="0"/>
                <a:cs typeface="Calibri" panose="020F0502020204030204" pitchFamily="34" charset="0"/>
              </a:rPr>
              <a:t>Agents operated independently </a:t>
            </a:r>
            <a:r>
              <a:rPr lang="en-US" sz="2600" b="1" dirty="0">
                <a:effectLst/>
                <a:latin typeface="Calibri" panose="020F0502020204030204" pitchFamily="34" charset="0"/>
                <a:cs typeface="Calibri" panose="020F0502020204030204" pitchFamily="34" charset="0"/>
              </a:rPr>
              <a:t>without constant human input</a:t>
            </a:r>
            <a:r>
              <a:rPr lang="en-US" sz="2600" dirty="0">
                <a:effectLst/>
                <a:latin typeface="Calibri" panose="020F0502020204030204" pitchFamily="34" charset="0"/>
                <a:cs typeface="Calibri" panose="020F0502020204030204" pitchFamily="34" charset="0"/>
              </a:rPr>
              <a:t>, navigating websites based on predefined criteria to </a:t>
            </a:r>
            <a:r>
              <a:rPr lang="en-US" sz="2600" b="1" dirty="0">
                <a:effectLst/>
                <a:latin typeface="Calibri" panose="020F0502020204030204" pitchFamily="34" charset="0"/>
                <a:cs typeface="Calibri" panose="020F0502020204030204" pitchFamily="34" charset="0"/>
              </a:rPr>
              <a:t>collect relevant information</a:t>
            </a:r>
            <a:r>
              <a:rPr lang="en-US" sz="2600" dirty="0">
                <a:effectLst/>
                <a:latin typeface="Calibri" panose="020F0502020204030204" pitchFamily="34" charset="0"/>
                <a:cs typeface="Calibri" panose="020F0502020204030204" pitchFamily="34" charset="0"/>
              </a:rPr>
              <a:t>.</a:t>
            </a:r>
          </a:p>
          <a:p>
            <a:pPr marL="444500" indent="-342900">
              <a:buFont typeface="+mj-lt"/>
              <a:buAutoNum type="arabicPeriod"/>
            </a:pPr>
            <a:r>
              <a:rPr lang="en-US" sz="2600" b="1" dirty="0">
                <a:effectLst/>
                <a:latin typeface="Calibri" panose="020F0502020204030204" pitchFamily="34" charset="0"/>
                <a:cs typeface="Calibri" panose="020F0502020204030204" pitchFamily="34" charset="0"/>
              </a:rPr>
              <a:t>Communication Ability</a:t>
            </a:r>
          </a:p>
          <a:p>
            <a:pPr marL="1045718" lvl="1" indent="-457200"/>
            <a:r>
              <a:rPr lang="en-US" sz="2600" dirty="0">
                <a:effectLst/>
                <a:latin typeface="Calibri" panose="020F0502020204030204" pitchFamily="34" charset="0"/>
                <a:cs typeface="Calibri" panose="020F0502020204030204" pitchFamily="34" charset="0"/>
              </a:rPr>
              <a:t>Agents used standard protocols (e.g., Z39.50, a library search protocol) to interact with websites and retrieve data.</a:t>
            </a:r>
          </a:p>
          <a:p>
            <a:pPr marL="1045718" lvl="1" indent="-457200"/>
            <a:endParaRPr lang="en-US" sz="2600" dirty="0">
              <a:effectLst/>
              <a:latin typeface="Calibri" panose="020F0502020204030204" pitchFamily="34" charset="0"/>
              <a:cs typeface="Calibri" panose="020F0502020204030204" pitchFamily="34" charset="0"/>
            </a:endParaRPr>
          </a:p>
          <a:p>
            <a:pPr marL="444500" indent="-342900">
              <a:buFont typeface="+mj-lt"/>
              <a:buAutoNum type="arabicPeriod"/>
            </a:pPr>
            <a:endParaRPr lang="en-US" sz="2600"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48</a:t>
            </a:fld>
            <a:endParaRPr lang="en-US" sz="900">
              <a:solidFill>
                <a:schemeClr val="lt1"/>
              </a:solidFill>
            </a:endParaRPr>
          </a:p>
        </p:txBody>
      </p:sp>
    </p:spTree>
    <p:extLst>
      <p:ext uri="{BB962C8B-B14F-4D97-AF65-F5344CB8AC3E}">
        <p14:creationId xmlns:p14="http://schemas.microsoft.com/office/powerpoint/2010/main" val="665599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Six Key Characteristics Of Intelligent Agents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pPr marL="444500" indent="-342900">
              <a:buFont typeface="+mj-lt"/>
              <a:buAutoNum type="arabicPeriod" startAt="3"/>
            </a:pPr>
            <a:r>
              <a:rPr lang="en-US" sz="2600" b="1" dirty="0">
                <a:effectLst/>
                <a:latin typeface="Calibri" panose="020F0502020204030204" pitchFamily="34" charset="0"/>
                <a:cs typeface="Calibri" panose="020F0502020204030204" pitchFamily="34" charset="0"/>
              </a:rPr>
              <a:t>Capacity for Cooperation</a:t>
            </a:r>
          </a:p>
          <a:p>
            <a:pPr marL="1045718" lvl="1" indent="-457200"/>
            <a:r>
              <a:rPr lang="en-US" sz="2600" dirty="0">
                <a:effectLst/>
                <a:latin typeface="Calibri" panose="020F0502020204030204" pitchFamily="34" charset="0"/>
                <a:cs typeface="Calibri" panose="020F0502020204030204" pitchFamily="34" charset="0"/>
              </a:rPr>
              <a:t>Agents </a:t>
            </a:r>
            <a:r>
              <a:rPr lang="en-US" sz="2600" b="1" dirty="0">
                <a:effectLst/>
                <a:latin typeface="Calibri" panose="020F0502020204030204" pitchFamily="34" charset="0"/>
                <a:cs typeface="Calibri" panose="020F0502020204030204" pitchFamily="34" charset="0"/>
              </a:rPr>
              <a:t>could work together or with other systems </a:t>
            </a:r>
            <a:r>
              <a:rPr lang="en-US" sz="2600" dirty="0">
                <a:effectLst/>
                <a:latin typeface="Calibri" panose="020F0502020204030204" pitchFamily="34" charset="0"/>
                <a:cs typeface="Calibri" panose="020F0502020204030204" pitchFamily="34" charset="0"/>
              </a:rPr>
              <a:t>to achieve common goals, such as sharing search results.</a:t>
            </a:r>
          </a:p>
          <a:p>
            <a:pPr marL="444500" indent="-342900">
              <a:buFont typeface="+mj-lt"/>
              <a:buAutoNum type="arabicPeriod" startAt="3"/>
            </a:pPr>
            <a:r>
              <a:rPr lang="en-US" sz="2600" b="1" dirty="0">
                <a:effectLst/>
                <a:latin typeface="Calibri" panose="020F0502020204030204" pitchFamily="34" charset="0"/>
                <a:cs typeface="Calibri" panose="020F0502020204030204" pitchFamily="34" charset="0"/>
              </a:rPr>
              <a:t>Capacity for Reasoning</a:t>
            </a:r>
          </a:p>
          <a:p>
            <a:pPr marL="1045718" lvl="1" indent="-457200"/>
            <a:r>
              <a:rPr lang="en-US" sz="2600" b="1" dirty="0">
                <a:effectLst/>
                <a:latin typeface="Calibri" panose="020F0502020204030204" pitchFamily="34" charset="0"/>
                <a:cs typeface="Calibri" panose="020F0502020204030204" pitchFamily="34" charset="0"/>
              </a:rPr>
              <a:t>Rule-based:</a:t>
            </a:r>
            <a:r>
              <a:rPr lang="en-US" sz="2600" dirty="0">
                <a:effectLst/>
                <a:latin typeface="Calibri" panose="020F0502020204030204" pitchFamily="34" charset="0"/>
                <a:cs typeface="Calibri" panose="020F0502020204030204" pitchFamily="34" charset="0"/>
              </a:rPr>
              <a:t> Followed </a:t>
            </a:r>
            <a:r>
              <a:rPr lang="en-US" sz="2600" b="1" dirty="0">
                <a:effectLst/>
                <a:latin typeface="Calibri" panose="020F0502020204030204" pitchFamily="34" charset="0"/>
                <a:cs typeface="Calibri" panose="020F0502020204030204" pitchFamily="34" charset="0"/>
              </a:rPr>
              <a:t>user-defined conditions and actions </a:t>
            </a:r>
            <a:r>
              <a:rPr lang="en-US" sz="2600" dirty="0">
                <a:effectLst/>
                <a:latin typeface="Calibri" panose="020F0502020204030204" pitchFamily="34" charset="0"/>
                <a:cs typeface="Calibri" panose="020F0502020204030204" pitchFamily="34" charset="0"/>
              </a:rPr>
              <a:t>(e.g., "if a page contains 'AI,' save it").</a:t>
            </a:r>
          </a:p>
          <a:p>
            <a:pPr marL="1045718" lvl="1" indent="-457200"/>
            <a:r>
              <a:rPr lang="en-US" sz="2600" b="1" dirty="0">
                <a:effectLst/>
                <a:latin typeface="Calibri" panose="020F0502020204030204" pitchFamily="34" charset="0"/>
                <a:cs typeface="Calibri" panose="020F0502020204030204" pitchFamily="34" charset="0"/>
              </a:rPr>
              <a:t>Knowledge-based: </a:t>
            </a:r>
            <a:r>
              <a:rPr lang="en-US" sz="2600" dirty="0">
                <a:effectLst/>
                <a:latin typeface="Calibri" panose="020F0502020204030204" pitchFamily="34" charset="0"/>
                <a:cs typeface="Calibri" panose="020F0502020204030204" pitchFamily="34" charset="0"/>
              </a:rPr>
              <a:t>Learned from </a:t>
            </a:r>
            <a:r>
              <a:rPr lang="en-US" sz="2600" b="1" dirty="0">
                <a:effectLst/>
                <a:latin typeface="Calibri" panose="020F0502020204030204" pitchFamily="34" charset="0"/>
                <a:cs typeface="Calibri" panose="020F0502020204030204" pitchFamily="34" charset="0"/>
              </a:rPr>
              <a:t>past actions to improve future </a:t>
            </a:r>
            <a:r>
              <a:rPr lang="en-US" sz="2600" dirty="0">
                <a:effectLst/>
                <a:latin typeface="Calibri" panose="020F0502020204030204" pitchFamily="34" charset="0"/>
                <a:cs typeface="Calibri" panose="020F0502020204030204" pitchFamily="34" charset="0"/>
              </a:rPr>
              <a:t>searches.</a:t>
            </a:r>
          </a:p>
          <a:p>
            <a:pPr marL="1045718" lvl="1" indent="-457200"/>
            <a:r>
              <a:rPr lang="en-US" sz="2600" b="1" dirty="0">
                <a:effectLst/>
                <a:latin typeface="Calibri" panose="020F0502020204030204" pitchFamily="34" charset="0"/>
                <a:cs typeface="Calibri" panose="020F0502020204030204" pitchFamily="34" charset="0"/>
              </a:rPr>
              <a:t>Artificial Evolution-based: </a:t>
            </a:r>
            <a:r>
              <a:rPr lang="en-US" sz="2600" dirty="0">
                <a:effectLst/>
                <a:latin typeface="Calibri" panose="020F0502020204030204" pitchFamily="34" charset="0"/>
                <a:cs typeface="Calibri" panose="020F0502020204030204" pitchFamily="34" charset="0"/>
              </a:rPr>
              <a:t>Created new, smarter agents to handle complex tasks.</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49</a:t>
            </a:fld>
            <a:endParaRPr lang="en-US" sz="900">
              <a:solidFill>
                <a:schemeClr val="lt1"/>
              </a:solidFill>
            </a:endParaRPr>
          </a:p>
        </p:txBody>
      </p:sp>
    </p:spTree>
    <p:extLst>
      <p:ext uri="{BB962C8B-B14F-4D97-AF65-F5344CB8AC3E}">
        <p14:creationId xmlns:p14="http://schemas.microsoft.com/office/powerpoint/2010/main" val="19932533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758663"/>
          </a:xfrm>
        </p:spPr>
        <p:txBody>
          <a:bodyPr/>
          <a:lstStyle/>
          <a:p>
            <a:r>
              <a:rPr lang="en-US" dirty="0"/>
              <a:t>Six Key Characteristics Of Intelligent Agents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974035"/>
            <a:ext cx="10977033" cy="5177383"/>
          </a:xfrm>
        </p:spPr>
        <p:txBody>
          <a:bodyPr/>
          <a:lstStyle/>
          <a:p>
            <a:pPr marL="615950" indent="-514350">
              <a:buFont typeface="+mj-lt"/>
              <a:buAutoNum type="arabicPeriod" startAt="5"/>
            </a:pPr>
            <a:r>
              <a:rPr lang="en-US" sz="2600" b="1" dirty="0">
                <a:effectLst/>
                <a:latin typeface="Calibri" panose="020F0502020204030204" pitchFamily="34" charset="0"/>
                <a:cs typeface="Calibri" panose="020F0502020204030204" pitchFamily="34" charset="0"/>
              </a:rPr>
              <a:t>Adaptive Behavior</a:t>
            </a:r>
          </a:p>
          <a:p>
            <a:pPr marL="1102868" lvl="1" indent="-514350"/>
            <a:r>
              <a:rPr lang="en-US" sz="2600" dirty="0">
                <a:effectLst/>
                <a:latin typeface="Calibri" panose="020F0502020204030204" pitchFamily="34" charset="0"/>
                <a:cs typeface="Calibri" panose="020F0502020204030204" pitchFamily="34" charset="0"/>
              </a:rPr>
              <a:t>Agents assessed their environment and adjusted their actions to better meet user needs, </a:t>
            </a:r>
            <a:r>
              <a:rPr lang="en-US" sz="2600" b="1" dirty="0">
                <a:effectLst/>
                <a:latin typeface="Calibri" panose="020F0502020204030204" pitchFamily="34" charset="0"/>
                <a:cs typeface="Calibri" panose="020F0502020204030204" pitchFamily="34" charset="0"/>
              </a:rPr>
              <a:t>combining autonomy and reasoning</a:t>
            </a:r>
            <a:r>
              <a:rPr lang="en-US" sz="2600" dirty="0">
                <a:effectLst/>
                <a:latin typeface="Calibri" panose="020F0502020204030204" pitchFamily="34" charset="0"/>
                <a:cs typeface="Calibri" panose="020F0502020204030204" pitchFamily="34" charset="0"/>
              </a:rPr>
              <a:t>.</a:t>
            </a:r>
            <a:endParaRPr lang="en-US" sz="2600" b="1" dirty="0">
              <a:effectLst/>
              <a:latin typeface="Calibri" panose="020F0502020204030204" pitchFamily="34" charset="0"/>
              <a:cs typeface="Calibri" panose="020F0502020204030204" pitchFamily="34" charset="0"/>
            </a:endParaRPr>
          </a:p>
          <a:p>
            <a:pPr marL="615950" indent="-514350">
              <a:buFont typeface="+mj-lt"/>
              <a:buAutoNum type="arabicPeriod" startAt="5"/>
            </a:pPr>
            <a:r>
              <a:rPr lang="en-US" sz="2600" b="1" dirty="0">
                <a:effectLst/>
                <a:latin typeface="Calibri" panose="020F0502020204030204" pitchFamily="34" charset="0"/>
                <a:cs typeface="Calibri" panose="020F0502020204030204" pitchFamily="34" charset="0"/>
              </a:rPr>
              <a:t>Trustworthiness</a:t>
            </a:r>
          </a:p>
          <a:p>
            <a:pPr marL="1102868" lvl="1" indent="-514350"/>
            <a:r>
              <a:rPr lang="en-US" sz="2600" dirty="0">
                <a:effectLst/>
                <a:latin typeface="Calibri" panose="020F0502020204030204" pitchFamily="34" charset="0"/>
                <a:cs typeface="Calibri" panose="020F0502020204030204" pitchFamily="34" charset="0"/>
              </a:rPr>
              <a:t>Users needed to trust that agents would act in their best interests, retrieving relevant and accessible information.</a:t>
            </a:r>
          </a:p>
          <a:p>
            <a:pPr marL="615950" indent="-514350"/>
            <a:endParaRPr lang="en-US" sz="2600" b="1"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50</a:t>
            </a:fld>
            <a:endParaRPr lang="en-US" sz="900">
              <a:solidFill>
                <a:schemeClr val="lt1"/>
              </a:solidFill>
            </a:endParaRPr>
          </a:p>
        </p:txBody>
      </p:sp>
    </p:spTree>
    <p:extLst>
      <p:ext uri="{BB962C8B-B14F-4D97-AF65-F5344CB8AC3E}">
        <p14:creationId xmlns:p14="http://schemas.microsoft.com/office/powerpoint/2010/main" val="12853567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Relevance Feedback:</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Agents used a </a:t>
            </a:r>
            <a:r>
              <a:rPr lang="en-US" sz="2600" b="1" dirty="0">
                <a:latin typeface="Calibri" panose="020F0502020204030204" pitchFamily="34" charset="0"/>
                <a:cs typeface="Calibri" panose="020F0502020204030204" pitchFamily="34" charset="0"/>
              </a:rPr>
              <a:t>two-step process to improve searches </a:t>
            </a:r>
            <a:r>
              <a:rPr lang="en-US" sz="2600" dirty="0">
                <a:latin typeface="Calibri" panose="020F0502020204030204" pitchFamily="34" charset="0"/>
                <a:cs typeface="Calibri" panose="020F0502020204030204" pitchFamily="34" charset="0"/>
              </a:rPr>
              <a:t>by incorporating website-specific terminology. For example, if a user searched for "cars," the agent might learn to include terms like "automobiles" or "vehicles" based on site content.</a:t>
            </a:r>
          </a:p>
          <a:p>
            <a:pPr lvl="1"/>
            <a:r>
              <a:rPr lang="en-US" sz="2600" dirty="0">
                <a:latin typeface="Calibri" panose="020F0502020204030204" pitchFamily="34" charset="0"/>
                <a:cs typeface="Calibri" panose="020F0502020204030204" pitchFamily="34" charset="0"/>
              </a:rPr>
              <a:t>A key challenge was determining </a:t>
            </a:r>
            <a:r>
              <a:rPr lang="en-US" sz="2600" b="1" dirty="0">
                <a:latin typeface="Calibri" panose="020F0502020204030204" pitchFamily="34" charset="0"/>
                <a:cs typeface="Calibri" panose="020F0502020204030204" pitchFamily="34" charset="0"/>
              </a:rPr>
              <a:t>how much learned information from one site should influence searches on other sites</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Agents also needed to </a:t>
            </a:r>
            <a:r>
              <a:rPr lang="en-US" sz="2600" b="1" dirty="0">
                <a:latin typeface="Calibri" panose="020F0502020204030204" pitchFamily="34" charset="0"/>
                <a:cs typeface="Calibri" panose="020F0502020204030204" pitchFamily="34" charset="0"/>
              </a:rPr>
              <a:t>normalize rankings across different websites </a:t>
            </a:r>
            <a:r>
              <a:rPr lang="en-US" sz="2600" dirty="0">
                <a:latin typeface="Calibri" panose="020F0502020204030204" pitchFamily="34" charset="0"/>
                <a:cs typeface="Calibri" panose="020F0502020204030204" pitchFamily="34" charset="0"/>
              </a:rPr>
              <a:t>to present the most </a:t>
            </a:r>
            <a:r>
              <a:rPr lang="en-US" sz="2600" b="1" dirty="0">
                <a:latin typeface="Calibri" panose="020F0502020204030204" pitchFamily="34" charset="0"/>
                <a:cs typeface="Calibri" panose="020F0502020204030204" pitchFamily="34" charset="0"/>
              </a:rPr>
              <a:t>relevant results </a:t>
            </a:r>
            <a:r>
              <a:rPr lang="en-US" sz="2600" dirty="0">
                <a:latin typeface="Calibri" panose="020F0502020204030204" pitchFamily="34" charset="0"/>
                <a:cs typeface="Calibri" panose="020F0502020204030204" pitchFamily="34" charset="0"/>
              </a:rPr>
              <a:t>first.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51</a:t>
            </a:fld>
            <a:endParaRPr lang="en-US" sz="900">
              <a:solidFill>
                <a:schemeClr val="lt1"/>
              </a:solidFill>
            </a:endParaRPr>
          </a:p>
        </p:txBody>
      </p:sp>
    </p:spTree>
    <p:extLst>
      <p:ext uri="{BB962C8B-B14F-4D97-AF65-F5344CB8AC3E}">
        <p14:creationId xmlns:p14="http://schemas.microsoft.com/office/powerpoint/2010/main" val="1123423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Hyperlinks and Hypertext Search</a:t>
            </a:r>
            <a:endParaRPr lang="en-US" dirty="0"/>
          </a:p>
        </p:txBody>
      </p:sp>
      <p:sp>
        <p:nvSpPr>
          <p:cNvPr id="2" name="Content Placeholder 1">
            <a:extLst>
              <a:ext uri="{FF2B5EF4-FFF2-40B4-BE49-F238E27FC236}">
                <a16:creationId xmlns:a16="http://schemas.microsoft.com/office/drawing/2014/main" id="{DDA5E981-8581-5C08-ADAA-673BB57CD434}"/>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Hyperlinks</a:t>
            </a:r>
            <a:r>
              <a:rPr lang="en-US" sz="2600" dirty="0">
                <a:latin typeface="Calibri" panose="020F0502020204030204" pitchFamily="34" charset="0"/>
                <a:cs typeface="Calibri" panose="020F0502020204030204" pitchFamily="34" charset="0"/>
              </a:rPr>
              <a:t> are </a:t>
            </a:r>
            <a:r>
              <a:rPr lang="en-US" sz="2600" b="1" dirty="0">
                <a:latin typeface="Calibri" panose="020F0502020204030204" pitchFamily="34" charset="0"/>
                <a:cs typeface="Calibri" panose="020F0502020204030204" pitchFamily="34" charset="0"/>
              </a:rPr>
              <a:t>embedded links in web content </a:t>
            </a:r>
            <a:r>
              <a:rPr lang="en-US" sz="2600" dirty="0">
                <a:latin typeface="Calibri" panose="020F0502020204030204" pitchFamily="34" charset="0"/>
                <a:cs typeface="Calibri" panose="020F0502020204030204" pitchFamily="34" charset="0"/>
              </a:rPr>
              <a:t>(e.g., text or images) that point to other resources, typically via a </a:t>
            </a:r>
            <a:r>
              <a:rPr lang="en-US" sz="2600" b="1" dirty="0">
                <a:latin typeface="Calibri" panose="020F0502020204030204" pitchFamily="34" charset="0"/>
                <a:cs typeface="Calibri" panose="020F0502020204030204" pitchFamily="34" charset="0"/>
              </a:rPr>
              <a:t>URL</a:t>
            </a:r>
            <a:r>
              <a:rPr lang="en-US" sz="2600" dirty="0">
                <a:latin typeface="Calibri" panose="020F0502020204030204" pitchFamily="34" charset="0"/>
                <a:cs typeface="Calibri" panose="020F0502020204030204" pitchFamily="34" charset="0"/>
              </a:rPr>
              <a:t>. </a:t>
            </a:r>
          </a:p>
          <a:p>
            <a:r>
              <a:rPr lang="en-US" sz="2600" dirty="0">
                <a:latin typeface="Calibri" panose="020F0502020204030204" pitchFamily="34" charset="0"/>
                <a:cs typeface="Calibri" panose="020F0502020204030204" pitchFamily="34" charset="0"/>
              </a:rPr>
              <a:t>They create a network of </a:t>
            </a:r>
            <a:r>
              <a:rPr lang="en-US" sz="2600" b="1" dirty="0">
                <a:latin typeface="Calibri" panose="020F0502020204030204" pitchFamily="34" charset="0"/>
                <a:cs typeface="Calibri" panose="020F0502020204030204" pitchFamily="34" charset="0"/>
              </a:rPr>
              <a:t>interconnected items</a:t>
            </a:r>
            <a:r>
              <a:rPr lang="en-US" sz="2600" dirty="0">
                <a:latin typeface="Calibri" panose="020F0502020204030204" pitchFamily="34" charset="0"/>
                <a:cs typeface="Calibri" panose="020F0502020204030204" pitchFamily="34" charset="0"/>
              </a:rPr>
              <a:t>, allowing users to </a:t>
            </a:r>
            <a:r>
              <a:rPr lang="en-US" sz="2600" b="1" dirty="0">
                <a:latin typeface="Calibri" panose="020F0502020204030204" pitchFamily="34" charset="0"/>
                <a:cs typeface="Calibri" panose="020F0502020204030204" pitchFamily="34" charset="0"/>
              </a:rPr>
              <a:t>navigate related content</a:t>
            </a:r>
            <a:r>
              <a:rPr lang="en-US" sz="2600" dirty="0">
                <a:latin typeface="Calibri" panose="020F0502020204030204" pitchFamily="34" charset="0"/>
                <a:cs typeface="Calibri" panose="020F0502020204030204" pitchFamily="34" charset="0"/>
              </a:rPr>
              <a:t>.</a:t>
            </a:r>
          </a:p>
          <a:p>
            <a:r>
              <a:rPr lang="en-US" sz="2600" b="1" dirty="0">
                <a:latin typeface="Calibri" panose="020F0502020204030204" pitchFamily="34" charset="0"/>
                <a:cs typeface="Calibri" panose="020F0502020204030204" pitchFamily="34" charset="0"/>
              </a:rPr>
              <a:t>How Hyperlinks Work</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Clicking a hyperlink takes the user to another resource (e.g., a webpage, image, or document).</a:t>
            </a:r>
          </a:p>
          <a:p>
            <a:pPr lvl="1"/>
            <a:r>
              <a:rPr lang="en-US" sz="2600" dirty="0">
                <a:latin typeface="Calibri" panose="020F0502020204030204" pitchFamily="34" charset="0"/>
                <a:cs typeface="Calibri" panose="020F0502020204030204" pitchFamily="34" charset="0"/>
              </a:rPr>
              <a:t>Hyperlinks were </a:t>
            </a:r>
            <a:r>
              <a:rPr lang="en-US" sz="2600" b="1" dirty="0">
                <a:latin typeface="Calibri" panose="020F0502020204030204" pitchFamily="34" charset="0"/>
                <a:cs typeface="Calibri" panose="020F0502020204030204" pitchFamily="34" charset="0"/>
              </a:rPr>
              <a:t>often static, lacking attributes </a:t>
            </a:r>
            <a:r>
              <a:rPr lang="en-US" sz="2600" dirty="0">
                <a:latin typeface="Calibri" panose="020F0502020204030204" pitchFamily="34" charset="0"/>
                <a:cs typeface="Calibri" panose="020F0502020204030204" pitchFamily="34" charset="0"/>
              </a:rPr>
              <a:t>to explain their purpose (e.g., whether they link to supporting content, related topics, or embedded media like images).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52</a:t>
            </a:fld>
            <a:endParaRPr lang="en-US" sz="900">
              <a:solidFill>
                <a:schemeClr val="lt1"/>
              </a:solidFill>
            </a:endParaRPr>
          </a:p>
        </p:txBody>
      </p:sp>
    </p:spTree>
    <p:extLst>
      <p:ext uri="{BB962C8B-B14F-4D97-AF65-F5344CB8AC3E}">
        <p14:creationId xmlns:p14="http://schemas.microsoft.com/office/powerpoint/2010/main" val="2199235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Hyperlinks and Hypertext Search</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Challenges with Hyperlinks</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Understanding the context of a link was critical. For example, a link might point to:</a:t>
            </a:r>
          </a:p>
          <a:p>
            <a:pPr lvl="2"/>
            <a:r>
              <a:rPr lang="en-US" sz="2600" dirty="0">
                <a:latin typeface="Calibri" panose="020F0502020204030204" pitchFamily="34" charset="0"/>
                <a:cs typeface="Calibri" panose="020F0502020204030204" pitchFamily="34" charset="0"/>
              </a:rPr>
              <a:t>Essential content (e.g., an image embedded in the page).</a:t>
            </a:r>
          </a:p>
          <a:p>
            <a:pPr lvl="2"/>
            <a:r>
              <a:rPr lang="en-US" sz="2600" dirty="0">
                <a:latin typeface="Calibri" panose="020F0502020204030204" pitchFamily="34" charset="0"/>
                <a:cs typeface="Calibri" panose="020F0502020204030204" pitchFamily="34" charset="0"/>
              </a:rPr>
              <a:t>Supporting material (e.g., a reference to a related article).</a:t>
            </a:r>
          </a:p>
          <a:p>
            <a:pPr lvl="2"/>
            <a:r>
              <a:rPr lang="en-US" sz="2600" dirty="0">
                <a:latin typeface="Calibri" panose="020F0502020204030204" pitchFamily="34" charset="0"/>
                <a:cs typeface="Calibri" panose="020F0502020204030204" pitchFamily="34" charset="0"/>
              </a:rPr>
              <a:t>Tangential topics the author thought might interest the reader.</a:t>
            </a:r>
          </a:p>
          <a:p>
            <a:pPr lvl="2"/>
            <a:r>
              <a:rPr lang="en-US" sz="2600" dirty="0">
                <a:latin typeface="Calibri" panose="020F0502020204030204" pitchFamily="34" charset="0"/>
                <a:cs typeface="Calibri" panose="020F0502020204030204" pitchFamily="34" charset="0"/>
              </a:rPr>
              <a:t>Without attributes, users had to guess the link’s purpose, which could reduce its usefulness.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53</a:t>
            </a:fld>
            <a:endParaRPr lang="en-US" sz="900">
              <a:solidFill>
                <a:schemeClr val="lt1"/>
              </a:solidFill>
            </a:endParaRPr>
          </a:p>
        </p:txBody>
      </p:sp>
    </p:spTree>
    <p:extLst>
      <p:ext uri="{BB962C8B-B14F-4D97-AF65-F5344CB8AC3E}">
        <p14:creationId xmlns:p14="http://schemas.microsoft.com/office/powerpoint/2010/main" val="4998023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Hypertext Search</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Users could manually follow hyperlinks to explore related content, creating a </a:t>
            </a:r>
            <a:r>
              <a:rPr lang="en-US" sz="2600" b="1" dirty="0">
                <a:latin typeface="Calibri" panose="020F0502020204030204" pitchFamily="34" charset="0"/>
                <a:cs typeface="Calibri" panose="020F0502020204030204" pitchFamily="34" charset="0"/>
              </a:rPr>
              <a:t>"network diagram" of interconnected items</a:t>
            </a:r>
            <a:r>
              <a:rPr lang="en-US" sz="2600" dirty="0">
                <a:latin typeface="Calibri" panose="020F0502020204030204" pitchFamily="34" charset="0"/>
                <a:cs typeface="Calibri" panose="020F0502020204030204" pitchFamily="34" charset="0"/>
              </a:rPr>
              <a:t>.</a:t>
            </a:r>
          </a:p>
          <a:p>
            <a:r>
              <a:rPr lang="en-US" sz="2600" b="1" dirty="0">
                <a:latin typeface="Calibri" panose="020F0502020204030204" pitchFamily="34" charset="0"/>
                <a:cs typeface="Calibri" panose="020F0502020204030204" pitchFamily="34" charset="0"/>
              </a:rPr>
              <a:t>Automated systems </a:t>
            </a:r>
            <a:r>
              <a:rPr lang="en-US" sz="2600" dirty="0">
                <a:latin typeface="Calibri" panose="020F0502020204030204" pitchFamily="34" charset="0"/>
                <a:cs typeface="Calibri" panose="020F0502020204030204" pitchFamily="34" charset="0"/>
              </a:rPr>
              <a:t>could also follow hyperlinks to retrieve and index related content, but this required </a:t>
            </a:r>
            <a:r>
              <a:rPr lang="en-US" sz="2600" b="1" dirty="0">
                <a:latin typeface="Calibri" panose="020F0502020204030204" pitchFamily="34" charset="0"/>
                <a:cs typeface="Calibri" panose="020F0502020204030204" pitchFamily="34" charset="0"/>
              </a:rPr>
              <a:t>algorithms to weigh the relevance of linked items </a:t>
            </a:r>
            <a:r>
              <a:rPr lang="en-US" sz="2600" dirty="0">
                <a:latin typeface="Calibri" panose="020F0502020204030204" pitchFamily="34" charset="0"/>
                <a:cs typeface="Calibri" panose="020F0502020204030204" pitchFamily="34" charset="0"/>
              </a:rPr>
              <a:t>to the user’s query.</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54</a:t>
            </a:fld>
            <a:endParaRPr lang="en-US" sz="900">
              <a:solidFill>
                <a:schemeClr val="lt1"/>
              </a:solidFill>
            </a:endParaRPr>
          </a:p>
        </p:txBody>
      </p:sp>
    </p:spTree>
    <p:extLst>
      <p:ext uri="{BB962C8B-B14F-4D97-AF65-F5344CB8AC3E}">
        <p14:creationId xmlns:p14="http://schemas.microsoft.com/office/powerpoint/2010/main" val="10773988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Emerging Search and Dissemination Systems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text mentions several early Internet systems that </a:t>
            </a:r>
            <a:r>
              <a:rPr lang="en-US" sz="2600" b="1" dirty="0">
                <a:latin typeface="Calibri" panose="020F0502020204030204" pitchFamily="34" charset="0"/>
                <a:cs typeface="Calibri" panose="020F0502020204030204" pitchFamily="34" charset="0"/>
              </a:rPr>
              <a:t>personalized and delivered content</a:t>
            </a:r>
            <a:r>
              <a:rPr lang="en-US" sz="2600" dirty="0">
                <a:latin typeface="Calibri" panose="020F0502020204030204" pitchFamily="34" charset="0"/>
                <a:cs typeface="Calibri" panose="020F0502020204030204" pitchFamily="34" charset="0"/>
              </a:rPr>
              <a:t> to users:</a:t>
            </a:r>
          </a:p>
          <a:p>
            <a:endParaRPr lang="en-US" sz="2600" dirty="0">
              <a:latin typeface="Calibri" panose="020F0502020204030204" pitchFamily="34" charset="0"/>
              <a:cs typeface="Calibri" panose="020F0502020204030204" pitchFamily="34" charset="0"/>
            </a:endParaRPr>
          </a:p>
          <a:p>
            <a:pPr lvl="1"/>
            <a:r>
              <a:rPr lang="en-US" sz="2600" dirty="0">
                <a:latin typeface="Calibri" panose="020F0502020204030204" pitchFamily="34" charset="0"/>
                <a:cs typeface="Calibri" panose="020F0502020204030204" pitchFamily="34" charset="0"/>
              </a:rPr>
              <a:t>Pointcast, </a:t>
            </a:r>
            <a:r>
              <a:rPr lang="en-US" sz="2600" dirty="0" err="1">
                <a:latin typeface="Calibri" panose="020F0502020204030204" pitchFamily="34" charset="0"/>
                <a:cs typeface="Calibri" panose="020F0502020204030204" pitchFamily="34" charset="0"/>
              </a:rPr>
              <a:t>FishWrap</a:t>
            </a:r>
            <a:r>
              <a:rPr lang="en-US" sz="2600" dirty="0">
                <a:latin typeface="Calibri" panose="020F0502020204030204" pitchFamily="34" charset="0"/>
                <a:cs typeface="Calibri" panose="020F0502020204030204" pitchFamily="34" charset="0"/>
              </a:rPr>
              <a:t>, and SFGATE:</a:t>
            </a:r>
          </a:p>
          <a:p>
            <a:pPr lvl="1"/>
            <a:r>
              <a:rPr lang="en-US" sz="2600" dirty="0">
                <a:latin typeface="Calibri" panose="020F0502020204030204" pitchFamily="34" charset="0"/>
                <a:cs typeface="Calibri" panose="020F0502020204030204" pitchFamily="34" charset="0"/>
              </a:rPr>
              <a:t>These systems allowed users to </a:t>
            </a:r>
            <a:r>
              <a:rPr lang="en-US" sz="2600" b="1" dirty="0">
                <a:latin typeface="Calibri" panose="020F0502020204030204" pitchFamily="34" charset="0"/>
                <a:cs typeface="Calibri" panose="020F0502020204030204" pitchFamily="34" charset="0"/>
              </a:rPr>
              <a:t>specify interests </a:t>
            </a:r>
            <a:r>
              <a:rPr lang="en-US" sz="2600" dirty="0">
                <a:latin typeface="Calibri" panose="020F0502020204030204" pitchFamily="34" charset="0"/>
                <a:cs typeface="Calibri" panose="020F0502020204030204" pitchFamily="34" charset="0"/>
              </a:rPr>
              <a:t>(e.g., sports, news) and automatically delivered relevant content via email, file storage, or real-time screen updates.</a:t>
            </a:r>
          </a:p>
          <a:p>
            <a:pPr lvl="1"/>
            <a:r>
              <a:rPr lang="en-US" sz="2600" dirty="0">
                <a:latin typeface="Calibri" panose="020F0502020204030204" pitchFamily="34" charset="0"/>
                <a:cs typeface="Calibri" panose="020F0502020204030204" pitchFamily="34" charset="0"/>
              </a:rPr>
              <a:t>Example: </a:t>
            </a:r>
            <a:r>
              <a:rPr lang="en-US" sz="2600" b="1" dirty="0" err="1">
                <a:latin typeface="Calibri" panose="020F0502020204030204" pitchFamily="34" charset="0"/>
                <a:cs typeface="Calibri" panose="020F0502020204030204" pitchFamily="34" charset="0"/>
              </a:rPr>
              <a:t>FishWrap</a:t>
            </a:r>
            <a:r>
              <a:rPr lang="en-US" sz="2600" b="1" dirty="0">
                <a:latin typeface="Calibri" panose="020F0502020204030204" pitchFamily="34" charset="0"/>
                <a:cs typeface="Calibri" panose="020F0502020204030204" pitchFamily="34" charset="0"/>
              </a:rPr>
              <a:t> (MIT) and SFGATE (San Francisco Chronicle/Examiner) provided customized news updates</a:t>
            </a:r>
            <a:r>
              <a:rPr lang="en-US" sz="2600" dirty="0">
                <a:latin typeface="Calibri" panose="020F0502020204030204" pitchFamily="34" charset="0"/>
                <a:cs typeface="Calibri" panose="020F0502020204030204" pitchFamily="34" charset="0"/>
              </a:rPr>
              <a: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55</a:t>
            </a:fld>
            <a:endParaRPr lang="en-US" sz="900">
              <a:solidFill>
                <a:schemeClr val="lt1"/>
              </a:solidFill>
            </a:endParaRPr>
          </a:p>
        </p:txBody>
      </p:sp>
    </p:spTree>
    <p:extLst>
      <p:ext uri="{BB962C8B-B14F-4D97-AF65-F5344CB8AC3E}">
        <p14:creationId xmlns:p14="http://schemas.microsoft.com/office/powerpoint/2010/main" val="2521424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12713"/>
            <a:ext cx="10977033" cy="6109183"/>
          </a:xfrm>
        </p:spPr>
        <p:txBody>
          <a:bodyPr/>
          <a:lstStyle/>
          <a:p>
            <a:r>
              <a:rPr lang="en-US" sz="2300" b="1" dirty="0">
                <a:latin typeface="Calibri" panose="020F0502020204030204" pitchFamily="34" charset="0"/>
                <a:cs typeface="Calibri" panose="020F0502020204030204" pitchFamily="34" charset="0"/>
              </a:rPr>
              <a:t>Firefly</a:t>
            </a:r>
            <a:r>
              <a:rPr lang="en-US" sz="2300" dirty="0">
                <a:latin typeface="Calibri" panose="020F0502020204030204" pitchFamily="34" charset="0"/>
                <a:cs typeface="Calibri" panose="020F0502020204030204" pitchFamily="34" charset="0"/>
              </a:rPr>
              <a:t>:</a:t>
            </a:r>
          </a:p>
          <a:p>
            <a:pPr lvl="1"/>
            <a:r>
              <a:rPr lang="en-US" sz="2300" dirty="0">
                <a:latin typeface="Calibri" panose="020F0502020204030204" pitchFamily="34" charset="0"/>
                <a:cs typeface="Calibri" panose="020F0502020204030204" pitchFamily="34" charset="0"/>
              </a:rPr>
              <a:t>A recommendation system that learned user preferences for </a:t>
            </a:r>
            <a:r>
              <a:rPr lang="en-US" sz="2300" b="1" dirty="0">
                <a:latin typeface="Calibri" panose="020F0502020204030204" pitchFamily="34" charset="0"/>
                <a:cs typeface="Calibri" panose="020F0502020204030204" pitchFamily="34" charset="0"/>
              </a:rPr>
              <a:t>music or movies </a:t>
            </a:r>
            <a:r>
              <a:rPr lang="en-US" sz="2300" dirty="0">
                <a:latin typeface="Calibri" panose="020F0502020204030204" pitchFamily="34" charset="0"/>
                <a:cs typeface="Calibri" panose="020F0502020204030204" pitchFamily="34" charset="0"/>
              </a:rPr>
              <a:t>based on their interactions.</a:t>
            </a:r>
          </a:p>
          <a:p>
            <a:pPr lvl="1"/>
            <a:r>
              <a:rPr lang="en-US" sz="2300" dirty="0">
                <a:latin typeface="Calibri" panose="020F0502020204030204" pitchFamily="34" charset="0"/>
                <a:cs typeface="Calibri" panose="020F0502020204030204" pitchFamily="34" charset="0"/>
              </a:rPr>
              <a:t>It compared a </a:t>
            </a:r>
            <a:r>
              <a:rPr lang="en-US" sz="2300" b="1" dirty="0">
                <a:latin typeface="Calibri" panose="020F0502020204030204" pitchFamily="34" charset="0"/>
                <a:cs typeface="Calibri" panose="020F0502020204030204" pitchFamily="34" charset="0"/>
              </a:rPr>
              <a:t>user’s profile with others </a:t>
            </a:r>
            <a:r>
              <a:rPr lang="en-US" sz="2300" dirty="0">
                <a:latin typeface="Calibri" panose="020F0502020204030204" pitchFamily="34" charset="0"/>
                <a:cs typeface="Calibri" panose="020F0502020204030204" pitchFamily="34" charset="0"/>
              </a:rPr>
              <a:t>to suggest products or connect users with similar interests.</a:t>
            </a:r>
          </a:p>
          <a:p>
            <a:r>
              <a:rPr lang="en-US" sz="2300" b="1" dirty="0">
                <a:latin typeface="Calibri" panose="020F0502020204030204" pitchFamily="34" charset="0"/>
                <a:cs typeface="Calibri" panose="020F0502020204030204" pitchFamily="34" charset="0"/>
              </a:rPr>
              <a:t>Empirical Media</a:t>
            </a:r>
            <a:r>
              <a:rPr lang="en-US" sz="2300" dirty="0">
                <a:latin typeface="Calibri" panose="020F0502020204030204" pitchFamily="34" charset="0"/>
                <a:cs typeface="Calibri" panose="020F0502020204030204" pitchFamily="34" charset="0"/>
              </a:rPr>
              <a:t>:</a:t>
            </a:r>
          </a:p>
          <a:p>
            <a:pPr lvl="1"/>
            <a:r>
              <a:rPr lang="en-US" sz="2300" dirty="0">
                <a:latin typeface="Calibri" panose="020F0502020204030204" pitchFamily="34" charset="0"/>
                <a:cs typeface="Calibri" panose="020F0502020204030204" pitchFamily="34" charset="0"/>
              </a:rPr>
              <a:t>Used collaborative intelligence, </a:t>
            </a:r>
            <a:r>
              <a:rPr lang="en-US" sz="2300" b="1" dirty="0">
                <a:latin typeface="Calibri" panose="020F0502020204030204" pitchFamily="34" charset="0"/>
                <a:cs typeface="Calibri" panose="020F0502020204030204" pitchFamily="34" charset="0"/>
              </a:rPr>
              <a:t>analyzing rankings </a:t>
            </a:r>
            <a:r>
              <a:rPr lang="en-US" sz="2300" dirty="0">
                <a:latin typeface="Calibri" panose="020F0502020204030204" pitchFamily="34" charset="0"/>
                <a:cs typeface="Calibri" panose="020F0502020204030204" pitchFamily="34" charset="0"/>
              </a:rPr>
              <a:t>from multiple users to predict what content might interest an individual.</a:t>
            </a:r>
          </a:p>
          <a:p>
            <a:pPr lvl="1"/>
            <a:r>
              <a:rPr lang="en-US" sz="2300" dirty="0">
                <a:latin typeface="Calibri" panose="020F0502020204030204" pitchFamily="34" charset="0"/>
                <a:cs typeface="Calibri" panose="020F0502020204030204" pitchFamily="34" charset="0"/>
              </a:rPr>
              <a:t>For example, if users with </a:t>
            </a:r>
            <a:r>
              <a:rPr lang="en-US" sz="2300" b="1" dirty="0">
                <a:latin typeface="Calibri" panose="020F0502020204030204" pitchFamily="34" charset="0"/>
                <a:cs typeface="Calibri" panose="020F0502020204030204" pitchFamily="34" charset="0"/>
              </a:rPr>
              <a:t>similar tastes ranked a movie highly</a:t>
            </a:r>
            <a:r>
              <a:rPr lang="en-US" sz="2300" dirty="0">
                <a:latin typeface="Calibri" panose="020F0502020204030204" pitchFamily="34" charset="0"/>
                <a:cs typeface="Calibri" panose="020F0502020204030204" pitchFamily="34" charset="0"/>
              </a:rPr>
              <a:t>, the system would recommend it to others with similar patterns.</a:t>
            </a:r>
          </a:p>
          <a:p>
            <a:r>
              <a:rPr lang="en-US" sz="2300" b="1" dirty="0">
                <a:latin typeface="Calibri" panose="020F0502020204030204" pitchFamily="34" charset="0"/>
                <a:cs typeface="Calibri" panose="020F0502020204030204" pitchFamily="34" charset="0"/>
              </a:rPr>
              <a:t>Collaborative</a:t>
            </a:r>
            <a:r>
              <a:rPr lang="en-US" sz="2300" dirty="0">
                <a:latin typeface="Calibri" panose="020F0502020204030204" pitchFamily="34" charset="0"/>
                <a:cs typeface="Calibri" panose="020F0502020204030204" pitchFamily="34" charset="0"/>
              </a:rPr>
              <a:t> </a:t>
            </a:r>
            <a:r>
              <a:rPr lang="en-US" sz="2300" b="1" dirty="0">
                <a:latin typeface="Calibri" panose="020F0502020204030204" pitchFamily="34" charset="0"/>
                <a:cs typeface="Calibri" panose="020F0502020204030204" pitchFamily="34" charset="0"/>
              </a:rPr>
              <a:t>Intelligence</a:t>
            </a:r>
            <a:r>
              <a:rPr lang="en-US" sz="2300" dirty="0">
                <a:latin typeface="Calibri" panose="020F0502020204030204" pitchFamily="34" charset="0"/>
                <a:cs typeface="Calibri" panose="020F0502020204030204" pitchFamily="34" charset="0"/>
              </a:rPr>
              <a:t>:</a:t>
            </a:r>
          </a:p>
          <a:p>
            <a:pPr lvl="1"/>
            <a:r>
              <a:rPr lang="en-US" sz="2300" dirty="0">
                <a:latin typeface="Calibri" panose="020F0502020204030204" pitchFamily="34" charset="0"/>
                <a:cs typeface="Calibri" panose="020F0502020204030204" pitchFamily="34" charset="0"/>
              </a:rPr>
              <a:t>Unlike earlier research (e.g., Salton-83), which found limited success in using group queries to classify documents, the Internet’s massive user base (millions of interactions) enabled better clustering and learning for personalized recommendations.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56</a:t>
            </a:fld>
            <a:endParaRPr lang="en-US" sz="900">
              <a:solidFill>
                <a:schemeClr val="lt1"/>
              </a:solidFill>
            </a:endParaRPr>
          </a:p>
        </p:txBody>
      </p:sp>
    </p:spTree>
    <p:extLst>
      <p:ext uri="{BB962C8B-B14F-4D97-AF65-F5344CB8AC3E}">
        <p14:creationId xmlns:p14="http://schemas.microsoft.com/office/powerpoint/2010/main" val="42246098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Introduction to Information Visualization</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Why Information Visualization Matters</a:t>
            </a:r>
          </a:p>
          <a:p>
            <a:pPr lvl="1"/>
            <a:r>
              <a:rPr lang="en-US" sz="2600" dirty="0">
                <a:latin typeface="Calibri" panose="020F0502020204030204" pitchFamily="34" charset="0"/>
                <a:cs typeface="Calibri" panose="020F0502020204030204" pitchFamily="34" charset="0"/>
              </a:rPr>
              <a:t>Historically, IR systems have focused on algorithmic improvements (e.g., indexing, searching, clustering) rather than how information is displayed to users. This was due to:</a:t>
            </a:r>
          </a:p>
          <a:p>
            <a:pPr lvl="1"/>
            <a:r>
              <a:rPr lang="en-US" sz="2600" b="1" dirty="0">
                <a:latin typeface="Calibri" panose="020F0502020204030204" pitchFamily="34" charset="0"/>
                <a:cs typeface="Calibri" panose="020F0502020204030204" pitchFamily="34" charset="0"/>
              </a:rPr>
              <a:t>Technological limitations: </a:t>
            </a:r>
            <a:r>
              <a:rPr lang="en-US" sz="2600" dirty="0">
                <a:latin typeface="Calibri" panose="020F0502020204030204" pitchFamily="34" charset="0"/>
                <a:cs typeface="Calibri" panose="020F0502020204030204" pitchFamily="34" charset="0"/>
              </a:rPr>
              <a:t>Early systems lacked the capability for sophisticated visual displays.</a:t>
            </a:r>
          </a:p>
          <a:p>
            <a:pPr lvl="1"/>
            <a:r>
              <a:rPr lang="en-US" sz="2600" b="1" dirty="0">
                <a:latin typeface="Calibri" panose="020F0502020204030204" pitchFamily="34" charset="0"/>
                <a:cs typeface="Calibri" panose="020F0502020204030204" pitchFamily="34" charset="0"/>
              </a:rPr>
              <a:t>Academic focus: </a:t>
            </a:r>
            <a:r>
              <a:rPr lang="en-US" sz="2600" dirty="0">
                <a:latin typeface="Calibri" panose="020F0502020204030204" pitchFamily="34" charset="0"/>
                <a:cs typeface="Calibri" panose="020F0502020204030204" pitchFamily="34" charset="0"/>
              </a:rPr>
              <a:t>Researchers prioritized algorithmic challenges over human-computer interface (HCI) design.</a:t>
            </a:r>
          </a:p>
          <a:p>
            <a:pPr lvl="1"/>
            <a:r>
              <a:rPr lang="en-US" sz="2600" b="1" dirty="0">
                <a:latin typeface="Calibri" panose="020F0502020204030204" pitchFamily="34" charset="0"/>
                <a:cs typeface="Calibri" panose="020F0502020204030204" pitchFamily="34" charset="0"/>
              </a:rPr>
              <a:t>Multidisciplinary complexity: </a:t>
            </a:r>
            <a:r>
              <a:rPr lang="en-US" sz="2600" dirty="0">
                <a:latin typeface="Calibri" panose="020F0502020204030204" pitchFamily="34" charset="0"/>
                <a:cs typeface="Calibri" panose="020F0502020204030204" pitchFamily="34" charset="0"/>
              </a:rPr>
              <a:t>Effective visualization requires integrating cognitive science, perception, and HCI.</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57</a:t>
            </a:fld>
            <a:endParaRPr lang="en-US" sz="900">
              <a:solidFill>
                <a:schemeClr val="lt1"/>
              </a:solidFill>
            </a:endParaRPr>
          </a:p>
        </p:txBody>
      </p:sp>
    </p:spTree>
    <p:extLst>
      <p:ext uri="{BB962C8B-B14F-4D97-AF65-F5344CB8AC3E}">
        <p14:creationId xmlns:p14="http://schemas.microsoft.com/office/powerpoint/2010/main" val="26774929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3"/>
            <a:ext cx="10972800" cy="699028"/>
          </a:xfrm>
        </p:spPr>
        <p:txBody>
          <a:bodyPr/>
          <a:lstStyle/>
          <a:p>
            <a:r>
              <a:rPr lang="en-US" dirty="0">
                <a:effectLst/>
              </a:rPr>
              <a:t>Shift in Perspective: Visual Computing</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914401"/>
            <a:ext cx="10977033" cy="5237017"/>
          </a:xfrm>
        </p:spPr>
        <p:txBody>
          <a:bodyPr/>
          <a:lstStyle/>
          <a:p>
            <a:r>
              <a:rPr lang="en-US" sz="2600" dirty="0">
                <a:latin typeface="Calibri" panose="020F0502020204030204" pitchFamily="34" charset="0"/>
                <a:cs typeface="Calibri" panose="020F0502020204030204" pitchFamily="34" charset="0"/>
              </a:rPr>
              <a:t>The text argues that system designers should treat displays as visual computing platforms, not just digital versions of paper. This shift enables new functionalities:</a:t>
            </a:r>
          </a:p>
          <a:p>
            <a:pPr lvl="1"/>
            <a:r>
              <a:rPr lang="en-US" sz="2600" b="1" dirty="0">
                <a:latin typeface="Calibri" panose="020F0502020204030204" pitchFamily="34" charset="0"/>
                <a:cs typeface="Calibri" panose="020F0502020204030204" pitchFamily="34" charset="0"/>
              </a:rPr>
              <a:t>Modify representations: </a:t>
            </a:r>
            <a:r>
              <a:rPr lang="en-US" sz="2600" dirty="0">
                <a:latin typeface="Calibri" panose="020F0502020204030204" pitchFamily="34" charset="0"/>
                <a:cs typeface="Calibri" panose="020F0502020204030204" pitchFamily="34" charset="0"/>
              </a:rPr>
              <a:t>Change how data is shown (e.g., adjust color scales).</a:t>
            </a:r>
          </a:p>
          <a:p>
            <a:pPr lvl="1"/>
            <a:r>
              <a:rPr lang="en-US" sz="2600" b="1" dirty="0">
                <a:latin typeface="Calibri" panose="020F0502020204030204" pitchFamily="34" charset="0"/>
                <a:cs typeface="Calibri" panose="020F0502020204030204" pitchFamily="34" charset="0"/>
              </a:rPr>
              <a:t>Dynamic updates: </a:t>
            </a:r>
            <a:r>
              <a:rPr lang="en-US" sz="2600" dirty="0">
                <a:latin typeface="Calibri" panose="020F0502020204030204" pitchFamily="34" charset="0"/>
                <a:cs typeface="Calibri" panose="020F0502020204030204" pitchFamily="34" charset="0"/>
              </a:rPr>
              <a:t>Show changes in data while keeping the same visual framework (e.g., shifting between clusters to reveal new connections).</a:t>
            </a:r>
          </a:p>
          <a:p>
            <a:pPr lvl="1"/>
            <a:r>
              <a:rPr lang="en-US" sz="2600" b="1" dirty="0">
                <a:latin typeface="Calibri" panose="020F0502020204030204" pitchFamily="34" charset="0"/>
                <a:cs typeface="Calibri" panose="020F0502020204030204" pitchFamily="34" charset="0"/>
              </a:rPr>
              <a:t>Animation:</a:t>
            </a:r>
            <a:r>
              <a:rPr lang="en-US" sz="2600" dirty="0">
                <a:latin typeface="Calibri" panose="020F0502020204030204" pitchFamily="34" charset="0"/>
                <a:cs typeface="Calibri" panose="020F0502020204030204" pitchFamily="34" charset="0"/>
              </a:rPr>
              <a:t> Display changes over time or space.</a:t>
            </a:r>
          </a:p>
          <a:p>
            <a:pPr lvl="1"/>
            <a:r>
              <a:rPr lang="en-US" sz="2600" b="1" dirty="0">
                <a:latin typeface="Calibri" panose="020F0502020204030204" pitchFamily="34" charset="0"/>
                <a:cs typeface="Calibri" panose="020F0502020204030204" pitchFamily="34" charset="0"/>
              </a:rPr>
              <a:t>Interactive input: </a:t>
            </a:r>
            <a:r>
              <a:rPr lang="en-US" sz="2600" dirty="0">
                <a:latin typeface="Calibri" panose="020F0502020204030204" pitchFamily="34" charset="0"/>
                <a:cs typeface="Calibri" panose="020F0502020204030204" pitchFamily="34" charset="0"/>
              </a:rPr>
              <a:t>Allow users to navigate information spaces dynamically and customize displays to suit their preferences.</a:t>
            </a:r>
          </a:p>
          <a:p>
            <a:pPr lvl="1"/>
            <a:r>
              <a:rPr lang="en-US" sz="2600" b="1" dirty="0">
                <a:latin typeface="Calibri" panose="020F0502020204030204" pitchFamily="34" charset="0"/>
                <a:cs typeface="Calibri" panose="020F0502020204030204" pitchFamily="34" charset="0"/>
              </a:rPr>
              <a:t>Hyperlinks: </a:t>
            </a:r>
            <a:r>
              <a:rPr lang="en-US" sz="2600" dirty="0">
                <a:latin typeface="Calibri" panose="020F0502020204030204" pitchFamily="34" charset="0"/>
                <a:cs typeface="Calibri" panose="020F0502020204030204" pitchFamily="34" charset="0"/>
              </a:rPr>
              <a:t>Let users create connections between data points to explore relationships.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58</a:t>
            </a:fld>
            <a:endParaRPr lang="en-US" sz="900">
              <a:solidFill>
                <a:schemeClr val="lt1"/>
              </a:solidFill>
            </a:endParaRPr>
          </a:p>
        </p:txBody>
      </p:sp>
    </p:spTree>
    <p:extLst>
      <p:ext uri="{BB962C8B-B14F-4D97-AF65-F5344CB8AC3E}">
        <p14:creationId xmlns:p14="http://schemas.microsoft.com/office/powerpoint/2010/main" val="42467729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Why Visualization is Critical</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Even the best search algorithms (e.g., those tested in TREC) fall short of perfect precision and recall. This means users often face large sets of search results, many of which may not be relevant. Visualization helps by:</a:t>
            </a:r>
          </a:p>
          <a:p>
            <a:pPr lvl="1"/>
            <a:r>
              <a:rPr lang="en-US" sz="2600" b="1" dirty="0">
                <a:latin typeface="Calibri" panose="020F0502020204030204" pitchFamily="34" charset="0"/>
                <a:cs typeface="Calibri" panose="020F0502020204030204" pitchFamily="34" charset="0"/>
              </a:rPr>
              <a:t>Reducing cognitive load: </a:t>
            </a:r>
            <a:r>
              <a:rPr lang="en-US" sz="2600" dirty="0">
                <a:latin typeface="Calibri" panose="020F0502020204030204" pitchFamily="34" charset="0"/>
                <a:cs typeface="Calibri" panose="020F0502020204030204" pitchFamily="34" charset="0"/>
              </a:rPr>
              <a:t>Presenting results in a way that’s easier for the human brain to process.</a:t>
            </a:r>
          </a:p>
          <a:p>
            <a:pPr lvl="1"/>
            <a:r>
              <a:rPr lang="en-US" sz="2600" b="1" dirty="0">
                <a:latin typeface="Calibri" panose="020F0502020204030204" pitchFamily="34" charset="0"/>
                <a:cs typeface="Calibri" panose="020F0502020204030204" pitchFamily="34" charset="0"/>
              </a:rPr>
              <a:t>Highlighting patterns: </a:t>
            </a:r>
            <a:r>
              <a:rPr lang="en-US" sz="2600" dirty="0">
                <a:latin typeface="Calibri" panose="020F0502020204030204" pitchFamily="34" charset="0"/>
                <a:cs typeface="Calibri" panose="020F0502020204030204" pitchFamily="34" charset="0"/>
              </a:rPr>
              <a:t>Showing relationships and trends among items, rather than treating each result independently.</a:t>
            </a:r>
          </a:p>
          <a:p>
            <a:pPr lvl="1"/>
            <a:r>
              <a:rPr lang="en-US" sz="2600" b="1" dirty="0">
                <a:latin typeface="Calibri" panose="020F0502020204030204" pitchFamily="34" charset="0"/>
                <a:cs typeface="Calibri" panose="020F0502020204030204" pitchFamily="34" charset="0"/>
              </a:rPr>
              <a:t>Guiding refinement: </a:t>
            </a:r>
            <a:r>
              <a:rPr lang="en-US" sz="2600" dirty="0">
                <a:latin typeface="Calibri" panose="020F0502020204030204" pitchFamily="34" charset="0"/>
                <a:cs typeface="Calibri" panose="020F0502020204030204" pitchFamily="34" charset="0"/>
              </a:rPr>
              <a:t>Helping users understand why certain results were retrieved and how to adjust their queries for better outcomes.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59</a:t>
            </a:fld>
            <a:endParaRPr lang="en-US" sz="900">
              <a:solidFill>
                <a:schemeClr val="lt1"/>
              </a:solidFill>
            </a:endParaRPr>
          </a:p>
        </p:txBody>
      </p:sp>
    </p:spTree>
    <p:extLst>
      <p:ext uri="{BB962C8B-B14F-4D97-AF65-F5344CB8AC3E}">
        <p14:creationId xmlns:p14="http://schemas.microsoft.com/office/powerpoint/2010/main" val="27958808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Cognitive Foundations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Cognitive engineering and perception studies provide the theoretical basis for visualization:</a:t>
            </a:r>
          </a:p>
          <a:p>
            <a:pPr lvl="1"/>
            <a:r>
              <a:rPr lang="en-US" sz="2600" b="1" dirty="0">
                <a:latin typeface="Calibri" panose="020F0502020204030204" pitchFamily="34" charset="0"/>
                <a:cs typeface="Calibri" panose="020F0502020204030204" pitchFamily="34" charset="0"/>
              </a:rPr>
              <a:t>Mental depiction vs. description: </a:t>
            </a:r>
            <a:r>
              <a:rPr lang="en-US" sz="2600" dirty="0">
                <a:latin typeface="Calibri" panose="020F0502020204030204" pitchFamily="34" charset="0"/>
                <a:cs typeface="Calibri" panose="020F0502020204030204" pitchFamily="34" charset="0"/>
              </a:rPr>
              <a:t>Research since 1989 shows that visual representations (e.g., images, diagrams) are processed differently in the brain than text-based descriptions, playing a unique role in cognition.</a:t>
            </a:r>
          </a:p>
          <a:p>
            <a:pPr lvl="1"/>
            <a:r>
              <a:rPr lang="en-US" sz="2600" b="1" dirty="0">
                <a:latin typeface="Calibri" panose="020F0502020204030204" pitchFamily="34" charset="0"/>
                <a:cs typeface="Calibri" panose="020F0502020204030204" pitchFamily="34" charset="0"/>
              </a:rPr>
              <a:t>Visual processing: </a:t>
            </a:r>
            <a:r>
              <a:rPr lang="en-US" sz="2600" dirty="0">
                <a:latin typeface="Calibri" panose="020F0502020204030204" pitchFamily="34" charset="0"/>
                <a:cs typeface="Calibri" panose="020F0502020204030204" pitchFamily="34" charset="0"/>
              </a:rPr>
              <a:t>The human brain is wired to process visual data efficiently, making visualization a powerful tool for understanding complex information.</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60</a:t>
            </a:fld>
            <a:endParaRPr lang="en-US" sz="900">
              <a:solidFill>
                <a:schemeClr val="lt1"/>
              </a:solidFill>
            </a:endParaRPr>
          </a:p>
        </p:txBody>
      </p:sp>
    </p:spTree>
    <p:extLst>
      <p:ext uri="{BB962C8B-B14F-4D97-AF65-F5344CB8AC3E}">
        <p14:creationId xmlns:p14="http://schemas.microsoft.com/office/powerpoint/2010/main" val="21936607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Visualization </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Visualization can be divided into:</a:t>
            </a:r>
          </a:p>
          <a:p>
            <a:pPr lvl="1"/>
            <a:r>
              <a:rPr lang="en-US" sz="2600" b="1" dirty="0">
                <a:latin typeface="Calibri" panose="020F0502020204030204" pitchFamily="34" charset="0"/>
                <a:cs typeface="Calibri" panose="020F0502020204030204" pitchFamily="34" charset="0"/>
              </a:rPr>
              <a:t>Link visualization</a:t>
            </a:r>
            <a:r>
              <a:rPr lang="en-US" sz="2600" dirty="0">
                <a:latin typeface="Calibri" panose="020F0502020204030204" pitchFamily="34" charset="0"/>
                <a:cs typeface="Calibri" panose="020F0502020204030204" pitchFamily="34" charset="0"/>
              </a:rPr>
              <a:t>: Shows relationships between items (e.g., networks or connections).</a:t>
            </a:r>
          </a:p>
          <a:p>
            <a:pPr lvl="1"/>
            <a:r>
              <a:rPr lang="en-US" sz="2600" b="1" dirty="0">
                <a:latin typeface="Calibri" panose="020F0502020204030204" pitchFamily="34" charset="0"/>
                <a:cs typeface="Calibri" panose="020F0502020204030204" pitchFamily="34" charset="0"/>
              </a:rPr>
              <a:t>Attribute visualization</a:t>
            </a:r>
            <a:r>
              <a:rPr lang="en-US" sz="2600" dirty="0">
                <a:latin typeface="Calibri" panose="020F0502020204030204" pitchFamily="34" charset="0"/>
                <a:cs typeface="Calibri" panose="020F0502020204030204" pitchFamily="34" charset="0"/>
              </a:rPr>
              <a:t>: Reveals content patterns across many items (e.g., how search terms influence results).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61</a:t>
            </a:fld>
            <a:endParaRPr lang="en-US" sz="900">
              <a:solidFill>
                <a:schemeClr val="lt1"/>
              </a:solidFill>
            </a:endParaRPr>
          </a:p>
        </p:txBody>
      </p:sp>
    </p:spTree>
    <p:extLst>
      <p:ext uri="{BB962C8B-B14F-4D97-AF65-F5344CB8AC3E}">
        <p14:creationId xmlns:p14="http://schemas.microsoft.com/office/powerpoint/2010/main" val="33959279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Historical Context</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Doyle (1962): </a:t>
            </a:r>
            <a:r>
              <a:rPr lang="en-US" sz="2600" dirty="0">
                <a:latin typeface="Calibri" panose="020F0502020204030204" pitchFamily="34" charset="0"/>
                <a:cs typeface="Calibri" panose="020F0502020204030204" pitchFamily="34" charset="0"/>
              </a:rPr>
              <a:t>Proposed </a:t>
            </a:r>
            <a:r>
              <a:rPr lang="en-US" sz="2600" b="1" dirty="0">
                <a:latin typeface="Calibri" panose="020F0502020204030204" pitchFamily="34" charset="0"/>
                <a:cs typeface="Calibri" panose="020F0502020204030204" pitchFamily="34" charset="0"/>
              </a:rPr>
              <a:t>"semantic road maps" </a:t>
            </a:r>
            <a:r>
              <a:rPr lang="en-US" sz="2600" dirty="0">
                <a:latin typeface="Calibri" panose="020F0502020204030204" pitchFamily="34" charset="0"/>
                <a:cs typeface="Calibri" panose="020F0502020204030204" pitchFamily="34" charset="0"/>
              </a:rPr>
              <a:t>to give users a </a:t>
            </a:r>
            <a:r>
              <a:rPr lang="en-US" sz="2600" b="1" dirty="0">
                <a:latin typeface="Calibri" panose="020F0502020204030204" pitchFamily="34" charset="0"/>
                <a:cs typeface="Calibri" panose="020F0502020204030204" pitchFamily="34" charset="0"/>
              </a:rPr>
              <a:t>visual overview of a database’s content</a:t>
            </a:r>
            <a:r>
              <a:rPr lang="en-US" sz="2600" dirty="0">
                <a:latin typeface="Calibri" panose="020F0502020204030204" pitchFamily="34" charset="0"/>
                <a:cs typeface="Calibri" panose="020F0502020204030204" pitchFamily="34" charset="0"/>
              </a:rPr>
              <a:t>, allowing them to focus queries on specific themes.</a:t>
            </a:r>
          </a:p>
          <a:p>
            <a:r>
              <a:rPr lang="en-US" sz="2600" b="1" dirty="0">
                <a:latin typeface="Calibri" panose="020F0502020204030204" pitchFamily="34" charset="0"/>
                <a:cs typeface="Calibri" panose="020F0502020204030204" pitchFamily="34" charset="0"/>
              </a:rPr>
              <a:t>Miller (1968): </a:t>
            </a:r>
            <a:r>
              <a:rPr lang="en-US" sz="2600" dirty="0">
                <a:latin typeface="Calibri" panose="020F0502020204030204" pitchFamily="34" charset="0"/>
                <a:cs typeface="Calibri" panose="020F0502020204030204" pitchFamily="34" charset="0"/>
              </a:rPr>
              <a:t>Emphasized spatial organization to map database information.</a:t>
            </a:r>
          </a:p>
          <a:p>
            <a:r>
              <a:rPr lang="en-US" sz="2600" b="1" dirty="0" err="1">
                <a:latin typeface="Calibri" panose="020F0502020204030204" pitchFamily="34" charset="0"/>
                <a:cs typeface="Calibri" panose="020F0502020204030204" pitchFamily="34" charset="0"/>
              </a:rPr>
              <a:t>Sammon</a:t>
            </a:r>
            <a:r>
              <a:rPr lang="en-US" sz="2600" b="1" dirty="0">
                <a:latin typeface="Calibri" panose="020F0502020204030204" pitchFamily="34" charset="0"/>
                <a:cs typeface="Calibri" panose="020F0502020204030204" pitchFamily="34" charset="0"/>
              </a:rPr>
              <a:t> (1969): </a:t>
            </a:r>
            <a:r>
              <a:rPr lang="en-US" sz="2600" dirty="0">
                <a:latin typeface="Calibri" panose="020F0502020204030204" pitchFamily="34" charset="0"/>
                <a:cs typeface="Calibri" panose="020F0502020204030204" pitchFamily="34" charset="0"/>
              </a:rPr>
              <a:t>Developed a </a:t>
            </a:r>
            <a:r>
              <a:rPr lang="en-US" sz="2600" b="1" dirty="0">
                <a:latin typeface="Calibri" panose="020F0502020204030204" pitchFamily="34" charset="0"/>
                <a:cs typeface="Calibri" panose="020F0502020204030204" pitchFamily="34" charset="0"/>
              </a:rPr>
              <a:t>non-linear mapping algorithm </a:t>
            </a:r>
            <a:r>
              <a:rPr lang="en-US" sz="2600" dirty="0">
                <a:latin typeface="Calibri" panose="020F0502020204030204" pitchFamily="34" charset="0"/>
                <a:cs typeface="Calibri" panose="020F0502020204030204" pitchFamily="34" charset="0"/>
              </a:rPr>
              <a:t>to reveal document associations, enabling visual </a:t>
            </a:r>
            <a:r>
              <a:rPr lang="en-US" sz="2600" b="1" dirty="0">
                <a:latin typeface="Calibri" panose="020F0502020204030204" pitchFamily="34" charset="0"/>
                <a:cs typeface="Calibri" panose="020F0502020204030204" pitchFamily="34" charset="0"/>
              </a:rPr>
              <a:t>"road maps."</a:t>
            </a:r>
          </a:p>
          <a:p>
            <a:r>
              <a:rPr lang="en-US" sz="2600" dirty="0">
                <a:latin typeface="Calibri" panose="020F0502020204030204" pitchFamily="34" charset="0"/>
                <a:cs typeface="Calibri" panose="020F0502020204030204" pitchFamily="34" charset="0"/>
              </a:rPr>
              <a:t>By the 1990s, technological advancements and the explosion of digital information made visualization a practical and commercially viable field</a:t>
            </a:r>
            <a:r>
              <a:rPr lang="en-US" dirty="0"/>
              <a: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62</a:t>
            </a:fld>
            <a:endParaRPr lang="en-US" sz="900">
              <a:solidFill>
                <a:schemeClr val="lt1"/>
              </a:solidFill>
            </a:endParaRPr>
          </a:p>
        </p:txBody>
      </p:sp>
    </p:spTree>
    <p:extLst>
      <p:ext uri="{BB962C8B-B14F-4D97-AF65-F5344CB8AC3E}">
        <p14:creationId xmlns:p14="http://schemas.microsoft.com/office/powerpoint/2010/main" val="24746361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User-Centric Design</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text emphasizes that interfaces </a:t>
            </a:r>
            <a:r>
              <a:rPr lang="en-US" sz="2600" b="1" dirty="0">
                <a:latin typeface="Calibri" panose="020F0502020204030204" pitchFamily="34" charset="0"/>
                <a:cs typeface="Calibri" panose="020F0502020204030204" pitchFamily="34" charset="0"/>
              </a:rPr>
              <a:t>should</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adapt</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to</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human</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needs</a:t>
            </a:r>
            <a:r>
              <a:rPr lang="en-US" sz="2600" dirty="0">
                <a:latin typeface="Calibri" panose="020F0502020204030204" pitchFamily="34" charset="0"/>
                <a:cs typeface="Calibri" panose="020F0502020204030204" pitchFamily="34" charset="0"/>
              </a:rPr>
              <a:t>, not force users to adapt to technology (per Donald Norman). Traditional text-based interfaces limit the brain’s ability to process information efficiently. Visualization addresses this by:</a:t>
            </a:r>
          </a:p>
          <a:p>
            <a:pPr lvl="1"/>
            <a:r>
              <a:rPr lang="en-US" sz="2600" b="1" dirty="0">
                <a:latin typeface="Calibri" panose="020F0502020204030204" pitchFamily="34" charset="0"/>
                <a:cs typeface="Calibri" panose="020F0502020204030204" pitchFamily="34" charset="0"/>
              </a:rPr>
              <a:t>Reducing time to understand results: </a:t>
            </a:r>
            <a:r>
              <a:rPr lang="en-US" sz="2600" dirty="0">
                <a:latin typeface="Calibri" panose="020F0502020204030204" pitchFamily="34" charset="0"/>
                <a:cs typeface="Calibri" panose="020F0502020204030204" pitchFamily="34" charset="0"/>
              </a:rPr>
              <a:t>Visual summaries help users quickly grasp the scope of search results and identify relevant clusters.</a:t>
            </a:r>
          </a:p>
          <a:p>
            <a:pPr lvl="1"/>
            <a:r>
              <a:rPr lang="en-US" sz="2600" b="1" dirty="0">
                <a:latin typeface="Calibri" panose="020F0502020204030204" pitchFamily="34" charset="0"/>
                <a:cs typeface="Calibri" panose="020F0502020204030204" pitchFamily="34" charset="0"/>
              </a:rPr>
              <a:t>Revealing relationships: </a:t>
            </a:r>
            <a:r>
              <a:rPr lang="en-US" sz="2600" dirty="0">
                <a:latin typeface="Calibri" panose="020F0502020204030204" pitchFamily="34" charset="0"/>
                <a:cs typeface="Calibri" panose="020F0502020204030204" pitchFamily="34" charset="0"/>
              </a:rPr>
              <a:t>Unlike text lists, visual displays show connections between items (e.g., linking researchers and dates in a polio vaccine search).</a:t>
            </a:r>
          </a:p>
          <a:p>
            <a:pPr lvl="1"/>
            <a:r>
              <a:rPr lang="en-US" sz="2600" b="1" dirty="0">
                <a:latin typeface="Calibri" panose="020F0502020204030204" pitchFamily="34" charset="0"/>
                <a:cs typeface="Calibri" panose="020F0502020204030204" pitchFamily="34" charset="0"/>
              </a:rPr>
              <a:t>Simplifying complex actions: </a:t>
            </a:r>
            <a:r>
              <a:rPr lang="en-US" sz="2600" dirty="0">
                <a:latin typeface="Calibri" panose="020F0502020204030204" pitchFamily="34" charset="0"/>
                <a:cs typeface="Calibri" panose="020F0502020204030204" pitchFamily="34" charset="0"/>
              </a:rPr>
              <a:t>Users can perform intuitive actions (e.g., clicking a cluster) to refine searches or explore new topics.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63</a:t>
            </a:fld>
            <a:endParaRPr lang="en-US" sz="900">
              <a:solidFill>
                <a:schemeClr val="lt1"/>
              </a:solidFill>
            </a:endParaRPr>
          </a:p>
        </p:txBody>
      </p:sp>
    </p:spTree>
    <p:extLst>
      <p:ext uri="{BB962C8B-B14F-4D97-AF65-F5344CB8AC3E}">
        <p14:creationId xmlns:p14="http://schemas.microsoft.com/office/powerpoint/2010/main" val="10993305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12713"/>
            <a:ext cx="10977033" cy="6288087"/>
          </a:xfrm>
        </p:spPr>
        <p:txBody>
          <a:bodyPr/>
          <a:lstStyle/>
          <a:p>
            <a:pPr marL="101600" indent="0">
              <a:buNone/>
            </a:pPr>
            <a:r>
              <a:rPr lang="en-US" sz="2400" b="1" dirty="0">
                <a:latin typeface="Calibri" panose="020F0502020204030204" pitchFamily="34" charset="0"/>
                <a:cs typeface="Calibri" panose="020F0502020204030204" pitchFamily="34" charset="0"/>
              </a:rPr>
              <a:t>User Needs and Research</a:t>
            </a:r>
          </a:p>
          <a:p>
            <a:r>
              <a:rPr lang="en-US" sz="2400" dirty="0">
                <a:latin typeface="Calibri" panose="020F0502020204030204" pitchFamily="34" charset="0"/>
                <a:cs typeface="Calibri" panose="020F0502020204030204" pitchFamily="34" charset="0"/>
              </a:rPr>
              <a:t>A study by Fox et al. (1993) involving professionals in human factors, library science, and computer science identified key user needs:</a:t>
            </a:r>
          </a:p>
          <a:p>
            <a:pPr lvl="1"/>
            <a:r>
              <a:rPr lang="en-US" sz="2400" b="1" dirty="0">
                <a:latin typeface="Calibri" panose="020F0502020204030204" pitchFamily="34" charset="0"/>
                <a:cs typeface="Calibri" panose="020F0502020204030204" pitchFamily="34" charset="0"/>
              </a:rPr>
              <a:t>Pattern exploration: </a:t>
            </a:r>
            <a:r>
              <a:rPr lang="en-US" sz="2400" dirty="0">
                <a:latin typeface="Calibri" panose="020F0502020204030204" pitchFamily="34" charset="0"/>
                <a:cs typeface="Calibri" panose="020F0502020204030204" pitchFamily="34" charset="0"/>
              </a:rPr>
              <a:t>Users want visual representations of document patterns and relationships.</a:t>
            </a:r>
          </a:p>
          <a:p>
            <a:pPr lvl="1"/>
            <a:r>
              <a:rPr lang="en-US" sz="2400" b="1" dirty="0">
                <a:latin typeface="Calibri" panose="020F0502020204030204" pitchFamily="34" charset="0"/>
                <a:cs typeface="Calibri" panose="020F0502020204030204" pitchFamily="34" charset="0"/>
              </a:rPr>
              <a:t>Customizable focus: </a:t>
            </a:r>
            <a:r>
              <a:rPr lang="en-US" sz="2400" dirty="0">
                <a:latin typeface="Calibri" panose="020F0502020204030204" pitchFamily="34" charset="0"/>
                <a:cs typeface="Calibri" panose="020F0502020204030204" pitchFamily="34" charset="0"/>
              </a:rPr>
              <a:t>Interfaces should let users focus on specific areas of interest and explore emerging topics.</a:t>
            </a:r>
          </a:p>
          <a:p>
            <a:pPr lvl="1"/>
            <a:r>
              <a:rPr lang="en-US" sz="2400" b="1" dirty="0">
                <a:latin typeface="Calibri" panose="020F0502020204030204" pitchFamily="34" charset="0"/>
                <a:cs typeface="Calibri" panose="020F0502020204030204" pitchFamily="34" charset="0"/>
              </a:rPr>
              <a:t>Trend identification: </a:t>
            </a:r>
            <a:r>
              <a:rPr lang="en-US" sz="2400" dirty="0">
                <a:latin typeface="Calibri" panose="020F0502020204030204" pitchFamily="34" charset="0"/>
                <a:cs typeface="Calibri" panose="020F0502020204030204" pitchFamily="34" charset="0"/>
              </a:rPr>
              <a:t>Visual tools should highlight trends and new areas of interest.</a:t>
            </a:r>
          </a:p>
          <a:p>
            <a:pPr marL="101600" indent="0">
              <a:buNone/>
            </a:pPr>
            <a:r>
              <a:rPr lang="en-US" sz="2400" b="1" dirty="0">
                <a:latin typeface="Calibri" panose="020F0502020204030204" pitchFamily="34" charset="0"/>
                <a:cs typeface="Calibri" panose="020F0502020204030204" pitchFamily="34" charset="0"/>
              </a:rPr>
              <a:t>Challenges with Text-Based Results</a:t>
            </a:r>
          </a:p>
          <a:p>
            <a:r>
              <a:rPr lang="en-US" sz="2400" dirty="0">
                <a:latin typeface="Calibri" panose="020F0502020204030204" pitchFamily="34" charset="0"/>
                <a:cs typeface="Calibri" panose="020F0502020204030204" pitchFamily="34" charset="0"/>
              </a:rPr>
              <a:t>Traditional IR systems present search results as ranked text lists, which are:</a:t>
            </a:r>
          </a:p>
          <a:p>
            <a:pPr lvl="1"/>
            <a:r>
              <a:rPr lang="en-US" sz="2400" b="1" dirty="0">
                <a:latin typeface="Calibri" panose="020F0502020204030204" pitchFamily="34" charset="0"/>
                <a:cs typeface="Calibri" panose="020F0502020204030204" pitchFamily="34" charset="0"/>
              </a:rPr>
              <a:t>Hard to navigate: </a:t>
            </a:r>
            <a:r>
              <a:rPr lang="en-US" sz="2400" dirty="0">
                <a:latin typeface="Calibri" panose="020F0502020204030204" pitchFamily="34" charset="0"/>
                <a:cs typeface="Calibri" panose="020F0502020204030204" pitchFamily="34" charset="0"/>
              </a:rPr>
              <a:t>Users must read through long lists to understand results.</a:t>
            </a:r>
          </a:p>
          <a:p>
            <a:pPr lvl="1"/>
            <a:r>
              <a:rPr lang="en-US" sz="2400" b="1" dirty="0">
                <a:latin typeface="Calibri" panose="020F0502020204030204" pitchFamily="34" charset="0"/>
                <a:cs typeface="Calibri" panose="020F0502020204030204" pitchFamily="34" charset="0"/>
              </a:rPr>
              <a:t>Limited in showing relationships: </a:t>
            </a:r>
            <a:r>
              <a:rPr lang="en-US" sz="2400" dirty="0">
                <a:latin typeface="Calibri" panose="020F0502020204030204" pitchFamily="34" charset="0"/>
                <a:cs typeface="Calibri" panose="020F0502020204030204" pitchFamily="34" charset="0"/>
              </a:rPr>
              <a:t>Text lists can only sort by one attribute (e.g., relevance), missing complex inter-item connections.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64</a:t>
            </a:fld>
            <a:endParaRPr lang="en-US" sz="900">
              <a:solidFill>
                <a:schemeClr val="lt1"/>
              </a:solidFill>
            </a:endParaRPr>
          </a:p>
        </p:txBody>
      </p:sp>
    </p:spTree>
    <p:extLst>
      <p:ext uri="{BB962C8B-B14F-4D97-AF65-F5344CB8AC3E}">
        <p14:creationId xmlns:p14="http://schemas.microsoft.com/office/powerpoint/2010/main" val="3634749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Cognition and Perception</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The shift in user-machine interfaces from basic typewriter-like interactions to more complex systems like WIMP (windows, icons, menus, pointer) interfaces, which handle </a:t>
            </a:r>
            <a:r>
              <a:rPr lang="en-US" sz="2600" b="1" dirty="0">
                <a:effectLst/>
                <a:latin typeface="Calibri" panose="020F0502020204030204" pitchFamily="34" charset="0"/>
                <a:cs typeface="Calibri" panose="020F0502020204030204" pitchFamily="34" charset="0"/>
              </a:rPr>
              <a:t>multiple tasks simultaneously</a:t>
            </a:r>
            <a:r>
              <a:rPr lang="en-US" sz="2600" dirty="0">
                <a:effectLst/>
                <a:latin typeface="Calibri" panose="020F0502020204030204" pitchFamily="34" charset="0"/>
                <a:cs typeface="Calibri" panose="020F0502020204030204" pitchFamily="34" charset="0"/>
              </a:rPr>
              <a:t>.</a:t>
            </a:r>
          </a:p>
          <a:p>
            <a:r>
              <a:rPr lang="en-US" sz="2600" dirty="0">
                <a:effectLst/>
                <a:latin typeface="Calibri" panose="020F0502020204030204" pitchFamily="34" charset="0"/>
                <a:cs typeface="Calibri" panose="020F0502020204030204" pitchFamily="34" charset="0"/>
              </a:rPr>
              <a:t>As computer displays became common, the focus turned to representing information visually in ways that align with human cognitive processes. </a:t>
            </a:r>
          </a:p>
          <a:p>
            <a:r>
              <a:rPr lang="en-US" sz="2600" dirty="0">
                <a:effectLst/>
                <a:latin typeface="Calibri" panose="020F0502020204030204" pitchFamily="34" charset="0"/>
                <a:cs typeface="Calibri" panose="020F0502020204030204" pitchFamily="34" charset="0"/>
              </a:rPr>
              <a:t>The goal is to reduce the mental effort (cognitive overhead) users spend finding and understanding information by leveraging human perception—particularly vision, but also other senses like audio and touch.</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65</a:t>
            </a:fld>
            <a:endParaRPr lang="en-US" sz="900">
              <a:solidFill>
                <a:schemeClr val="lt1"/>
              </a:solidFill>
            </a:endParaRPr>
          </a:p>
        </p:txBody>
      </p:sp>
    </p:spTree>
    <p:extLst>
      <p:ext uri="{BB962C8B-B14F-4D97-AF65-F5344CB8AC3E}">
        <p14:creationId xmlns:p14="http://schemas.microsoft.com/office/powerpoint/2010/main" val="1550952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Key Concepts in Human-Computer Interaction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Historical Context and Interface Evolution</a:t>
            </a:r>
          </a:p>
          <a:p>
            <a:pPr lvl="1"/>
            <a:r>
              <a:rPr lang="en-US" sz="2600" dirty="0">
                <a:effectLst/>
                <a:latin typeface="Calibri" panose="020F0502020204030204" pitchFamily="34" charset="0"/>
                <a:cs typeface="Calibri" panose="020F0502020204030204" pitchFamily="34" charset="0"/>
              </a:rPr>
              <a:t>Early interfaces treated displays as digital paper, focusing on operational consistency.</a:t>
            </a:r>
          </a:p>
          <a:p>
            <a:pPr lvl="1"/>
            <a:r>
              <a:rPr lang="en-US" sz="2600" dirty="0">
                <a:effectLst/>
                <a:latin typeface="Calibri" panose="020F0502020204030204" pitchFamily="34" charset="0"/>
                <a:cs typeface="Calibri" panose="020F0502020204030204" pitchFamily="34" charset="0"/>
              </a:rPr>
              <a:t>WIMP interfaces introduced complexity by allowing parallel tasks, requiring better ways to represent what’s happening in the computer environment.</a:t>
            </a:r>
          </a:p>
          <a:p>
            <a:pPr lvl="1"/>
            <a:r>
              <a:rPr lang="en-US" sz="2600" dirty="0">
                <a:effectLst/>
                <a:latin typeface="Calibri" panose="020F0502020204030204" pitchFamily="34" charset="0"/>
                <a:cs typeface="Calibri" panose="020F0502020204030204" pitchFamily="34" charset="0"/>
              </a:rPr>
              <a:t>Advances in technology and human information processing research now aim to optimize information flow through enhanced visualization and multisensory feedback.</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66</a:t>
            </a:fld>
            <a:endParaRPr lang="en-US" sz="900">
              <a:solidFill>
                <a:schemeClr val="lt1"/>
              </a:solidFill>
            </a:endParaRPr>
          </a:p>
        </p:txBody>
      </p:sp>
    </p:spTree>
    <p:extLst>
      <p:ext uri="{BB962C8B-B14F-4D97-AF65-F5344CB8AC3E}">
        <p14:creationId xmlns:p14="http://schemas.microsoft.com/office/powerpoint/2010/main" val="36904663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Key Concepts in Human-Computer Interaction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Multisensory Interfaces</a:t>
            </a:r>
          </a:p>
          <a:p>
            <a:pPr lvl="1"/>
            <a:r>
              <a:rPr lang="en-US" sz="2600" dirty="0">
                <a:effectLst/>
                <a:latin typeface="Calibri" panose="020F0502020204030204" pitchFamily="34" charset="0"/>
                <a:cs typeface="Calibri" panose="020F0502020204030204" pitchFamily="34" charset="0"/>
              </a:rPr>
              <a:t>Audio: Historically used for alerts (e.g., beeps for errors), audio is now evolving into speech-based input/output. Researchers are exploring using pitch and sound to convey information (e.g., higher pitch for more relevant data).</a:t>
            </a:r>
          </a:p>
          <a:p>
            <a:pPr lvl="1"/>
            <a:r>
              <a:rPr lang="en-US" sz="2600" dirty="0">
                <a:effectLst/>
                <a:latin typeface="Calibri" panose="020F0502020204030204" pitchFamily="34" charset="0"/>
                <a:cs typeface="Calibri" panose="020F0502020204030204" pitchFamily="34" charset="0"/>
              </a:rPr>
              <a:t>Tactile (Touch): Virtual Reality (VR) experiments, like those in medical training, use tactile feedback to simulate real-world sensations.</a:t>
            </a:r>
          </a:p>
          <a:p>
            <a:pPr lvl="1"/>
            <a:r>
              <a:rPr lang="en-US" sz="2600" dirty="0">
                <a:effectLst/>
                <a:latin typeface="Calibri" panose="020F0502020204030204" pitchFamily="34" charset="0"/>
                <a:cs typeface="Calibri" panose="020F0502020204030204" pitchFamily="34" charset="0"/>
              </a:rPr>
              <a:t>Olfactory and Taste: These senses currently have no practical application in computer interfaces or information processing.</a:t>
            </a:r>
          </a:p>
          <a:p>
            <a:endParaRPr lang="en-US" sz="2600"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67</a:t>
            </a:fld>
            <a:endParaRPr lang="en-US" sz="900">
              <a:solidFill>
                <a:schemeClr val="lt1"/>
              </a:solidFill>
            </a:endParaRPr>
          </a:p>
        </p:txBody>
      </p:sp>
    </p:spTree>
    <p:extLst>
      <p:ext uri="{BB962C8B-B14F-4D97-AF65-F5344CB8AC3E}">
        <p14:creationId xmlns:p14="http://schemas.microsoft.com/office/powerpoint/2010/main" val="14683072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Key Concepts in Human-Computer Interaction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effectLst/>
                <a:latin typeface="Calibri" panose="020F0502020204030204" pitchFamily="34" charset="0"/>
                <a:cs typeface="Calibri" panose="020F0502020204030204" pitchFamily="34" charset="0"/>
              </a:rPr>
              <a:t>Focus on Information Visualization</a:t>
            </a:r>
          </a:p>
          <a:p>
            <a:pPr lvl="1"/>
            <a:r>
              <a:rPr lang="en-US" sz="2600" dirty="0">
                <a:effectLst/>
                <a:latin typeface="Calibri" panose="020F0502020204030204" pitchFamily="34" charset="0"/>
                <a:cs typeface="Calibri" panose="020F0502020204030204" pitchFamily="34" charset="0"/>
              </a:rPr>
              <a:t>For Information Retrieval Systems, the primary interest is in visualizing data effectively, as vision is the sense with the highest capacity for information transfer in humans</a:t>
            </a:r>
          </a:p>
          <a:p>
            <a:pPr lvl="1"/>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68</a:t>
            </a:fld>
            <a:endParaRPr lang="en-US" sz="900">
              <a:solidFill>
                <a:schemeClr val="lt1"/>
              </a:solidFill>
            </a:endParaRPr>
          </a:p>
        </p:txBody>
      </p:sp>
    </p:spTree>
    <p:extLst>
      <p:ext uri="{BB962C8B-B14F-4D97-AF65-F5344CB8AC3E}">
        <p14:creationId xmlns:p14="http://schemas.microsoft.com/office/powerpoint/2010/main" val="29985464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Background on Vision and Cognition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Gestalt Psychology: </a:t>
            </a:r>
            <a:r>
              <a:rPr lang="en-US" sz="2600" dirty="0">
                <a:latin typeface="Calibri" panose="020F0502020204030204" pitchFamily="34" charset="0"/>
                <a:cs typeface="Calibri" panose="020F0502020204030204" pitchFamily="34" charset="0"/>
              </a:rPr>
              <a:t>The mind organizes visual input into meaningful wholes using rules:</a:t>
            </a:r>
          </a:p>
          <a:p>
            <a:pPr lvl="1"/>
            <a:r>
              <a:rPr lang="en-US" sz="2600" b="1" dirty="0">
                <a:latin typeface="Calibri" panose="020F0502020204030204" pitchFamily="34" charset="0"/>
                <a:cs typeface="Calibri" panose="020F0502020204030204" pitchFamily="34" charset="0"/>
              </a:rPr>
              <a:t>Proximity</a:t>
            </a:r>
            <a:r>
              <a:rPr lang="en-US" sz="2600" dirty="0">
                <a:latin typeface="Calibri" panose="020F0502020204030204" pitchFamily="34" charset="0"/>
                <a:cs typeface="Calibri" panose="020F0502020204030204" pitchFamily="34" charset="0"/>
              </a:rPr>
              <a:t>: Nearby objects are grouped together.</a:t>
            </a:r>
          </a:p>
          <a:p>
            <a:pPr lvl="1"/>
            <a:r>
              <a:rPr lang="en-US" sz="2600" b="1" dirty="0">
                <a:latin typeface="Calibri" panose="020F0502020204030204" pitchFamily="34" charset="0"/>
                <a:cs typeface="Calibri" panose="020F0502020204030204" pitchFamily="34" charset="0"/>
              </a:rPr>
              <a:t>Similarity</a:t>
            </a:r>
            <a:r>
              <a:rPr lang="en-US" sz="2600" dirty="0">
                <a:latin typeface="Calibri" panose="020F0502020204030204" pitchFamily="34" charset="0"/>
                <a:cs typeface="Calibri" panose="020F0502020204030204" pitchFamily="34" charset="0"/>
              </a:rPr>
              <a:t>: Similar objects are grouped together.</a:t>
            </a:r>
          </a:p>
          <a:p>
            <a:pPr lvl="1"/>
            <a:r>
              <a:rPr lang="en-US" sz="2600" b="1" dirty="0">
                <a:latin typeface="Calibri" panose="020F0502020204030204" pitchFamily="34" charset="0"/>
                <a:cs typeface="Calibri" panose="020F0502020204030204" pitchFamily="34" charset="0"/>
              </a:rPr>
              <a:t>Continuity</a:t>
            </a:r>
            <a:r>
              <a:rPr lang="en-US" sz="2600" dirty="0">
                <a:latin typeface="Calibri" panose="020F0502020204030204" pitchFamily="34" charset="0"/>
                <a:cs typeface="Calibri" panose="020F0502020204030204" pitchFamily="34" charset="0"/>
              </a:rPr>
              <a:t>: Smooth, continuous patterns are preferred (e.g., a circle with a line through it is seen as a circle and a line, not two half-circles).</a:t>
            </a:r>
          </a:p>
          <a:p>
            <a:pPr lvl="1"/>
            <a:r>
              <a:rPr lang="en-US" sz="2600" b="1" dirty="0">
                <a:latin typeface="Calibri" panose="020F0502020204030204" pitchFamily="34" charset="0"/>
                <a:cs typeface="Calibri" panose="020F0502020204030204" pitchFamily="34" charset="0"/>
              </a:rPr>
              <a:t>Closure</a:t>
            </a:r>
            <a:r>
              <a:rPr lang="en-US" sz="2600" dirty="0">
                <a:latin typeface="Calibri" panose="020F0502020204030204" pitchFamily="34" charset="0"/>
                <a:cs typeface="Calibri" panose="020F0502020204030204" pitchFamily="34" charset="0"/>
              </a:rPr>
              <a:t>: Gaps are mentally filled to form a whole (e.g., a dashed square is still perceived as a square).</a:t>
            </a:r>
          </a:p>
          <a:p>
            <a:pPr lvl="1"/>
            <a:r>
              <a:rPr lang="en-US" sz="2600" b="1" dirty="0">
                <a:latin typeface="Calibri" panose="020F0502020204030204" pitchFamily="34" charset="0"/>
                <a:cs typeface="Calibri" panose="020F0502020204030204" pitchFamily="34" charset="0"/>
              </a:rPr>
              <a:t>Connectedness</a:t>
            </a:r>
            <a:r>
              <a:rPr lang="en-US" sz="2600" dirty="0">
                <a:latin typeface="Calibri" panose="020F0502020204030204" pitchFamily="34" charset="0"/>
                <a:cs typeface="Calibri" panose="020F0502020204030204" pitchFamily="34" charset="0"/>
              </a:rPr>
              <a:t>: Linked elements are seen as a single unit.</a:t>
            </a:r>
          </a:p>
          <a:p>
            <a:endParaRPr lang="en-US"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69</a:t>
            </a:fld>
            <a:endParaRPr lang="en-US" sz="900">
              <a:solidFill>
                <a:schemeClr val="lt1"/>
              </a:solidFill>
            </a:endParaRPr>
          </a:p>
        </p:txBody>
      </p:sp>
    </p:spTree>
    <p:extLst>
      <p:ext uri="{BB962C8B-B14F-4D97-AF65-F5344CB8AC3E}">
        <p14:creationId xmlns:p14="http://schemas.microsoft.com/office/powerpoint/2010/main" val="15353164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Aspects of the Visualization Process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b="1" dirty="0" err="1">
                <a:effectLst/>
                <a:latin typeface="Calibri" panose="020F0502020204030204" pitchFamily="34" charset="0"/>
                <a:cs typeface="Calibri" panose="020F0502020204030204" pitchFamily="34" charset="0"/>
              </a:rPr>
              <a:t>Preattentive</a:t>
            </a:r>
            <a:r>
              <a:rPr lang="en-US" sz="2600" b="1" dirty="0">
                <a:effectLst/>
                <a:latin typeface="Calibri" panose="020F0502020204030204" pitchFamily="34" charset="0"/>
                <a:cs typeface="Calibri" panose="020F0502020204030204" pitchFamily="34" charset="0"/>
              </a:rPr>
              <a:t> Processing</a:t>
            </a:r>
          </a:p>
          <a:p>
            <a:r>
              <a:rPr lang="en-US" sz="2600" b="1" dirty="0">
                <a:effectLst/>
                <a:latin typeface="Calibri" panose="020F0502020204030204" pitchFamily="34" charset="0"/>
                <a:cs typeface="Calibri" panose="020F0502020204030204" pitchFamily="34" charset="0"/>
              </a:rPr>
              <a:t>Rotated Objects and Symmetry</a:t>
            </a:r>
          </a:p>
          <a:p>
            <a:r>
              <a:rPr lang="en-US" sz="2600" b="1" dirty="0">
                <a:effectLst/>
                <a:latin typeface="Calibri" panose="020F0502020204030204" pitchFamily="34" charset="0"/>
                <a:cs typeface="Calibri" panose="020F0502020204030204" pitchFamily="34" charset="0"/>
              </a:rPr>
              <a:t>Optical Illusions and Color</a:t>
            </a:r>
          </a:p>
          <a:p>
            <a:r>
              <a:rPr lang="en-US" sz="2600" b="1" dirty="0">
                <a:effectLst/>
                <a:latin typeface="Calibri" panose="020F0502020204030204" pitchFamily="34" charset="0"/>
                <a:cs typeface="Calibri" panose="020F0502020204030204" pitchFamily="34" charset="0"/>
              </a:rPr>
              <a:t>Configural Effects</a:t>
            </a:r>
          </a:p>
          <a:p>
            <a:r>
              <a:rPr lang="en-US" sz="2600" b="1" dirty="0">
                <a:effectLst/>
                <a:latin typeface="Calibri" panose="020F0502020204030204" pitchFamily="34" charset="0"/>
                <a:cs typeface="Calibri" panose="020F0502020204030204" pitchFamily="34" charset="0"/>
              </a:rPr>
              <a:t>Spatial Frequency</a:t>
            </a:r>
          </a:p>
          <a:p>
            <a:r>
              <a:rPr lang="en-US" sz="2600" b="1" dirty="0">
                <a:effectLst/>
                <a:latin typeface="Calibri" panose="020F0502020204030204" pitchFamily="34" charset="0"/>
                <a:cs typeface="Calibri" panose="020F0502020204030204" pitchFamily="34" charset="0"/>
              </a:rPr>
              <a:t>Natural Visual Processing</a:t>
            </a:r>
          </a:p>
          <a:p>
            <a:r>
              <a:rPr lang="en-US" sz="2600" b="1" dirty="0">
                <a:effectLst/>
                <a:latin typeface="Calibri" panose="020F0502020204030204" pitchFamily="34" charset="0"/>
                <a:cs typeface="Calibri" panose="020F0502020204030204" pitchFamily="34" charset="0"/>
              </a:rPr>
              <a:t>Challenges in Visualization</a:t>
            </a:r>
          </a:p>
          <a:p>
            <a:endParaRPr lang="en-US" sz="2600" dirty="0">
              <a:effectLst/>
              <a:latin typeface="Calibri" panose="020F0502020204030204" pitchFamily="34" charset="0"/>
              <a:cs typeface="Calibri" panose="020F0502020204030204" pitchFamily="34" charset="0"/>
            </a:endParaRPr>
          </a:p>
          <a:p>
            <a:endParaRPr lang="en-US" sz="2600"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70</a:t>
            </a:fld>
            <a:endParaRPr lang="en-US" sz="900">
              <a:solidFill>
                <a:schemeClr val="lt1"/>
              </a:solidFill>
            </a:endParaRPr>
          </a:p>
        </p:txBody>
      </p:sp>
    </p:spTree>
    <p:extLst>
      <p:ext uri="{BB962C8B-B14F-4D97-AF65-F5344CB8AC3E}">
        <p14:creationId xmlns:p14="http://schemas.microsoft.com/office/powerpoint/2010/main" val="20141679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9CF8067-DF76-8E03-23C5-DFF26B23628F}"/>
              </a:ext>
            </a:extLst>
          </p:cNvPr>
          <p:cNvSpPr>
            <a:spLocks noGrp="1"/>
          </p:cNvSpPr>
          <p:nvPr>
            <p:ph type="title"/>
          </p:nvPr>
        </p:nvSpPr>
        <p:spPr>
          <a:xfrm>
            <a:off x="6645038" y="113072"/>
            <a:ext cx="4707835" cy="738785"/>
          </a:xfrm>
        </p:spPr>
        <p:txBody>
          <a:bodyPr/>
          <a:lstStyle/>
          <a:p>
            <a:r>
              <a:rPr lang="en-US" sz="3600" b="1" dirty="0" err="1">
                <a:effectLst/>
                <a:latin typeface="Calibri" panose="020F0502020204030204" pitchFamily="34" charset="0"/>
                <a:cs typeface="Calibri" panose="020F0502020204030204" pitchFamily="34" charset="0"/>
              </a:rPr>
              <a:t>Preattentive</a:t>
            </a:r>
            <a:r>
              <a:rPr lang="en-US" sz="3600" b="1" dirty="0">
                <a:effectLst/>
                <a:latin typeface="Calibri" panose="020F0502020204030204" pitchFamily="34" charset="0"/>
                <a:cs typeface="Calibri" panose="020F0502020204030204" pitchFamily="34" charset="0"/>
              </a:rPr>
              <a:t> Processing</a:t>
            </a:r>
            <a:endParaRPr lang="en-US" dirty="0"/>
          </a:p>
        </p:txBody>
      </p:sp>
      <p:sp>
        <p:nvSpPr>
          <p:cNvPr id="10" name="Content Placeholder 9">
            <a:extLst>
              <a:ext uri="{FF2B5EF4-FFF2-40B4-BE49-F238E27FC236}">
                <a16:creationId xmlns:a16="http://schemas.microsoft.com/office/drawing/2014/main" id="{352CD2C7-3B24-5544-D906-F1306BA2B67D}"/>
              </a:ext>
            </a:extLst>
          </p:cNvPr>
          <p:cNvSpPr>
            <a:spLocks noGrp="1"/>
          </p:cNvSpPr>
          <p:nvPr>
            <p:ph sz="quarter" idx="13"/>
          </p:nvPr>
        </p:nvSpPr>
        <p:spPr>
          <a:xfrm>
            <a:off x="609600" y="1979958"/>
            <a:ext cx="5322627" cy="4438650"/>
          </a:xfrm>
        </p:spPr>
        <p:txBody>
          <a:bodyPr/>
          <a:lstStyle/>
          <a:p>
            <a:r>
              <a:rPr lang="en-US" sz="2400" dirty="0" err="1">
                <a:latin typeface="Calibri" panose="020F0502020204030204" pitchFamily="34" charset="0"/>
                <a:cs typeface="Calibri" panose="020F0502020204030204" pitchFamily="34" charset="0"/>
              </a:rPr>
              <a:t>Preattentive</a:t>
            </a:r>
            <a:r>
              <a:rPr lang="en-US" sz="2400" dirty="0">
                <a:latin typeface="Calibri" panose="020F0502020204030204" pitchFamily="34" charset="0"/>
                <a:cs typeface="Calibri" panose="020F0502020204030204" pitchFamily="34" charset="0"/>
              </a:rPr>
              <a:t> processes are automatic, low-level, and preconscious. They detect basic visual features like </a:t>
            </a:r>
            <a:r>
              <a:rPr lang="en-US" sz="2400" b="1" dirty="0">
                <a:latin typeface="Calibri" panose="020F0502020204030204" pitchFamily="34" charset="0"/>
                <a:cs typeface="Calibri" panose="020F0502020204030204" pitchFamily="34" charset="0"/>
              </a:rPr>
              <a:t>borders or orientation changes quickly</a:t>
            </a:r>
            <a:r>
              <a:rPr lang="en-US" sz="2400" dirty="0">
                <a:latin typeface="Calibri" panose="020F0502020204030204" pitchFamily="34" charset="0"/>
                <a:cs typeface="Calibri" panose="020F0502020204030204" pitchFamily="34" charset="0"/>
              </a:rPr>
              <a:t>.</a:t>
            </a:r>
          </a:p>
          <a:p>
            <a:r>
              <a:rPr lang="en-US" sz="2400" b="1" dirty="0">
                <a:latin typeface="Calibri" panose="020F0502020204030204" pitchFamily="34" charset="0"/>
                <a:cs typeface="Calibri" panose="020F0502020204030204" pitchFamily="34" charset="0"/>
              </a:rPr>
              <a:t>Implication: </a:t>
            </a:r>
            <a:r>
              <a:rPr lang="en-US" sz="2400" dirty="0">
                <a:latin typeface="Calibri" panose="020F0502020204030204" pitchFamily="34" charset="0"/>
                <a:cs typeface="Calibri" panose="020F0502020204030204" pitchFamily="34" charset="0"/>
              </a:rPr>
              <a:t>Information encoded in orientations (e.g., grouping by direction) is easier to detect than using different shapes, as it leverages the retina’s feature detectors.</a:t>
            </a:r>
          </a:p>
        </p:txBody>
      </p:sp>
      <p:sp>
        <p:nvSpPr>
          <p:cNvPr id="11" name="Content Placeholder 10">
            <a:extLst>
              <a:ext uri="{FF2B5EF4-FFF2-40B4-BE49-F238E27FC236}">
                <a16:creationId xmlns:a16="http://schemas.microsoft.com/office/drawing/2014/main" id="{36DBCFFF-D809-2A82-5642-708DE586A913}"/>
              </a:ext>
            </a:extLst>
          </p:cNvPr>
          <p:cNvSpPr>
            <a:spLocks noGrp="1"/>
          </p:cNvSpPr>
          <p:nvPr>
            <p:ph sz="quarter" idx="14"/>
          </p:nvPr>
        </p:nvSpPr>
        <p:spPr>
          <a:xfrm>
            <a:off x="6337643" y="786025"/>
            <a:ext cx="5322627" cy="6346677"/>
          </a:xfrm>
        </p:spPr>
        <p:txBody>
          <a:bodyPr/>
          <a:lstStyle/>
          <a:p>
            <a:r>
              <a:rPr lang="en-US" sz="2400" dirty="0">
                <a:latin typeface="Calibri" panose="020F0502020204030204" pitchFamily="34" charset="0"/>
                <a:cs typeface="Calibri" panose="020F0502020204030204" pitchFamily="34" charset="0"/>
              </a:rPr>
              <a:t>The figure shows three groups of shapes: </a:t>
            </a:r>
            <a:r>
              <a:rPr lang="en-US" sz="2400" b="1" dirty="0">
                <a:latin typeface="Calibri" panose="020F0502020204030204" pitchFamily="34" charset="0"/>
                <a:cs typeface="Calibri" panose="020F0502020204030204" pitchFamily="34" charset="0"/>
              </a:rPr>
              <a:t>upward arrows (left), left-right arrows (middle), and "C" shapes (right). </a:t>
            </a:r>
          </a:p>
          <a:p>
            <a:r>
              <a:rPr lang="en-US" sz="2400" dirty="0">
                <a:latin typeface="Calibri" panose="020F0502020204030204" pitchFamily="34" charset="0"/>
                <a:cs typeface="Calibri" panose="020F0502020204030204" pitchFamily="34" charset="0"/>
              </a:rPr>
              <a:t>The </a:t>
            </a:r>
            <a:r>
              <a:rPr lang="en-US" sz="2400" b="1" dirty="0">
                <a:latin typeface="Calibri" panose="020F0502020204030204" pitchFamily="34" charset="0"/>
                <a:cs typeface="Calibri" panose="020F0502020204030204" pitchFamily="34" charset="0"/>
              </a:rPr>
              <a:t>visual system quickly detects </a:t>
            </a:r>
            <a:r>
              <a:rPr lang="en-US" sz="2400" dirty="0">
                <a:latin typeface="Calibri" panose="020F0502020204030204" pitchFamily="34" charset="0"/>
                <a:cs typeface="Calibri" panose="020F0502020204030204" pitchFamily="34" charset="0"/>
              </a:rPr>
              <a:t>the boundary between the upward and left-right arrows due to orientation differences (</a:t>
            </a:r>
            <a:r>
              <a:rPr lang="en-US" sz="2400" dirty="0" err="1">
                <a:latin typeface="Calibri" panose="020F0502020204030204" pitchFamily="34" charset="0"/>
                <a:cs typeface="Calibri" panose="020F0502020204030204" pitchFamily="34" charset="0"/>
              </a:rPr>
              <a:t>preattentive</a:t>
            </a:r>
            <a:r>
              <a:rPr lang="en-US" sz="2400" dirty="0">
                <a:latin typeface="Calibri" panose="020F0502020204030204" pitchFamily="34" charset="0"/>
                <a:cs typeface="Calibri" panose="020F0502020204030204" pitchFamily="34" charset="0"/>
              </a:rPr>
              <a:t>).</a:t>
            </a:r>
          </a:p>
          <a:p>
            <a:r>
              <a:rPr lang="en-US" sz="2400" dirty="0">
                <a:latin typeface="Calibri" panose="020F0502020204030204" pitchFamily="34" charset="0"/>
                <a:cs typeface="Calibri" panose="020F0502020204030204" pitchFamily="34" charset="0"/>
              </a:rPr>
              <a:t> Detecting the boundary between left-right arrows and "C" shapes requires </a:t>
            </a:r>
            <a:r>
              <a:rPr lang="en-US" sz="2400" b="1" dirty="0">
                <a:latin typeface="Calibri" panose="020F0502020204030204" pitchFamily="34" charset="0"/>
                <a:cs typeface="Calibri" panose="020F0502020204030204" pitchFamily="34" charset="0"/>
              </a:rPr>
              <a:t>more conscious effort because it involves different objects, not just orientations.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71</a:t>
            </a:fld>
            <a:endParaRPr lang="en-US" sz="900">
              <a:solidFill>
                <a:schemeClr val="lt1"/>
              </a:solidFill>
            </a:endParaRPr>
          </a:p>
        </p:txBody>
      </p:sp>
      <p:pic>
        <p:nvPicPr>
          <p:cNvPr id="13" name="Picture 12">
            <a:extLst>
              <a:ext uri="{FF2B5EF4-FFF2-40B4-BE49-F238E27FC236}">
                <a16:creationId xmlns:a16="http://schemas.microsoft.com/office/drawing/2014/main" id="{B265467D-63AA-5A88-90A9-7FCA3C384F21}"/>
              </a:ext>
            </a:extLst>
          </p:cNvPr>
          <p:cNvPicPr>
            <a:picLocks noChangeAspect="1"/>
          </p:cNvPicPr>
          <p:nvPr/>
        </p:nvPicPr>
        <p:blipFill>
          <a:blip r:embed="rId2"/>
          <a:stretch>
            <a:fillRect/>
          </a:stretch>
        </p:blipFill>
        <p:spPr>
          <a:xfrm>
            <a:off x="477227" y="185391"/>
            <a:ext cx="5782548" cy="1794567"/>
          </a:xfrm>
          <a:prstGeom prst="rect">
            <a:avLst/>
          </a:prstGeom>
        </p:spPr>
      </p:pic>
    </p:spTree>
    <p:extLst>
      <p:ext uri="{BB962C8B-B14F-4D97-AF65-F5344CB8AC3E}">
        <p14:creationId xmlns:p14="http://schemas.microsoft.com/office/powerpoint/2010/main" val="35923600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EB95A4-4309-30FC-B78E-68DF6F75178E}"/>
              </a:ext>
            </a:extLst>
          </p:cNvPr>
          <p:cNvSpPr>
            <a:spLocks noGrp="1"/>
          </p:cNvSpPr>
          <p:nvPr>
            <p:ph type="title"/>
          </p:nvPr>
        </p:nvSpPr>
        <p:spPr>
          <a:xfrm>
            <a:off x="609600" y="215372"/>
            <a:ext cx="6149009" cy="828237"/>
          </a:xfrm>
        </p:spPr>
        <p:txBody>
          <a:bodyPr/>
          <a:lstStyle/>
          <a:p>
            <a:r>
              <a:rPr lang="en-US" sz="3600" b="1" dirty="0">
                <a:effectLst/>
                <a:latin typeface="Calibri" panose="020F0502020204030204" pitchFamily="34" charset="0"/>
                <a:cs typeface="Calibri" panose="020F0502020204030204" pitchFamily="34" charset="0"/>
              </a:rPr>
              <a:t>Rotated Objects and Symmetry</a:t>
            </a:r>
            <a:endParaRPr lang="en-US" dirty="0"/>
          </a:p>
        </p:txBody>
      </p:sp>
      <p:sp>
        <p:nvSpPr>
          <p:cNvPr id="8" name="Content Placeholder 7">
            <a:extLst>
              <a:ext uri="{FF2B5EF4-FFF2-40B4-BE49-F238E27FC236}">
                <a16:creationId xmlns:a16="http://schemas.microsoft.com/office/drawing/2014/main" id="{A9FCE40C-0692-F984-9C3A-1E6CF47DE983}"/>
              </a:ext>
            </a:extLst>
          </p:cNvPr>
          <p:cNvSpPr>
            <a:spLocks noGrp="1"/>
          </p:cNvSpPr>
          <p:nvPr>
            <p:ph sz="quarter" idx="13"/>
          </p:nvPr>
        </p:nvSpPr>
        <p:spPr>
          <a:xfrm>
            <a:off x="609600" y="974035"/>
            <a:ext cx="5650173" cy="5017190"/>
          </a:xfrm>
        </p:spPr>
        <p:txBody>
          <a:bodyPr/>
          <a:lstStyle/>
          <a:p>
            <a:r>
              <a:rPr lang="en-US" sz="2600" dirty="0">
                <a:latin typeface="Calibri" panose="020F0502020204030204" pitchFamily="34" charset="0"/>
                <a:cs typeface="Calibri" panose="020F0502020204030204" pitchFamily="34" charset="0"/>
              </a:rPr>
              <a:t>Recognizing rotated objects (e.g., a square turned 45 degrees) requires more cognitive effort than upright ones, as symmetry is easier to detect along vertical axes.</a:t>
            </a:r>
          </a:p>
          <a:p>
            <a:r>
              <a:rPr lang="en-US" sz="2600" dirty="0">
                <a:latin typeface="Calibri" panose="020F0502020204030204" pitchFamily="34" charset="0"/>
                <a:cs typeface="Calibri" panose="020F0502020204030204" pitchFamily="34" charset="0"/>
              </a:rPr>
              <a:t>Figure 8.2 (Rotating a Square and Reversing Letters in “REAL”): </a:t>
            </a:r>
          </a:p>
          <a:p>
            <a:r>
              <a:rPr lang="en-US" sz="2600" b="1" dirty="0">
                <a:latin typeface="Calibri" panose="020F0502020204030204" pitchFamily="34" charset="0"/>
                <a:cs typeface="Calibri" panose="020F0502020204030204" pitchFamily="34" charset="0"/>
              </a:rPr>
              <a:t>Implication</a:t>
            </a:r>
            <a:r>
              <a:rPr lang="en-US" sz="2600" dirty="0">
                <a:latin typeface="Calibri" panose="020F0502020204030204" pitchFamily="34" charset="0"/>
                <a:cs typeface="Calibri" panose="020F0502020204030204" pitchFamily="34" charset="0"/>
              </a:rPr>
              <a:t>: Interfaces should use familiar orientations (e.g., vertical/horizontal) to reduce cognitive load.</a:t>
            </a:r>
          </a:p>
        </p:txBody>
      </p:sp>
      <p:sp>
        <p:nvSpPr>
          <p:cNvPr id="9" name="Content Placeholder 8">
            <a:extLst>
              <a:ext uri="{FF2B5EF4-FFF2-40B4-BE49-F238E27FC236}">
                <a16:creationId xmlns:a16="http://schemas.microsoft.com/office/drawing/2014/main" id="{290C4A99-1876-0C43-BD6A-7F573F3D4432}"/>
              </a:ext>
            </a:extLst>
          </p:cNvPr>
          <p:cNvSpPr>
            <a:spLocks noGrp="1"/>
          </p:cNvSpPr>
          <p:nvPr>
            <p:ph sz="quarter" idx="14"/>
          </p:nvPr>
        </p:nvSpPr>
        <p:spPr>
          <a:xfrm>
            <a:off x="6259773" y="215372"/>
            <a:ext cx="5322627" cy="6125793"/>
          </a:xfrm>
        </p:spPr>
        <p:txBody>
          <a:bodyPr/>
          <a:lstStyle/>
          <a:p>
            <a:endParaRPr lang="en-US" dirty="0"/>
          </a:p>
          <a:p>
            <a:endParaRPr lang="en-US" dirty="0"/>
          </a:p>
          <a:p>
            <a:endParaRPr lang="en-US" dirty="0"/>
          </a:p>
          <a:p>
            <a:endParaRPr lang="en-US" dirty="0"/>
          </a:p>
          <a:p>
            <a:r>
              <a:rPr lang="en-US" sz="2600" dirty="0">
                <a:latin typeface="Calibri" panose="020F0502020204030204" pitchFamily="34" charset="0"/>
                <a:cs typeface="Calibri" panose="020F0502020204030204" pitchFamily="34" charset="0"/>
              </a:rPr>
              <a:t>The figure shows a square (left) and a rotated square (right, now a diamond). </a:t>
            </a:r>
          </a:p>
          <a:p>
            <a:r>
              <a:rPr lang="en-US" sz="2600" dirty="0">
                <a:latin typeface="Calibri" panose="020F0502020204030204" pitchFamily="34" charset="0"/>
                <a:cs typeface="Calibri" panose="020F0502020204030204" pitchFamily="34" charset="0"/>
              </a:rPr>
              <a:t>It also shows the word "REAL" with letters reversed. </a:t>
            </a:r>
          </a:p>
          <a:p>
            <a:r>
              <a:rPr lang="en-US" sz="2600" dirty="0">
                <a:latin typeface="Calibri" panose="020F0502020204030204" pitchFamily="34" charset="0"/>
                <a:cs typeface="Calibri" panose="020F0502020204030204" pitchFamily="34" charset="0"/>
              </a:rPr>
              <a:t>The rotated square is harder to recognize as a square, and reversed letters are harder to read because they deviate from familiar orientations.</a:t>
            </a:r>
          </a:p>
          <a:p>
            <a:endParaRPr lang="en-US"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72</a:t>
            </a:fld>
            <a:endParaRPr lang="en-US" sz="900">
              <a:solidFill>
                <a:schemeClr val="lt1"/>
              </a:solidFill>
            </a:endParaRPr>
          </a:p>
        </p:txBody>
      </p:sp>
      <p:pic>
        <p:nvPicPr>
          <p:cNvPr id="11" name="Picture 10">
            <a:extLst>
              <a:ext uri="{FF2B5EF4-FFF2-40B4-BE49-F238E27FC236}">
                <a16:creationId xmlns:a16="http://schemas.microsoft.com/office/drawing/2014/main" id="{BD0FA908-3738-85BB-B608-39077E22D59A}"/>
              </a:ext>
            </a:extLst>
          </p:cNvPr>
          <p:cNvPicPr>
            <a:picLocks noChangeAspect="1"/>
          </p:cNvPicPr>
          <p:nvPr/>
        </p:nvPicPr>
        <p:blipFill>
          <a:blip r:embed="rId2"/>
          <a:stretch>
            <a:fillRect/>
          </a:stretch>
        </p:blipFill>
        <p:spPr>
          <a:xfrm>
            <a:off x="6941246" y="0"/>
            <a:ext cx="4190579" cy="2058138"/>
          </a:xfrm>
          <a:prstGeom prst="rect">
            <a:avLst/>
          </a:prstGeom>
        </p:spPr>
      </p:pic>
    </p:spTree>
    <p:extLst>
      <p:ext uri="{BB962C8B-B14F-4D97-AF65-F5344CB8AC3E}">
        <p14:creationId xmlns:p14="http://schemas.microsoft.com/office/powerpoint/2010/main" val="31977846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798419"/>
          </a:xfrm>
        </p:spPr>
        <p:txBody>
          <a:bodyPr/>
          <a:lstStyle/>
          <a:p>
            <a:r>
              <a:rPr lang="en-US" sz="3600" b="1" dirty="0">
                <a:effectLst/>
                <a:latin typeface="Calibri" panose="020F0502020204030204" pitchFamily="34" charset="0"/>
                <a:cs typeface="Calibri" panose="020F0502020204030204" pitchFamily="34" charset="0"/>
              </a:rPr>
              <a:t>Optical Illusions and Color</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904461"/>
            <a:ext cx="10977033" cy="5246957"/>
          </a:xfrm>
        </p:spPr>
        <p:txBody>
          <a:bodyPr/>
          <a:lstStyle/>
          <a:p>
            <a:r>
              <a:rPr lang="en-US" sz="2500" dirty="0">
                <a:latin typeface="Calibri" panose="020F0502020204030204" pitchFamily="34" charset="0"/>
                <a:cs typeface="Calibri" panose="020F0502020204030204" pitchFamily="34" charset="0"/>
              </a:rPr>
              <a:t>A light object on a dark background </a:t>
            </a:r>
            <a:r>
              <a:rPr lang="en-US" sz="2500" b="1" dirty="0">
                <a:latin typeface="Calibri" panose="020F0502020204030204" pitchFamily="34" charset="0"/>
                <a:cs typeface="Calibri" panose="020F0502020204030204" pitchFamily="34" charset="0"/>
              </a:rPr>
              <a:t>appears larger</a:t>
            </a:r>
            <a:r>
              <a:rPr lang="en-US" sz="2500" dirty="0">
                <a:latin typeface="Calibri" panose="020F0502020204030204" pitchFamily="34" charset="0"/>
                <a:cs typeface="Calibri" panose="020F0502020204030204" pitchFamily="34" charset="0"/>
              </a:rPr>
              <a:t> than a dark object on a light background. Small objects in displays should use bright colors to </a:t>
            </a:r>
            <a:r>
              <a:rPr lang="en-US" sz="2500" b="1" dirty="0">
                <a:latin typeface="Calibri" panose="020F0502020204030204" pitchFamily="34" charset="0"/>
                <a:cs typeface="Calibri" panose="020F0502020204030204" pitchFamily="34" charset="0"/>
              </a:rPr>
              <a:t>stand out</a:t>
            </a:r>
            <a:r>
              <a:rPr lang="en-US" sz="2500" dirty="0">
                <a:latin typeface="Calibri" panose="020F0502020204030204" pitchFamily="34" charset="0"/>
                <a:cs typeface="Calibri" panose="020F0502020204030204" pitchFamily="34" charset="0"/>
              </a:rPr>
              <a:t>.</a:t>
            </a:r>
          </a:p>
          <a:p>
            <a:r>
              <a:rPr lang="en-US" sz="2500" b="1" dirty="0">
                <a:latin typeface="Calibri" panose="020F0502020204030204" pitchFamily="34" charset="0"/>
                <a:cs typeface="Calibri" panose="020F0502020204030204" pitchFamily="34" charset="0"/>
              </a:rPr>
              <a:t>Color Use:</a:t>
            </a:r>
          </a:p>
          <a:p>
            <a:pPr lvl="1"/>
            <a:r>
              <a:rPr lang="en-US" sz="2500" b="1" dirty="0">
                <a:latin typeface="Calibri" panose="020F0502020204030204" pitchFamily="34" charset="0"/>
                <a:cs typeface="Calibri" panose="020F0502020204030204" pitchFamily="34" charset="0"/>
              </a:rPr>
              <a:t>Colors (hue, saturation, lightness) </a:t>
            </a:r>
            <a:r>
              <a:rPr lang="en-US" sz="2500" dirty="0">
                <a:latin typeface="Calibri" panose="020F0502020204030204" pitchFamily="34" charset="0"/>
                <a:cs typeface="Calibri" panose="020F0502020204030204" pitchFamily="34" charset="0"/>
              </a:rPr>
              <a:t>are used to organize and enhance visuals. Humans are drawn to primary colors (red, blue, green, yellow) and retain them longer.</a:t>
            </a:r>
          </a:p>
          <a:p>
            <a:r>
              <a:rPr lang="en-US" sz="2500" b="1" dirty="0">
                <a:latin typeface="Calibri" panose="020F0502020204030204" pitchFamily="34" charset="0"/>
                <a:cs typeface="Calibri" panose="020F0502020204030204" pitchFamily="34" charset="0"/>
              </a:rPr>
              <a:t>Depth Cues:</a:t>
            </a:r>
          </a:p>
          <a:p>
            <a:pPr lvl="1"/>
            <a:r>
              <a:rPr lang="en-US" sz="2500" dirty="0">
                <a:latin typeface="Calibri" panose="020F0502020204030204" pitchFamily="34" charset="0"/>
                <a:cs typeface="Calibri" panose="020F0502020204030204" pitchFamily="34" charset="0"/>
              </a:rPr>
              <a:t>Monocular cues like </a:t>
            </a:r>
            <a:r>
              <a:rPr lang="en-US" sz="2500" b="1" dirty="0">
                <a:latin typeface="Calibri" panose="020F0502020204030204" pitchFamily="34" charset="0"/>
                <a:cs typeface="Calibri" panose="020F0502020204030204" pitchFamily="34" charset="0"/>
              </a:rPr>
              <a:t>shading, perspective, and occlusion </a:t>
            </a:r>
            <a:r>
              <a:rPr lang="en-US" sz="2500" dirty="0">
                <a:latin typeface="Calibri" panose="020F0502020204030204" pitchFamily="34" charset="0"/>
                <a:cs typeface="Calibri" panose="020F0502020204030204" pitchFamily="34" charset="0"/>
              </a:rPr>
              <a:t>depict depth. </a:t>
            </a:r>
            <a:r>
              <a:rPr lang="en-US" sz="2500" b="1" dirty="0">
                <a:latin typeface="Calibri" panose="020F0502020204030204" pitchFamily="34" charset="0"/>
                <a:cs typeface="Calibri" panose="020F0502020204030204" pitchFamily="34" charset="0"/>
              </a:rPr>
              <a:t>Brightness enhances depth perception more than contrast.</a:t>
            </a:r>
          </a:p>
          <a:p>
            <a:pPr lvl="1"/>
            <a:r>
              <a:rPr lang="en-US" sz="2500" dirty="0">
                <a:latin typeface="Calibri" panose="020F0502020204030204" pitchFamily="34" charset="0"/>
                <a:cs typeface="Calibri" panose="020F0502020204030204" pitchFamily="34" charset="0"/>
              </a:rPr>
              <a:t>Depth/size recognition is learned early (Gibson and Walk, 1960, showed six-month-olds understand depth), making depth a reliable way to represent information.</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73</a:t>
            </a:fld>
            <a:endParaRPr lang="en-US" sz="900">
              <a:solidFill>
                <a:schemeClr val="lt1"/>
              </a:solidFill>
            </a:endParaRPr>
          </a:p>
        </p:txBody>
      </p:sp>
    </p:spTree>
    <p:extLst>
      <p:ext uri="{BB962C8B-B14F-4D97-AF65-F5344CB8AC3E}">
        <p14:creationId xmlns:p14="http://schemas.microsoft.com/office/powerpoint/2010/main" val="40473481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b="1" dirty="0">
                <a:effectLst/>
                <a:latin typeface="Calibri" panose="020F0502020204030204" pitchFamily="34" charset="0"/>
                <a:cs typeface="Calibri" panose="020F0502020204030204" pitchFamily="34" charset="0"/>
              </a:rPr>
              <a:t>Configural Effects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0" y="1552575"/>
            <a:ext cx="5486400" cy="4438650"/>
          </a:xfrm>
        </p:spPr>
        <p:txBody>
          <a:bodyPr/>
          <a:lstStyle/>
          <a:p>
            <a:r>
              <a:rPr lang="en-US" sz="2600" dirty="0">
                <a:latin typeface="Calibri" panose="020F0502020204030204" pitchFamily="34" charset="0"/>
                <a:cs typeface="Calibri" panose="020F0502020204030204" pitchFamily="34" charset="0"/>
              </a:rPr>
              <a:t>Configural </a:t>
            </a:r>
            <a:r>
              <a:rPr lang="en-US" sz="2600" b="1" dirty="0">
                <a:latin typeface="Calibri" panose="020F0502020204030204" pitchFamily="34" charset="0"/>
                <a:cs typeface="Calibri" panose="020F0502020204030204" pitchFamily="34" charset="0"/>
              </a:rPr>
              <a:t>clues </a:t>
            </a:r>
            <a:r>
              <a:rPr lang="en-US" sz="2600" dirty="0">
                <a:latin typeface="Calibri" panose="020F0502020204030204" pitchFamily="34" charset="0"/>
                <a:cs typeface="Calibri" panose="020F0502020204030204" pitchFamily="34" charset="0"/>
              </a:rPr>
              <a:t>allow quick recognition of abstract conditions by </a:t>
            </a:r>
            <a:r>
              <a:rPr lang="en-US" sz="2600" b="1" dirty="0">
                <a:latin typeface="Calibri" panose="020F0502020204030204" pitchFamily="34" charset="0"/>
                <a:cs typeface="Calibri" panose="020F0502020204030204" pitchFamily="34" charset="0"/>
              </a:rPr>
              <a:t>arranging objects in recognizable patterns.</a:t>
            </a:r>
          </a:p>
          <a:p>
            <a:r>
              <a:rPr lang="en-US" sz="2600" b="1" dirty="0">
                <a:latin typeface="Calibri" panose="020F0502020204030204" pitchFamily="34" charset="0"/>
                <a:cs typeface="Calibri" panose="020F0502020204030204" pitchFamily="34" charset="0"/>
              </a:rPr>
              <a:t>Implication: </a:t>
            </a:r>
            <a:r>
              <a:rPr lang="en-US" sz="2600" dirty="0">
                <a:latin typeface="Calibri" panose="020F0502020204030204" pitchFamily="34" charset="0"/>
                <a:cs typeface="Calibri" panose="020F0502020204030204" pitchFamily="34" charset="0"/>
              </a:rPr>
              <a:t>Configural clues can substitute high-level cognitive processes with faster low-level visual ones, useful for monitoring systems (e.g., detecting anomalies in operations).</a:t>
            </a:r>
          </a:p>
        </p:txBody>
      </p:sp>
      <p:sp>
        <p:nvSpPr>
          <p:cNvPr id="2" name="Content Placeholder 1">
            <a:extLst>
              <a:ext uri="{FF2B5EF4-FFF2-40B4-BE49-F238E27FC236}">
                <a16:creationId xmlns:a16="http://schemas.microsoft.com/office/drawing/2014/main" id="{5A3EE00F-D68B-C197-BEE4-1224FF8C1194}"/>
              </a:ext>
            </a:extLst>
          </p:cNvPr>
          <p:cNvSpPr>
            <a:spLocks noGrp="1"/>
          </p:cNvSpPr>
          <p:nvPr>
            <p:ph sz="quarter" idx="14"/>
          </p:nvPr>
        </p:nvSpPr>
        <p:spPr>
          <a:xfrm>
            <a:off x="6096000" y="113072"/>
            <a:ext cx="5564270" cy="6218154"/>
          </a:xfrm>
        </p:spPr>
        <p:txBody>
          <a:bodyPr/>
          <a:lstStyle/>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pPr marL="101600" indent="0">
              <a:buNone/>
            </a:pPr>
            <a:endParaRPr lang="en-US" sz="2600" dirty="0">
              <a:latin typeface="Calibri" panose="020F0502020204030204" pitchFamily="34" charset="0"/>
              <a:cs typeface="Calibri" panose="020F0502020204030204" pitchFamily="34" charset="0"/>
            </a:endParaRPr>
          </a:p>
          <a:p>
            <a:r>
              <a:rPr lang="en-US" sz="2600" b="1" dirty="0">
                <a:latin typeface="Calibri" panose="020F0502020204030204" pitchFamily="34" charset="0"/>
                <a:cs typeface="Calibri" panose="020F0502020204030204" pitchFamily="34" charset="0"/>
              </a:rPr>
              <a:t>Figure 8.3 (Distortion of a Regular Polygon): </a:t>
            </a:r>
            <a:r>
              <a:rPr lang="en-US" sz="2600" dirty="0">
                <a:latin typeface="Calibri" panose="020F0502020204030204" pitchFamily="34" charset="0"/>
                <a:cs typeface="Calibri" panose="020F0502020204030204" pitchFamily="34" charset="0"/>
              </a:rPr>
              <a:t>The figure shows a square (left) and a distorted square (right) with one side elongated. </a:t>
            </a:r>
          </a:p>
          <a:p>
            <a:r>
              <a:rPr lang="en-US" sz="2600" dirty="0">
                <a:latin typeface="Calibri" panose="020F0502020204030204" pitchFamily="34" charset="0"/>
                <a:cs typeface="Calibri" panose="020F0502020204030204" pitchFamily="34" charset="0"/>
              </a:rPr>
              <a:t>The visual system quickly detects the distortion because it deviates from the expected equal-sided shape.</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74</a:t>
            </a:fld>
            <a:endParaRPr lang="en-US" sz="900">
              <a:solidFill>
                <a:schemeClr val="lt1"/>
              </a:solidFill>
            </a:endParaRPr>
          </a:p>
        </p:txBody>
      </p:sp>
      <p:pic>
        <p:nvPicPr>
          <p:cNvPr id="11" name="Picture 10">
            <a:extLst>
              <a:ext uri="{FF2B5EF4-FFF2-40B4-BE49-F238E27FC236}">
                <a16:creationId xmlns:a16="http://schemas.microsoft.com/office/drawing/2014/main" id="{4D75E383-625F-A1BD-609D-4F3D6CE378BD}"/>
              </a:ext>
            </a:extLst>
          </p:cNvPr>
          <p:cNvPicPr>
            <a:picLocks noChangeAspect="1"/>
          </p:cNvPicPr>
          <p:nvPr/>
        </p:nvPicPr>
        <p:blipFill>
          <a:blip r:embed="rId2"/>
          <a:stretch>
            <a:fillRect/>
          </a:stretch>
        </p:blipFill>
        <p:spPr>
          <a:xfrm>
            <a:off x="6609522" y="227063"/>
            <a:ext cx="4243816" cy="1870094"/>
          </a:xfrm>
          <a:prstGeom prst="rect">
            <a:avLst/>
          </a:prstGeom>
        </p:spPr>
      </p:pic>
    </p:spTree>
    <p:extLst>
      <p:ext uri="{BB962C8B-B14F-4D97-AF65-F5344CB8AC3E}">
        <p14:creationId xmlns:p14="http://schemas.microsoft.com/office/powerpoint/2010/main" val="11727828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b="1" dirty="0">
                <a:effectLst/>
                <a:latin typeface="Calibri" panose="020F0502020204030204" pitchFamily="34" charset="0"/>
                <a:cs typeface="Calibri" panose="020F0502020204030204" pitchFamily="34" charset="0"/>
              </a:rPr>
              <a:t>Spatial Frequency</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visual system constructs </a:t>
            </a:r>
            <a:r>
              <a:rPr lang="en-US" sz="2600" b="1" dirty="0">
                <a:latin typeface="Calibri" panose="020F0502020204030204" pitchFamily="34" charset="0"/>
                <a:cs typeface="Calibri" panose="020F0502020204030204" pitchFamily="34" charset="0"/>
              </a:rPr>
              <a:t>images from multiple channels (spatial frequency, orientation, contrast). </a:t>
            </a:r>
          </a:p>
          <a:p>
            <a:r>
              <a:rPr lang="en-US" sz="2600" dirty="0">
                <a:latin typeface="Calibri" panose="020F0502020204030204" pitchFamily="34" charset="0"/>
                <a:cs typeface="Calibri" panose="020F0502020204030204" pitchFamily="34" charset="0"/>
              </a:rPr>
              <a:t>Spatial frequency measures </a:t>
            </a:r>
            <a:r>
              <a:rPr lang="en-US" sz="2600" b="1" dirty="0">
                <a:latin typeface="Calibri" panose="020F0502020204030204" pitchFamily="34" charset="0"/>
                <a:cs typeface="Calibri" panose="020F0502020204030204" pitchFamily="34" charset="0"/>
              </a:rPr>
              <a:t>light-dark cycles per degree of visual field</a:t>
            </a:r>
            <a:r>
              <a:rPr lang="en-US" sz="2600" dirty="0">
                <a:latin typeface="Calibri" panose="020F0502020204030204" pitchFamily="34" charset="0"/>
                <a:cs typeface="Calibri" panose="020F0502020204030204" pitchFamily="34" charset="0"/>
              </a:rPr>
              <a:t>.</a:t>
            </a:r>
          </a:p>
          <a:p>
            <a:r>
              <a:rPr lang="en-US" sz="2600" dirty="0">
                <a:latin typeface="Calibri" panose="020F0502020204030204" pitchFamily="34" charset="0"/>
                <a:cs typeface="Calibri" panose="020F0502020204030204" pitchFamily="34" charset="0"/>
              </a:rPr>
              <a:t>Distinct images are easier to </a:t>
            </a:r>
            <a:r>
              <a:rPr lang="en-US" sz="2600" b="1" dirty="0">
                <a:latin typeface="Calibri" panose="020F0502020204030204" pitchFamily="34" charset="0"/>
                <a:cs typeface="Calibri" panose="020F0502020204030204" pitchFamily="34" charset="0"/>
              </a:rPr>
              <a:t>process for motion/changes than blurred ones</a:t>
            </a:r>
            <a:r>
              <a:rPr lang="en-US" sz="2600" dirty="0">
                <a:latin typeface="Calibri" panose="020F0502020204030204" pitchFamily="34" charset="0"/>
                <a:cs typeface="Calibri" panose="020F0502020204030204" pitchFamily="34" charset="0"/>
              </a:rPr>
              <a:t>, so certain spatial frequencies can help highlight patterns in dynamic displays.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75</a:t>
            </a:fld>
            <a:endParaRPr lang="en-US" sz="900">
              <a:solidFill>
                <a:schemeClr val="lt1"/>
              </a:solidFill>
            </a:endParaRPr>
          </a:p>
        </p:txBody>
      </p:sp>
    </p:spTree>
    <p:extLst>
      <p:ext uri="{BB962C8B-B14F-4D97-AF65-F5344CB8AC3E}">
        <p14:creationId xmlns:p14="http://schemas.microsoft.com/office/powerpoint/2010/main" val="14673973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b="1" dirty="0">
                <a:effectLst/>
                <a:latin typeface="Calibri" panose="020F0502020204030204" pitchFamily="34" charset="0"/>
                <a:cs typeface="Calibri" panose="020F0502020204030204" pitchFamily="34" charset="0"/>
              </a:rPr>
              <a:t>Natural Visual Processing</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visual system is tuned to real-world patterns like horizontal/vertical references, subdued colors, and terrain/depth. </a:t>
            </a:r>
          </a:p>
          <a:p>
            <a:r>
              <a:rPr lang="en-US" sz="2600" dirty="0">
                <a:latin typeface="Calibri" panose="020F0502020204030204" pitchFamily="34" charset="0"/>
                <a:cs typeface="Calibri" panose="020F0502020204030204" pitchFamily="34" charset="0"/>
              </a:rPr>
              <a:t>Bright colors in displays mimic natural attention cues (e.g., noticing bright flowers), and depth-based graphics align with everyday depth processing.</a:t>
            </a:r>
          </a:p>
          <a:p>
            <a:r>
              <a:rPr lang="en-US" sz="2600" b="1" dirty="0">
                <a:latin typeface="Calibri" panose="020F0502020204030204" pitchFamily="34" charset="0"/>
                <a:cs typeface="Calibri" panose="020F0502020204030204" pitchFamily="34" charset="0"/>
              </a:rPr>
              <a:t>Implication</a:t>
            </a:r>
            <a:r>
              <a:rPr lang="en-US" sz="2600" dirty="0">
                <a:latin typeface="Calibri" panose="020F0502020204030204" pitchFamily="34" charset="0"/>
                <a:cs typeface="Calibri" panose="020F0502020204030204" pitchFamily="34" charset="0"/>
              </a:rPr>
              <a:t>: Visualizations should mimic real-world sensory experiences to reduce cognitive effort.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76</a:t>
            </a:fld>
            <a:endParaRPr lang="en-US" sz="900">
              <a:solidFill>
                <a:schemeClr val="lt1"/>
              </a:solidFill>
            </a:endParaRPr>
          </a:p>
        </p:txBody>
      </p:sp>
    </p:spTree>
    <p:extLst>
      <p:ext uri="{BB962C8B-B14F-4D97-AF65-F5344CB8AC3E}">
        <p14:creationId xmlns:p14="http://schemas.microsoft.com/office/powerpoint/2010/main" val="23688417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sz="3600" b="1" dirty="0">
                <a:effectLst/>
                <a:latin typeface="Calibri" panose="020F0502020204030204" pitchFamily="34" charset="0"/>
                <a:cs typeface="Calibri" panose="020F0502020204030204" pitchFamily="34" charset="0"/>
              </a:rPr>
              <a:t>Challenges in Visualization</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Context and Bias: </a:t>
            </a:r>
            <a:r>
              <a:rPr lang="en-US" sz="2600" dirty="0">
                <a:latin typeface="Calibri" panose="020F0502020204030204" pitchFamily="34" charset="0"/>
                <a:cs typeface="Calibri" panose="020F0502020204030204" pitchFamily="34" charset="0"/>
              </a:rPr>
              <a:t>Interpretation depends on the user’s background. Recent experiences can bias perception (e.g., seeing clusters where none exist if clusters were recently relevant).</a:t>
            </a:r>
          </a:p>
          <a:p>
            <a:r>
              <a:rPr lang="en-US" sz="2600" b="1" dirty="0">
                <a:latin typeface="Calibri" panose="020F0502020204030204" pitchFamily="34" charset="0"/>
                <a:cs typeface="Calibri" panose="020F0502020204030204" pitchFamily="34" charset="0"/>
              </a:rPr>
              <a:t>Individual Differences: </a:t>
            </a:r>
            <a:r>
              <a:rPr lang="en-US" sz="2600" dirty="0">
                <a:latin typeface="Calibri" panose="020F0502020204030204" pitchFamily="34" charset="0"/>
                <a:cs typeface="Calibri" panose="020F0502020204030204" pitchFamily="34" charset="0"/>
              </a:rPr>
              <a:t>Past experiences shape how users interpret visuals, which may differ from the designer’s intent.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77</a:t>
            </a:fld>
            <a:endParaRPr lang="en-US" sz="900">
              <a:solidFill>
                <a:schemeClr val="lt1"/>
              </a:solidFill>
            </a:endParaRPr>
          </a:p>
        </p:txBody>
      </p:sp>
    </p:spTree>
    <p:extLst>
      <p:ext uri="{BB962C8B-B14F-4D97-AF65-F5344CB8AC3E}">
        <p14:creationId xmlns:p14="http://schemas.microsoft.com/office/powerpoint/2010/main" val="1082233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738785"/>
          </a:xfrm>
        </p:spPr>
        <p:txBody>
          <a:bodyPr/>
          <a:lstStyle/>
          <a:p>
            <a:r>
              <a:rPr lang="en-US" dirty="0"/>
              <a:t>Information Visualization Technologies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874643"/>
            <a:ext cx="10977033" cy="5276775"/>
          </a:xfrm>
        </p:spPr>
        <p:txBody>
          <a:bodyPr/>
          <a:lstStyle/>
          <a:p>
            <a:pPr marL="101600" indent="0">
              <a:buNone/>
            </a:pPr>
            <a:r>
              <a:rPr lang="en-US" sz="2600" b="1" dirty="0">
                <a:latin typeface="Calibri" panose="020F0502020204030204" pitchFamily="34" charset="0"/>
                <a:cs typeface="Calibri" panose="020F0502020204030204" pitchFamily="34" charset="0"/>
              </a:rPr>
              <a:t>Overview of Information Visualization in IR Systems</a:t>
            </a:r>
          </a:p>
          <a:p>
            <a:r>
              <a:rPr lang="en-US" sz="2600" dirty="0">
                <a:latin typeface="Calibri" panose="020F0502020204030204" pitchFamily="34" charset="0"/>
                <a:cs typeface="Calibri" panose="020F0502020204030204" pitchFamily="34" charset="0"/>
              </a:rPr>
              <a:t>Information visualization applies theories of visual perception to design systems that help users </a:t>
            </a:r>
            <a:r>
              <a:rPr lang="en-US" sz="2600" b="1" dirty="0">
                <a:latin typeface="Calibri" panose="020F0502020204030204" pitchFamily="34" charset="0"/>
                <a:cs typeface="Calibri" panose="020F0502020204030204" pitchFamily="34" charset="0"/>
              </a:rPr>
              <a:t>locate and understand information more effectively. </a:t>
            </a:r>
          </a:p>
          <a:p>
            <a:r>
              <a:rPr lang="en-US" sz="2600" dirty="0">
                <a:latin typeface="Calibri" panose="020F0502020204030204" pitchFamily="34" charset="0"/>
                <a:cs typeface="Calibri" panose="020F0502020204030204" pitchFamily="34" charset="0"/>
              </a:rPr>
              <a:t>In IR systems, the main goals are:</a:t>
            </a:r>
          </a:p>
          <a:p>
            <a:pPr lvl="1"/>
            <a:r>
              <a:rPr lang="en-US" sz="2600" b="1" dirty="0">
                <a:latin typeface="Calibri" panose="020F0502020204030204" pitchFamily="34" charset="0"/>
                <a:cs typeface="Calibri" panose="020F0502020204030204" pitchFamily="34" charset="0"/>
              </a:rPr>
              <a:t>Document Clustering: </a:t>
            </a:r>
            <a:r>
              <a:rPr lang="en-US" sz="2600" dirty="0">
                <a:latin typeface="Calibri" panose="020F0502020204030204" pitchFamily="34" charset="0"/>
                <a:cs typeface="Calibri" panose="020F0502020204030204" pitchFamily="34" charset="0"/>
              </a:rPr>
              <a:t>Visually represent groups of documents based on content </a:t>
            </a:r>
            <a:r>
              <a:rPr lang="en-US" sz="2600" b="1" dirty="0">
                <a:latin typeface="Calibri" panose="020F0502020204030204" pitchFamily="34" charset="0"/>
                <a:cs typeface="Calibri" panose="020F0502020204030204" pitchFamily="34" charset="0"/>
              </a:rPr>
              <a:t>similarity, helping users navigate to relevant items.</a:t>
            </a:r>
          </a:p>
          <a:p>
            <a:pPr lvl="1"/>
            <a:r>
              <a:rPr lang="en-US" sz="2600" b="1" dirty="0">
                <a:latin typeface="Calibri" panose="020F0502020204030204" pitchFamily="34" charset="0"/>
                <a:cs typeface="Calibri" panose="020F0502020204030204" pitchFamily="34" charset="0"/>
              </a:rPr>
              <a:t>Search Statement Analysis: </a:t>
            </a:r>
            <a:r>
              <a:rPr lang="en-US" sz="2600" dirty="0">
                <a:latin typeface="Calibri" panose="020F0502020204030204" pitchFamily="34" charset="0"/>
                <a:cs typeface="Calibri" panose="020F0502020204030204" pitchFamily="34" charset="0"/>
              </a:rPr>
              <a:t>Show why certain items were retrieved, aiding users in refining their queries by highlighting the impact of search terms.</a:t>
            </a:r>
          </a:p>
          <a:p>
            <a:r>
              <a:rPr lang="en-US" sz="2600" dirty="0">
                <a:latin typeface="Calibri" panose="020F0502020204030204" pitchFamily="34" charset="0"/>
                <a:cs typeface="Calibri" panose="020F0502020204030204" pitchFamily="34" charset="0"/>
              </a:rPr>
              <a:t>These techniques are applied to search results, </a:t>
            </a:r>
            <a:r>
              <a:rPr lang="en-US" sz="2600" b="1" dirty="0">
                <a:latin typeface="Calibri" panose="020F0502020204030204" pitchFamily="34" charset="0"/>
                <a:cs typeface="Calibri" panose="020F0502020204030204" pitchFamily="34" charset="0"/>
              </a:rPr>
              <a:t>structured databases (like DBMSs), and link analysis (correlating data across documents)</a:t>
            </a:r>
            <a:r>
              <a:rPr lang="en-US" sz="2600" dirty="0">
                <a:latin typeface="Calibri" panose="020F0502020204030204" pitchFamily="34" charset="0"/>
                <a:cs typeface="Calibri" panose="020F0502020204030204" pitchFamily="34" charset="0"/>
              </a:rPr>
              <a:t>. The diagrams showcase practical implementations of these concepts.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78</a:t>
            </a:fld>
            <a:endParaRPr lang="en-US" sz="900">
              <a:solidFill>
                <a:schemeClr val="lt1"/>
              </a:solidFill>
            </a:endParaRPr>
          </a:p>
        </p:txBody>
      </p:sp>
    </p:spTree>
    <p:extLst>
      <p:ext uri="{BB962C8B-B14F-4D97-AF65-F5344CB8AC3E}">
        <p14:creationId xmlns:p14="http://schemas.microsoft.com/office/powerpoint/2010/main" val="36111592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Hierarchical Visualization: Cone Tree and Perspective Wall</a:t>
            </a:r>
            <a:endParaRPr lang="en-US" dirty="0"/>
          </a:p>
        </p:txBody>
      </p:sp>
      <p:sp>
        <p:nvSpPr>
          <p:cNvPr id="2" name="Content Placeholder 1">
            <a:extLst>
              <a:ext uri="{FF2B5EF4-FFF2-40B4-BE49-F238E27FC236}">
                <a16:creationId xmlns:a16="http://schemas.microsoft.com/office/drawing/2014/main" id="{EE4612F0-FCDD-A477-5632-694989DA2160}"/>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Hierarchical data (e.g., organizational structures or document clusters) can be visualized using tree structures.</a:t>
            </a:r>
          </a:p>
          <a:p>
            <a:r>
              <a:rPr lang="en-US" sz="2400" dirty="0">
                <a:latin typeface="Calibri" panose="020F0502020204030204" pitchFamily="34" charset="0"/>
                <a:cs typeface="Calibri" panose="020F0502020204030204" pitchFamily="34" charset="0"/>
              </a:rPr>
              <a:t> However, traditional 2D trees become cluttered with large datasets, so 3D representations are used.</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79</a:t>
            </a:fld>
            <a:endParaRPr lang="en-US" sz="900">
              <a:solidFill>
                <a:schemeClr val="lt1"/>
              </a:solidFill>
            </a:endParaRPr>
          </a:p>
        </p:txBody>
      </p:sp>
      <p:pic>
        <p:nvPicPr>
          <p:cNvPr id="12" name="Picture 11">
            <a:extLst>
              <a:ext uri="{FF2B5EF4-FFF2-40B4-BE49-F238E27FC236}">
                <a16:creationId xmlns:a16="http://schemas.microsoft.com/office/drawing/2014/main" id="{067459CB-D7B3-3AA8-7D59-3D6DFEE87B63}"/>
              </a:ext>
            </a:extLst>
          </p:cNvPr>
          <p:cNvPicPr>
            <a:picLocks noChangeAspect="1"/>
          </p:cNvPicPr>
          <p:nvPr/>
        </p:nvPicPr>
        <p:blipFill>
          <a:blip r:embed="rId2"/>
          <a:stretch>
            <a:fillRect/>
          </a:stretch>
        </p:blipFill>
        <p:spPr>
          <a:xfrm>
            <a:off x="6173870" y="1232453"/>
            <a:ext cx="5486400" cy="4234069"/>
          </a:xfrm>
          <a:prstGeom prst="rect">
            <a:avLst/>
          </a:prstGeom>
        </p:spPr>
      </p:pic>
    </p:spTree>
    <p:extLst>
      <p:ext uri="{BB962C8B-B14F-4D97-AF65-F5344CB8AC3E}">
        <p14:creationId xmlns:p14="http://schemas.microsoft.com/office/powerpoint/2010/main" val="27780531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Hierarchical Visualization: Cone Tree and Perspective Wall</a:t>
            </a:r>
            <a:endParaRPr lang="en-US" dirty="0"/>
          </a:p>
        </p:txBody>
      </p:sp>
      <p:sp>
        <p:nvSpPr>
          <p:cNvPr id="4" name="Content Placeholder 3">
            <a:extLst>
              <a:ext uri="{FF2B5EF4-FFF2-40B4-BE49-F238E27FC236}">
                <a16:creationId xmlns:a16="http://schemas.microsoft.com/office/drawing/2014/main" id="{5F76D59F-B812-381E-1876-99618EE6FC11}"/>
              </a:ext>
            </a:extLst>
          </p:cNvPr>
          <p:cNvSpPr>
            <a:spLocks noGrp="1"/>
          </p:cNvSpPr>
          <p:nvPr>
            <p:ph sz="quarter" idx="13"/>
          </p:nvPr>
        </p:nvSpPr>
        <p:spPr>
          <a:xfrm>
            <a:off x="609601" y="1312651"/>
            <a:ext cx="10977033" cy="4838767"/>
          </a:xfrm>
        </p:spPr>
        <p:txBody>
          <a:bodyPr/>
          <a:lstStyle/>
          <a:p>
            <a:r>
              <a:rPr lang="en-US" sz="2400" b="1" dirty="0">
                <a:latin typeface="Calibri" panose="020F0502020204030204" pitchFamily="34" charset="0"/>
                <a:cs typeface="Calibri" panose="020F0502020204030204" pitchFamily="34" charset="0"/>
              </a:rPr>
              <a:t>Description</a:t>
            </a:r>
            <a:r>
              <a:rPr lang="en-US" sz="2400" dirty="0">
                <a:latin typeface="Calibri" panose="020F0502020204030204" pitchFamily="34" charset="0"/>
                <a:cs typeface="Calibri" panose="020F0502020204030204" pitchFamily="34" charset="0"/>
              </a:rPr>
              <a:t>: </a:t>
            </a:r>
          </a:p>
          <a:p>
            <a:pPr lvl="1"/>
            <a:r>
              <a:rPr lang="en-US" sz="2400" dirty="0">
                <a:latin typeface="Calibri" panose="020F0502020204030204" pitchFamily="34" charset="0"/>
                <a:cs typeface="Calibri" panose="020F0502020204030204" pitchFamily="34" charset="0"/>
              </a:rPr>
              <a:t>This is a 3D visualization from the </a:t>
            </a:r>
            <a:r>
              <a:rPr lang="en-US" sz="2400" b="1" dirty="0">
                <a:latin typeface="Calibri" panose="020F0502020204030204" pitchFamily="34" charset="0"/>
                <a:cs typeface="Calibri" panose="020F0502020204030204" pitchFamily="34" charset="0"/>
              </a:rPr>
              <a:t>Information Visualizer (Xerox PARC). </a:t>
            </a:r>
          </a:p>
          <a:p>
            <a:pPr lvl="1"/>
            <a:r>
              <a:rPr lang="en-US" sz="2400" dirty="0">
                <a:latin typeface="Calibri" panose="020F0502020204030204" pitchFamily="34" charset="0"/>
                <a:cs typeface="Calibri" panose="020F0502020204030204" pitchFamily="34" charset="0"/>
              </a:rPr>
              <a:t>The tree’s root node is at the apex, with child nodes arranged in a circular base. </a:t>
            </a:r>
          </a:p>
          <a:p>
            <a:pPr lvl="1"/>
            <a:r>
              <a:rPr lang="en-US" sz="2400" dirty="0">
                <a:latin typeface="Calibri" panose="020F0502020204030204" pitchFamily="34" charset="0"/>
                <a:cs typeface="Calibri" panose="020F0502020204030204" pitchFamily="34" charset="0"/>
              </a:rPr>
              <a:t>Each child node can be a parent to another cone, forming a nested structure.</a:t>
            </a:r>
          </a:p>
          <a:p>
            <a:pPr lvl="1"/>
            <a:r>
              <a:rPr lang="en-US" sz="2400" dirty="0">
                <a:latin typeface="Calibri" panose="020F0502020204030204" pitchFamily="34" charset="0"/>
                <a:cs typeface="Calibri" panose="020F0502020204030204" pitchFamily="34" charset="0"/>
              </a:rPr>
              <a:t> Selecting a node rotates it to the front for focus.</a:t>
            </a:r>
          </a:p>
          <a:p>
            <a:r>
              <a:rPr lang="en-US" sz="2400" b="1" dirty="0">
                <a:latin typeface="Calibri" panose="020F0502020204030204" pitchFamily="34" charset="0"/>
                <a:cs typeface="Calibri" panose="020F0502020204030204" pitchFamily="34" charset="0"/>
              </a:rPr>
              <a:t>Purpose</a:t>
            </a:r>
            <a:r>
              <a:rPr lang="en-US" sz="2400" dirty="0">
                <a:latin typeface="Calibri" panose="020F0502020204030204" pitchFamily="34" charset="0"/>
                <a:cs typeface="Calibri" panose="020F0502020204030204" pitchFamily="34" charset="0"/>
              </a:rPr>
              <a:t>: It shows the size and structure of subtrees, helping users understand the hierarchy and navigate to documents (represented as squares at the leaf nodes). Higher nodes may represent </a:t>
            </a:r>
            <a:r>
              <a:rPr lang="en-US" sz="2400" b="1" dirty="0">
                <a:latin typeface="Calibri" panose="020F0502020204030204" pitchFamily="34" charset="0"/>
                <a:cs typeface="Calibri" panose="020F0502020204030204" pitchFamily="34" charset="0"/>
              </a:rPr>
              <a:t>clusters or semantic centroids</a:t>
            </a:r>
            <a:r>
              <a:rPr lang="en-US" sz="2400" dirty="0">
                <a:latin typeface="Calibri" panose="020F0502020204030204" pitchFamily="34" charset="0"/>
                <a:cs typeface="Calibri" panose="020F0502020204030204" pitchFamily="34" charset="0"/>
              </a:rPr>
              <a:t>.</a:t>
            </a:r>
          </a:p>
          <a:p>
            <a:r>
              <a:rPr lang="en-US" sz="2400" b="1" dirty="0">
                <a:latin typeface="Calibri" panose="020F0502020204030204" pitchFamily="34" charset="0"/>
                <a:cs typeface="Calibri" panose="020F0502020204030204" pitchFamily="34" charset="0"/>
              </a:rPr>
              <a:t>Example Use</a:t>
            </a:r>
            <a:r>
              <a:rPr lang="en-US" sz="2400" dirty="0">
                <a:latin typeface="Calibri" panose="020F0502020204030204" pitchFamily="34" charset="0"/>
                <a:cs typeface="Calibri" panose="020F0502020204030204" pitchFamily="34" charset="0"/>
              </a:rPr>
              <a:t>: In a document retrieval system, this could represent clusters of related articles, with leaf nodes as individual documents.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80</a:t>
            </a:fld>
            <a:endParaRPr lang="en-US" sz="900">
              <a:solidFill>
                <a:schemeClr val="lt1"/>
              </a:solidFill>
            </a:endParaRPr>
          </a:p>
        </p:txBody>
      </p:sp>
    </p:spTree>
    <p:extLst>
      <p:ext uri="{BB962C8B-B14F-4D97-AF65-F5344CB8AC3E}">
        <p14:creationId xmlns:p14="http://schemas.microsoft.com/office/powerpoint/2010/main" val="38902340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Hierarchical Visualization: Cone Tree and Perspective Wall</a:t>
            </a:r>
            <a:endParaRPr lang="en-US" dirty="0"/>
          </a:p>
        </p:txBody>
      </p:sp>
      <p:sp>
        <p:nvSpPr>
          <p:cNvPr id="2" name="Content Placeholder 1">
            <a:extLst>
              <a:ext uri="{FF2B5EF4-FFF2-40B4-BE49-F238E27FC236}">
                <a16:creationId xmlns:a16="http://schemas.microsoft.com/office/drawing/2014/main" id="{BD9E0CA1-EC47-ACEF-8AC1-A8863845001D}"/>
              </a:ext>
            </a:extLst>
          </p:cNvPr>
          <p:cNvSpPr>
            <a:spLocks noGrp="1"/>
          </p:cNvSpPr>
          <p:nvPr>
            <p:ph sz="quarter" idx="13"/>
          </p:nvPr>
        </p:nvSpPr>
        <p:spPr>
          <a:xfrm>
            <a:off x="609599" y="1552575"/>
            <a:ext cx="6029739" cy="4438650"/>
          </a:xfrm>
        </p:spPr>
        <p:txBody>
          <a:bodyPr/>
          <a:lstStyle/>
          <a:p>
            <a:r>
              <a:rPr lang="en-US" sz="2600" b="1" dirty="0">
                <a:latin typeface="Calibri" panose="020F0502020204030204" pitchFamily="34" charset="0"/>
                <a:cs typeface="Calibri" panose="020F0502020204030204" pitchFamily="34" charset="0"/>
              </a:rPr>
              <a:t>Description</a:t>
            </a:r>
            <a:r>
              <a:rPr lang="en-US" sz="2600" dirty="0">
                <a:latin typeface="Calibri" panose="020F0502020204030204" pitchFamily="34" charset="0"/>
                <a:cs typeface="Calibri" panose="020F0502020204030204" pitchFamily="34" charset="0"/>
              </a:rPr>
              <a:t>: </a:t>
            </a:r>
          </a:p>
          <a:p>
            <a:pPr lvl="1"/>
            <a:r>
              <a:rPr lang="en-US" sz="2600" dirty="0">
                <a:latin typeface="Calibri" panose="020F0502020204030204" pitchFamily="34" charset="0"/>
                <a:cs typeface="Calibri" panose="020F0502020204030204" pitchFamily="34" charset="0"/>
              </a:rPr>
              <a:t>The Information Visualizer, this divides information into </a:t>
            </a:r>
            <a:r>
              <a:rPr lang="en-US" sz="2600" b="1" dirty="0">
                <a:latin typeface="Calibri" panose="020F0502020204030204" pitchFamily="34" charset="0"/>
                <a:cs typeface="Calibri" panose="020F0502020204030204" pitchFamily="34" charset="0"/>
              </a:rPr>
              <a:t>three areas</a:t>
            </a:r>
            <a:r>
              <a:rPr lang="en-US" sz="2600" dirty="0">
                <a:latin typeface="Calibri" panose="020F0502020204030204" pitchFamily="34" charset="0"/>
                <a:cs typeface="Calibri" panose="020F0502020204030204" pitchFamily="34" charset="0"/>
              </a:rPr>
              <a:t>: </a:t>
            </a:r>
          </a:p>
          <a:p>
            <a:pPr lvl="2"/>
            <a:r>
              <a:rPr lang="en-US" sz="2600" dirty="0">
                <a:latin typeface="Calibri" panose="020F0502020204030204" pitchFamily="34" charset="0"/>
                <a:cs typeface="Calibri" panose="020F0502020204030204" pitchFamily="34" charset="0"/>
              </a:rPr>
              <a:t>a focused central area (e.g., "A GUI: The What Frame") </a:t>
            </a:r>
          </a:p>
          <a:p>
            <a:pPr lvl="2"/>
            <a:r>
              <a:rPr lang="en-US" sz="2600" dirty="0">
                <a:latin typeface="Calibri" panose="020F0502020204030204" pitchFamily="34" charset="0"/>
                <a:cs typeface="Calibri" panose="020F0502020204030204" pitchFamily="34" charset="0"/>
              </a:rPr>
              <a:t> two out-of-focus side areas (e.g., "Report," "Letter"). </a:t>
            </a:r>
          </a:p>
          <a:p>
            <a:pPr lvl="2"/>
            <a:r>
              <a:rPr lang="en-US" sz="2600" dirty="0">
                <a:latin typeface="Calibri" panose="020F0502020204030204" pitchFamily="34" charset="0"/>
                <a:cs typeface="Calibri" panose="020F0502020204030204" pitchFamily="34" charset="0"/>
              </a:rPr>
              <a:t>The wall-like structure provides a perspective view.</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81</a:t>
            </a:fld>
            <a:endParaRPr lang="en-US" sz="900">
              <a:solidFill>
                <a:schemeClr val="lt1"/>
              </a:solidFill>
            </a:endParaRPr>
          </a:p>
        </p:txBody>
      </p:sp>
      <p:pic>
        <p:nvPicPr>
          <p:cNvPr id="8" name="Picture 7">
            <a:extLst>
              <a:ext uri="{FF2B5EF4-FFF2-40B4-BE49-F238E27FC236}">
                <a16:creationId xmlns:a16="http://schemas.microsoft.com/office/drawing/2014/main" id="{DEFAA120-06DE-70AD-8911-DFB565BA3452}"/>
              </a:ext>
            </a:extLst>
          </p:cNvPr>
          <p:cNvPicPr>
            <a:picLocks noChangeAspect="1"/>
          </p:cNvPicPr>
          <p:nvPr/>
        </p:nvPicPr>
        <p:blipFill>
          <a:blip r:embed="rId2"/>
          <a:stretch>
            <a:fillRect/>
          </a:stretch>
        </p:blipFill>
        <p:spPr>
          <a:xfrm>
            <a:off x="6639339" y="1312651"/>
            <a:ext cx="5259782" cy="4678574"/>
          </a:xfrm>
          <a:prstGeom prst="rect">
            <a:avLst/>
          </a:prstGeom>
        </p:spPr>
      </p:pic>
    </p:spTree>
    <p:extLst>
      <p:ext uri="{BB962C8B-B14F-4D97-AF65-F5344CB8AC3E}">
        <p14:creationId xmlns:p14="http://schemas.microsoft.com/office/powerpoint/2010/main" val="35941179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Hierarchical Visualization: Cone Tree and Perspective Wall</a:t>
            </a:r>
            <a:endParaRPr lang="en-US" dirty="0"/>
          </a:p>
        </p:txBody>
      </p:sp>
      <p:sp>
        <p:nvSpPr>
          <p:cNvPr id="4" name="Content Placeholder 3">
            <a:extLst>
              <a:ext uri="{FF2B5EF4-FFF2-40B4-BE49-F238E27FC236}">
                <a16:creationId xmlns:a16="http://schemas.microsoft.com/office/drawing/2014/main" id="{5F76D59F-B812-381E-1876-99618EE6FC11}"/>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Purpose</a:t>
            </a:r>
            <a:r>
              <a:rPr lang="en-US" sz="2600" dirty="0">
                <a:latin typeface="Calibri" panose="020F0502020204030204" pitchFamily="34" charset="0"/>
                <a:cs typeface="Calibri" panose="020F0502020204030204" pitchFamily="34" charset="0"/>
              </a:rPr>
              <a:t>: It allows users to focus on a specific area while keeping the broader context visible, aiding navigation in large datasets.</a:t>
            </a:r>
          </a:p>
          <a:p>
            <a:endParaRPr lang="en-US" sz="2600" dirty="0">
              <a:latin typeface="Calibri" panose="020F0502020204030204" pitchFamily="34" charset="0"/>
              <a:cs typeface="Calibri" panose="020F0502020204030204" pitchFamily="34" charset="0"/>
            </a:endParaRPr>
          </a:p>
          <a:p>
            <a:r>
              <a:rPr lang="en-US" sz="2600" b="1" dirty="0">
                <a:latin typeface="Calibri" panose="020F0502020204030204" pitchFamily="34" charset="0"/>
                <a:cs typeface="Calibri" panose="020F0502020204030204" pitchFamily="34" charset="0"/>
              </a:rPr>
              <a:t>Example Use</a:t>
            </a:r>
            <a:r>
              <a:rPr lang="en-US" sz="2600" dirty="0">
                <a:latin typeface="Calibri" panose="020F0502020204030204" pitchFamily="34" charset="0"/>
                <a:cs typeface="Calibri" panose="020F0502020204030204" pitchFamily="34" charset="0"/>
              </a:rPr>
              <a:t>: In an IR system, this could display search results with the central area showing a selected document cluster, while side areas show related clusters.</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82</a:t>
            </a:fld>
            <a:endParaRPr lang="en-US" sz="900">
              <a:solidFill>
                <a:schemeClr val="lt1"/>
              </a:solidFill>
            </a:endParaRPr>
          </a:p>
        </p:txBody>
      </p:sp>
    </p:spTree>
    <p:extLst>
      <p:ext uri="{BB962C8B-B14F-4D97-AF65-F5344CB8AC3E}">
        <p14:creationId xmlns:p14="http://schemas.microsoft.com/office/powerpoint/2010/main" val="37994381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37893" y="145989"/>
            <a:ext cx="7083287" cy="1097279"/>
          </a:xfrm>
        </p:spPr>
        <p:txBody>
          <a:bodyPr/>
          <a:lstStyle/>
          <a:p>
            <a:r>
              <a:rPr lang="en-US" dirty="0">
                <a:effectLst/>
              </a:rPr>
              <a:t>Tree Maps for Hierarchical Data</a:t>
            </a:r>
            <a:endParaRPr lang="en-US" dirty="0"/>
          </a:p>
        </p:txBody>
      </p:sp>
      <p:sp>
        <p:nvSpPr>
          <p:cNvPr id="4" name="Content Placeholder 3">
            <a:extLst>
              <a:ext uri="{FF2B5EF4-FFF2-40B4-BE49-F238E27FC236}">
                <a16:creationId xmlns:a16="http://schemas.microsoft.com/office/drawing/2014/main" id="{9A29A0BB-2A1F-7E79-5D28-F387B5C77A91}"/>
              </a:ext>
            </a:extLst>
          </p:cNvPr>
          <p:cNvSpPr>
            <a:spLocks noGrp="1"/>
          </p:cNvSpPr>
          <p:nvPr>
            <p:ph sz="quarter" idx="13"/>
          </p:nvPr>
        </p:nvSpPr>
        <p:spPr>
          <a:xfrm>
            <a:off x="609600" y="1243268"/>
            <a:ext cx="6433930" cy="2580587"/>
          </a:xfrm>
        </p:spPr>
        <p:txBody>
          <a:bodyPr/>
          <a:lstStyle/>
          <a:p>
            <a:r>
              <a:rPr lang="en-US" sz="2200" dirty="0">
                <a:latin typeface="Calibri" panose="020F0502020204030204" pitchFamily="34" charset="0"/>
                <a:cs typeface="Calibri" panose="020F0502020204030204" pitchFamily="34" charset="0"/>
              </a:rPr>
              <a:t>Tree maps use nested rectangular boxes to represent hierarchical data, maximizing screen space. </a:t>
            </a:r>
          </a:p>
          <a:p>
            <a:r>
              <a:rPr lang="en-US" sz="2200" dirty="0">
                <a:latin typeface="Calibri" panose="020F0502020204030204" pitchFamily="34" charset="0"/>
                <a:cs typeface="Calibri" panose="020F0502020204030204" pitchFamily="34" charset="0"/>
              </a:rPr>
              <a:t>In this example, the map shows computer-related articles divided into categories like CPU, OS, Memory, Network Management, and others (e.g., Word Processing, Spreadsheet Software).</a:t>
            </a:r>
          </a:p>
        </p:txBody>
      </p:sp>
      <p:sp>
        <p:nvSpPr>
          <p:cNvPr id="9" name="Content Placeholder 8">
            <a:extLst>
              <a:ext uri="{FF2B5EF4-FFF2-40B4-BE49-F238E27FC236}">
                <a16:creationId xmlns:a16="http://schemas.microsoft.com/office/drawing/2014/main" id="{E11E81CD-9B9C-1458-4593-6F41CBA424B3}"/>
              </a:ext>
            </a:extLst>
          </p:cNvPr>
          <p:cNvSpPr>
            <a:spLocks noGrp="1"/>
          </p:cNvSpPr>
          <p:nvPr>
            <p:ph sz="quarter" idx="14"/>
          </p:nvPr>
        </p:nvSpPr>
        <p:spPr/>
        <p:txBody>
          <a:bodyPr/>
          <a:lstStyle/>
          <a:p>
            <a:r>
              <a:rPr lang="en-US" sz="2200" b="1" dirty="0">
                <a:latin typeface="Calibri" panose="020F0502020204030204" pitchFamily="34" charset="0"/>
                <a:cs typeface="Calibri" panose="020F0502020204030204" pitchFamily="34" charset="0"/>
              </a:rPr>
              <a:t>Purpose: </a:t>
            </a:r>
            <a:r>
              <a:rPr lang="en-US" sz="2200" dirty="0">
                <a:latin typeface="Calibri" panose="020F0502020204030204" pitchFamily="34" charset="0"/>
                <a:cs typeface="Calibri" panose="020F0502020204030204" pitchFamily="34" charset="0"/>
              </a:rPr>
              <a:t>The size of each box reflects the </a:t>
            </a:r>
            <a:r>
              <a:rPr lang="en-US" sz="2200" b="1" dirty="0">
                <a:latin typeface="Calibri" panose="020F0502020204030204" pitchFamily="34" charset="0"/>
                <a:cs typeface="Calibri" panose="020F0502020204030204" pitchFamily="34" charset="0"/>
              </a:rPr>
              <a:t>number of items in a category</a:t>
            </a:r>
            <a:r>
              <a:rPr lang="en-US" sz="2200" dirty="0">
                <a:latin typeface="Calibri" panose="020F0502020204030204" pitchFamily="34" charset="0"/>
                <a:cs typeface="Calibri" panose="020F0502020204030204" pitchFamily="34" charset="0"/>
              </a:rPr>
              <a:t>, and the layout indicates relationships (e.g., CPU and OS are grouped under operating systems, separate from applications).</a:t>
            </a:r>
          </a:p>
          <a:p>
            <a:r>
              <a:rPr lang="en-US" sz="2200" b="1" dirty="0">
                <a:latin typeface="Calibri" panose="020F0502020204030204" pitchFamily="34" charset="0"/>
                <a:cs typeface="Calibri" panose="020F0502020204030204" pitchFamily="34" charset="0"/>
              </a:rPr>
              <a:t>Example Use: </a:t>
            </a:r>
            <a:r>
              <a:rPr lang="en-US" sz="2200" dirty="0">
                <a:latin typeface="Calibri" panose="020F0502020204030204" pitchFamily="34" charset="0"/>
                <a:cs typeface="Calibri" panose="020F0502020204030204" pitchFamily="34" charset="0"/>
              </a:rPr>
              <a:t>A user searching for computer articles can quickly see which topics (e.g., OS) have the most documents and explore related areas.</a:t>
            </a:r>
          </a:p>
          <a:p>
            <a:endParaRPr lang="en-US" sz="22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83</a:t>
            </a:fld>
            <a:endParaRPr lang="en-US" sz="900">
              <a:solidFill>
                <a:schemeClr val="lt1"/>
              </a:solidFill>
            </a:endParaRPr>
          </a:p>
        </p:txBody>
      </p:sp>
      <p:pic>
        <p:nvPicPr>
          <p:cNvPr id="11" name="Picture 10">
            <a:extLst>
              <a:ext uri="{FF2B5EF4-FFF2-40B4-BE49-F238E27FC236}">
                <a16:creationId xmlns:a16="http://schemas.microsoft.com/office/drawing/2014/main" id="{BF29A0E8-374A-E999-AB2A-1C02A9B8A7BD}"/>
              </a:ext>
            </a:extLst>
          </p:cNvPr>
          <p:cNvPicPr>
            <a:picLocks noChangeAspect="1"/>
          </p:cNvPicPr>
          <p:nvPr/>
        </p:nvPicPr>
        <p:blipFill>
          <a:blip r:embed="rId2"/>
          <a:stretch>
            <a:fillRect/>
          </a:stretch>
        </p:blipFill>
        <p:spPr>
          <a:xfrm>
            <a:off x="7121180" y="295950"/>
            <a:ext cx="4692708" cy="3675975"/>
          </a:xfrm>
          <a:prstGeom prst="rect">
            <a:avLst/>
          </a:prstGeom>
        </p:spPr>
      </p:pic>
    </p:spTree>
    <p:extLst>
      <p:ext uri="{BB962C8B-B14F-4D97-AF65-F5344CB8AC3E}">
        <p14:creationId xmlns:p14="http://schemas.microsoft.com/office/powerpoint/2010/main" val="3900097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Search Statement Analysis: Understanding Query Impact</a:t>
            </a:r>
            <a:endParaRPr lang="en-US" dirty="0"/>
          </a:p>
        </p:txBody>
      </p:sp>
      <p:sp>
        <p:nvSpPr>
          <p:cNvPr id="2" name="Content Placeholder 1">
            <a:extLst>
              <a:ext uri="{FF2B5EF4-FFF2-40B4-BE49-F238E27FC236}">
                <a16:creationId xmlns:a16="http://schemas.microsoft.com/office/drawing/2014/main" id="{3C73CDC4-392C-70AE-6EC3-3B5CF0D0A4E9}"/>
              </a:ext>
            </a:extLst>
          </p:cNvPr>
          <p:cNvSpPr>
            <a:spLocks noGrp="1"/>
          </p:cNvSpPr>
          <p:nvPr>
            <p:ph sz="quarter" idx="13"/>
          </p:nvPr>
        </p:nvSpPr>
        <p:spPr>
          <a:xfrm>
            <a:off x="609600" y="1312651"/>
            <a:ext cx="5594814" cy="4678574"/>
          </a:xfrm>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Query Window</a:t>
            </a:r>
            <a:r>
              <a:rPr lang="en-US" sz="2600" dirty="0">
                <a:latin typeface="Calibri" panose="020F0502020204030204" pitchFamily="34" charset="0"/>
                <a:ea typeface="Calibri" panose="020F0502020204030204" pitchFamily="34" charset="0"/>
                <a:cs typeface="Calibri" panose="020F0502020204030204" pitchFamily="34" charset="0"/>
              </a:rPr>
              <a:t>: Displays and allows editing of the search query.</a:t>
            </a:r>
          </a:p>
          <a:p>
            <a:r>
              <a:rPr lang="en-US" sz="2600" b="1" dirty="0">
                <a:latin typeface="Calibri" panose="020F0502020204030204" pitchFamily="34" charset="0"/>
                <a:ea typeface="Calibri" panose="020F0502020204030204" pitchFamily="34" charset="0"/>
                <a:cs typeface="Calibri" panose="020F0502020204030204" pitchFamily="34" charset="0"/>
              </a:rPr>
              <a:t>Graphic View Window</a:t>
            </a:r>
            <a:r>
              <a:rPr lang="en-US" sz="2600" dirty="0">
                <a:latin typeface="Calibri" panose="020F0502020204030204" pitchFamily="34" charset="0"/>
                <a:ea typeface="Calibri" panose="020F0502020204030204" pitchFamily="34" charset="0"/>
                <a:cs typeface="Calibri" panose="020F0502020204030204" pitchFamily="34" charset="0"/>
              </a:rPr>
              <a:t>: A scatterplot where each icon (</a:t>
            </a:r>
            <a:r>
              <a:rPr lang="en-US" sz="2600" b="1" dirty="0">
                <a:latin typeface="Calibri" panose="020F0502020204030204" pitchFamily="34" charset="0"/>
                <a:ea typeface="Calibri" panose="020F0502020204030204" pitchFamily="34" charset="0"/>
                <a:cs typeface="Calibri" panose="020F0502020204030204" pitchFamily="34" charset="0"/>
              </a:rPr>
              <a:t>circle or ellipse</a:t>
            </a:r>
            <a:r>
              <a:rPr lang="en-US" sz="2600" dirty="0">
                <a:latin typeface="Calibri" panose="020F0502020204030204" pitchFamily="34" charset="0"/>
                <a:ea typeface="Calibri" panose="020F0502020204030204" pitchFamily="34" charset="0"/>
                <a:cs typeface="Calibri" panose="020F0502020204030204" pitchFamily="34" charset="0"/>
              </a:rPr>
              <a:t>) represents a </a:t>
            </a:r>
            <a:r>
              <a:rPr lang="en-US" sz="2600" b="1" dirty="0">
                <a:latin typeface="Calibri" panose="020F0502020204030204" pitchFamily="34" charset="0"/>
                <a:ea typeface="Calibri" panose="020F0502020204030204" pitchFamily="34" charset="0"/>
                <a:cs typeface="Calibri" panose="020F0502020204030204" pitchFamily="34" charset="0"/>
              </a:rPr>
              <a:t>document or cluster</a:t>
            </a:r>
            <a:r>
              <a:rPr lang="en-US" sz="2600" dirty="0">
                <a:latin typeface="Calibri" panose="020F0502020204030204" pitchFamily="34" charset="0"/>
                <a:ea typeface="Calibri" panose="020F0502020204030204" pitchFamily="34" charset="0"/>
                <a:cs typeface="Calibri" panose="020F0502020204030204" pitchFamily="34" charset="0"/>
              </a:rPr>
              <a:t>. Circles show single items with relevance weights, while ellipses indicate clusters.</a:t>
            </a:r>
          </a:p>
          <a:p>
            <a:r>
              <a:rPr lang="en-US" sz="2600" b="1" dirty="0">
                <a:latin typeface="Calibri" panose="020F0502020204030204" pitchFamily="34" charset="0"/>
                <a:ea typeface="Calibri" panose="020F0502020204030204" pitchFamily="34" charset="0"/>
                <a:cs typeface="Calibri" panose="020F0502020204030204" pitchFamily="34" charset="0"/>
              </a:rPr>
              <a:t>Item Summary Window</a:t>
            </a:r>
            <a:r>
              <a:rPr lang="en-US" sz="2600" dirty="0">
                <a:latin typeface="Calibri" panose="020F0502020204030204" pitchFamily="34" charset="0"/>
                <a:ea typeface="Calibri" panose="020F0502020204030204" pitchFamily="34" charset="0"/>
                <a:cs typeface="Calibri" panose="020F0502020204030204" pitchFamily="34" charset="0"/>
              </a:rPr>
              <a:t>: Shows bibliographic details of selected items.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84</a:t>
            </a:fld>
            <a:endParaRPr lang="en-US" sz="900">
              <a:solidFill>
                <a:schemeClr val="lt1"/>
              </a:solidFill>
            </a:endParaRPr>
          </a:p>
        </p:txBody>
      </p:sp>
      <p:pic>
        <p:nvPicPr>
          <p:cNvPr id="8" name="Picture 7">
            <a:extLst>
              <a:ext uri="{FF2B5EF4-FFF2-40B4-BE49-F238E27FC236}">
                <a16:creationId xmlns:a16="http://schemas.microsoft.com/office/drawing/2014/main" id="{D78F7361-2306-976F-5F33-A078B1E9E786}"/>
              </a:ext>
            </a:extLst>
          </p:cNvPr>
          <p:cNvPicPr>
            <a:picLocks noChangeAspect="1"/>
          </p:cNvPicPr>
          <p:nvPr/>
        </p:nvPicPr>
        <p:blipFill>
          <a:blip r:embed="rId2"/>
          <a:stretch>
            <a:fillRect/>
          </a:stretch>
        </p:blipFill>
        <p:spPr>
          <a:xfrm>
            <a:off x="6259776" y="841374"/>
            <a:ext cx="5594814" cy="5305426"/>
          </a:xfrm>
          <a:prstGeom prst="rect">
            <a:avLst/>
          </a:prstGeom>
        </p:spPr>
      </p:pic>
    </p:spTree>
    <p:extLst>
      <p:ext uri="{BB962C8B-B14F-4D97-AF65-F5344CB8AC3E}">
        <p14:creationId xmlns:p14="http://schemas.microsoft.com/office/powerpoint/2010/main" val="2649715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Search Statement Analysis: Understanding Query Impact</a:t>
            </a:r>
            <a:endParaRPr lang="en-US" dirty="0"/>
          </a:p>
        </p:txBody>
      </p:sp>
      <p:sp>
        <p:nvSpPr>
          <p:cNvPr id="2" name="Content Placeholder 1">
            <a:extLst>
              <a:ext uri="{FF2B5EF4-FFF2-40B4-BE49-F238E27FC236}">
                <a16:creationId xmlns:a16="http://schemas.microsoft.com/office/drawing/2014/main" id="{3C73CDC4-392C-70AE-6EC3-3B5CF0D0A4E9}"/>
              </a:ext>
            </a:extLst>
          </p:cNvPr>
          <p:cNvSpPr>
            <a:spLocks noGrp="1"/>
          </p:cNvSpPr>
          <p:nvPr>
            <p:ph sz="quarter" idx="13"/>
          </p:nvPr>
        </p:nvSpPr>
        <p:spPr>
          <a:xfrm>
            <a:off x="609600" y="1312651"/>
            <a:ext cx="5594814" cy="4678574"/>
          </a:xfrm>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Purpose: </a:t>
            </a:r>
            <a:r>
              <a:rPr lang="en-US" sz="2600" dirty="0">
                <a:latin typeface="Calibri" panose="020F0502020204030204" pitchFamily="34" charset="0"/>
                <a:ea typeface="Calibri" panose="020F0502020204030204" pitchFamily="34" charset="0"/>
                <a:cs typeface="Calibri" panose="020F0502020204030204" pitchFamily="34" charset="0"/>
              </a:rPr>
              <a:t>It helps users visualize the distribution of search results and their relevance, making it easier to refine queries.</a:t>
            </a:r>
          </a:p>
          <a:p>
            <a:r>
              <a:rPr lang="en-US" sz="2600" b="1" dirty="0">
                <a:latin typeface="Calibri" panose="020F0502020204030204" pitchFamily="34" charset="0"/>
                <a:ea typeface="Calibri" panose="020F0502020204030204" pitchFamily="34" charset="0"/>
                <a:cs typeface="Calibri" panose="020F0502020204030204" pitchFamily="34" charset="0"/>
              </a:rPr>
              <a:t>Example</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Use</a:t>
            </a:r>
            <a:r>
              <a:rPr lang="en-US" sz="2600" dirty="0">
                <a:latin typeface="Calibri" panose="020F0502020204030204" pitchFamily="34" charset="0"/>
                <a:ea typeface="Calibri" panose="020F0502020204030204" pitchFamily="34" charset="0"/>
                <a:cs typeface="Calibri" panose="020F0502020204030204" pitchFamily="34" charset="0"/>
              </a:rPr>
              <a:t>: A user searching for “machine learning” can see clusters of documents and their relevance scores, then adjust the query based on the scatterplot.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85</a:t>
            </a:fld>
            <a:endParaRPr lang="en-US" sz="900">
              <a:solidFill>
                <a:schemeClr val="lt1"/>
              </a:solidFill>
            </a:endParaRPr>
          </a:p>
        </p:txBody>
      </p:sp>
      <p:pic>
        <p:nvPicPr>
          <p:cNvPr id="8" name="Picture 7">
            <a:extLst>
              <a:ext uri="{FF2B5EF4-FFF2-40B4-BE49-F238E27FC236}">
                <a16:creationId xmlns:a16="http://schemas.microsoft.com/office/drawing/2014/main" id="{D78F7361-2306-976F-5F33-A078B1E9E786}"/>
              </a:ext>
            </a:extLst>
          </p:cNvPr>
          <p:cNvPicPr>
            <a:picLocks noChangeAspect="1"/>
          </p:cNvPicPr>
          <p:nvPr/>
        </p:nvPicPr>
        <p:blipFill>
          <a:blip r:embed="rId2"/>
          <a:stretch>
            <a:fillRect/>
          </a:stretch>
        </p:blipFill>
        <p:spPr>
          <a:xfrm>
            <a:off x="6259776" y="841374"/>
            <a:ext cx="5594814" cy="5305426"/>
          </a:xfrm>
          <a:prstGeom prst="rect">
            <a:avLst/>
          </a:prstGeom>
        </p:spPr>
      </p:pic>
    </p:spTree>
    <p:extLst>
      <p:ext uri="{BB962C8B-B14F-4D97-AF65-F5344CB8AC3E}">
        <p14:creationId xmlns:p14="http://schemas.microsoft.com/office/powerpoint/2010/main" val="4890399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A643-262E-024A-DCB5-00A7BB2DEC58}"/>
              </a:ext>
            </a:extLst>
          </p:cNvPr>
          <p:cNvSpPr>
            <a:spLocks noGrp="1"/>
          </p:cNvSpPr>
          <p:nvPr>
            <p:ph type="title"/>
          </p:nvPr>
        </p:nvSpPr>
        <p:spPr/>
        <p:txBody>
          <a:bodyPr/>
          <a:lstStyle/>
          <a:p>
            <a:r>
              <a:rPr lang="en-US" dirty="0">
                <a:effectLst/>
              </a:rPr>
              <a:t>Visualization of Results</a:t>
            </a:r>
            <a:endParaRPr lang="en-US" dirty="0"/>
          </a:p>
        </p:txBody>
      </p:sp>
      <p:sp>
        <p:nvSpPr>
          <p:cNvPr id="3" name="Content Placeholder 2">
            <a:extLst>
              <a:ext uri="{FF2B5EF4-FFF2-40B4-BE49-F238E27FC236}">
                <a16:creationId xmlns:a16="http://schemas.microsoft.com/office/drawing/2014/main" id="{DBFBBAD8-5665-A887-BF69-60CF858B6B3A}"/>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From SIGIR ’96, this shows a grid where </a:t>
            </a:r>
            <a:r>
              <a:rPr lang="en-US" sz="2600" b="1" dirty="0">
                <a:latin typeface="Calibri" panose="020F0502020204030204" pitchFamily="34" charset="0"/>
                <a:ea typeface="Calibri" panose="020F0502020204030204" pitchFamily="34" charset="0"/>
                <a:cs typeface="Calibri" panose="020F0502020204030204" pitchFamily="34" charset="0"/>
              </a:rPr>
              <a:t>columns represent documents</a:t>
            </a:r>
            <a:r>
              <a:rPr lang="en-US" sz="2600" dirty="0">
                <a:latin typeface="Calibri" panose="020F0502020204030204" pitchFamily="34" charset="0"/>
                <a:ea typeface="Calibri" panose="020F0502020204030204" pitchFamily="34" charset="0"/>
                <a:cs typeface="Calibri" panose="020F0502020204030204" pitchFamily="34" charset="0"/>
              </a:rPr>
              <a:t> and </a:t>
            </a:r>
            <a:r>
              <a:rPr lang="en-US" sz="2600" b="1" dirty="0">
                <a:latin typeface="Calibri" panose="020F0502020204030204" pitchFamily="34" charset="0"/>
                <a:ea typeface="Calibri" panose="020F0502020204030204" pitchFamily="34" charset="0"/>
                <a:cs typeface="Calibri" panose="020F0502020204030204" pitchFamily="34" charset="0"/>
              </a:rPr>
              <a:t>rows represent query terms </a:t>
            </a:r>
            <a:r>
              <a:rPr lang="en-US" sz="2600" dirty="0">
                <a:latin typeface="Calibri" panose="020F0502020204030204" pitchFamily="34" charset="0"/>
                <a:ea typeface="Calibri" panose="020F0502020204030204" pitchFamily="34" charset="0"/>
                <a:cs typeface="Calibri" panose="020F0502020204030204" pitchFamily="34" charset="0"/>
              </a:rPr>
              <a:t>(e.g., “affirmative-action,” “construct-industry”). </a:t>
            </a:r>
          </a:p>
          <a:p>
            <a:r>
              <a:rPr lang="en-US" sz="2600" dirty="0">
                <a:latin typeface="Calibri" panose="020F0502020204030204" pitchFamily="34" charset="0"/>
                <a:ea typeface="Calibri" panose="020F0502020204030204" pitchFamily="34" charset="0"/>
                <a:cs typeface="Calibri" panose="020F0502020204030204" pitchFamily="34" charset="0"/>
              </a:rPr>
              <a:t>The </a:t>
            </a:r>
            <a:r>
              <a:rPr lang="en-US" sz="2600" b="1" dirty="0">
                <a:latin typeface="Calibri" panose="020F0502020204030204" pitchFamily="34" charset="0"/>
                <a:ea typeface="Calibri" panose="020F0502020204030204" pitchFamily="34" charset="0"/>
                <a:cs typeface="Calibri" panose="020F0502020204030204" pitchFamily="34" charset="0"/>
              </a:rPr>
              <a:t>height of bars indicates the weight of each term in a document. </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86</a:t>
            </a:fld>
            <a:endParaRPr lang="en-US" sz="900">
              <a:solidFill>
                <a:schemeClr val="lt1"/>
              </a:solidFill>
            </a:endParaRPr>
          </a:p>
        </p:txBody>
      </p:sp>
      <p:pic>
        <p:nvPicPr>
          <p:cNvPr id="9" name="Picture 8">
            <a:extLst>
              <a:ext uri="{FF2B5EF4-FFF2-40B4-BE49-F238E27FC236}">
                <a16:creationId xmlns:a16="http://schemas.microsoft.com/office/drawing/2014/main" id="{7177C062-168B-DD42-36B3-341107894913}"/>
              </a:ext>
            </a:extLst>
          </p:cNvPr>
          <p:cNvPicPr>
            <a:picLocks noChangeAspect="1"/>
          </p:cNvPicPr>
          <p:nvPr/>
        </p:nvPicPr>
        <p:blipFill>
          <a:blip r:embed="rId2"/>
          <a:stretch>
            <a:fillRect/>
          </a:stretch>
        </p:blipFill>
        <p:spPr>
          <a:xfrm>
            <a:off x="6459791" y="1414951"/>
            <a:ext cx="4947326" cy="4833449"/>
          </a:xfrm>
          <a:prstGeom prst="rect">
            <a:avLst/>
          </a:prstGeom>
        </p:spPr>
      </p:pic>
    </p:spTree>
    <p:extLst>
      <p:ext uri="{BB962C8B-B14F-4D97-AF65-F5344CB8AC3E}">
        <p14:creationId xmlns:p14="http://schemas.microsoft.com/office/powerpoint/2010/main" val="29521248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A643-262E-024A-DCB5-00A7BB2DEC58}"/>
              </a:ext>
            </a:extLst>
          </p:cNvPr>
          <p:cNvSpPr>
            <a:spLocks noGrp="1"/>
          </p:cNvSpPr>
          <p:nvPr>
            <p:ph type="title"/>
          </p:nvPr>
        </p:nvSpPr>
        <p:spPr>
          <a:xfrm>
            <a:off x="609600" y="215373"/>
            <a:ext cx="10972800" cy="841268"/>
          </a:xfrm>
        </p:spPr>
        <p:txBody>
          <a:bodyPr/>
          <a:lstStyle/>
          <a:p>
            <a:r>
              <a:rPr lang="en-US" dirty="0">
                <a:effectLst/>
              </a:rPr>
              <a:t>Visualization of Results</a:t>
            </a:r>
            <a:endParaRPr lang="en-US" dirty="0"/>
          </a:p>
        </p:txBody>
      </p:sp>
      <p:sp>
        <p:nvSpPr>
          <p:cNvPr id="3" name="Content Placeholder 2">
            <a:extLst>
              <a:ext uri="{FF2B5EF4-FFF2-40B4-BE49-F238E27FC236}">
                <a16:creationId xmlns:a16="http://schemas.microsoft.com/office/drawing/2014/main" id="{DBFBBAD8-5665-A887-BF69-60CF858B6B3A}"/>
              </a:ext>
            </a:extLst>
          </p:cNvPr>
          <p:cNvSpPr>
            <a:spLocks noGrp="1"/>
          </p:cNvSpPr>
          <p:nvPr>
            <p:ph sz="quarter" idx="13"/>
          </p:nvPr>
        </p:nvSpPr>
        <p:spPr>
          <a:xfrm>
            <a:off x="609600" y="1056642"/>
            <a:ext cx="5850191" cy="4934584"/>
          </a:xfrm>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Purpose</a:t>
            </a:r>
            <a:r>
              <a:rPr lang="en-US" sz="2600" dirty="0">
                <a:latin typeface="Calibri" panose="020F0502020204030204" pitchFamily="34" charset="0"/>
                <a:ea typeface="Calibri" panose="020F0502020204030204" pitchFamily="34" charset="0"/>
                <a:cs typeface="Calibri" panose="020F0502020204030204" pitchFamily="34" charset="0"/>
              </a:rPr>
              <a:t>: Users can see which terms </a:t>
            </a:r>
            <a:r>
              <a:rPr lang="en-US" sz="2600" b="1" dirty="0">
                <a:latin typeface="Calibri" panose="020F0502020204030204" pitchFamily="34" charset="0"/>
                <a:ea typeface="Calibri" panose="020F0502020204030204" pitchFamily="34" charset="0"/>
                <a:cs typeface="Calibri" panose="020F0502020204030204" pitchFamily="34" charset="0"/>
              </a:rPr>
              <a:t>most influenced retrieval </a:t>
            </a:r>
            <a:r>
              <a:rPr lang="en-US" sz="2600" dirty="0">
                <a:latin typeface="Calibri" panose="020F0502020204030204" pitchFamily="34" charset="0"/>
                <a:ea typeface="Calibri" panose="020F0502020204030204" pitchFamily="34" charset="0"/>
                <a:cs typeface="Calibri" panose="020F0502020204030204" pitchFamily="34" charset="0"/>
              </a:rPr>
              <a:t>(by scanning columns) and </a:t>
            </a:r>
            <a:r>
              <a:rPr lang="en-US" sz="2600" b="1" dirty="0">
                <a:latin typeface="Calibri" panose="020F0502020204030204" pitchFamily="34" charset="0"/>
                <a:ea typeface="Calibri" panose="020F0502020204030204" pitchFamily="34" charset="0"/>
                <a:cs typeface="Calibri" panose="020F0502020204030204" pitchFamily="34" charset="0"/>
              </a:rPr>
              <a:t>how terms contributed overall </a:t>
            </a:r>
            <a:r>
              <a:rPr lang="en-US" sz="2600" dirty="0">
                <a:latin typeface="Calibri" panose="020F0502020204030204" pitchFamily="34" charset="0"/>
                <a:ea typeface="Calibri" panose="020F0502020204030204" pitchFamily="34" charset="0"/>
                <a:cs typeface="Calibri" panose="020F0502020204030204" pitchFamily="34" charset="0"/>
              </a:rPr>
              <a:t>(by scanning rows), helping identify underperforming terms for query refinement.</a:t>
            </a:r>
          </a:p>
          <a:p>
            <a:r>
              <a:rPr lang="en-US" sz="2600" b="1" dirty="0">
                <a:latin typeface="Calibri" panose="020F0502020204030204" pitchFamily="34" charset="0"/>
                <a:ea typeface="Calibri" panose="020F0502020204030204" pitchFamily="34" charset="0"/>
                <a:cs typeface="Calibri" panose="020F0502020204030204" pitchFamily="34" charset="0"/>
              </a:rPr>
              <a:t>Example</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Use</a:t>
            </a:r>
            <a:r>
              <a:rPr lang="en-US" sz="2600" dirty="0">
                <a:latin typeface="Calibri" panose="020F0502020204030204" pitchFamily="34" charset="0"/>
                <a:ea typeface="Calibri" panose="020F0502020204030204" pitchFamily="34" charset="0"/>
                <a:cs typeface="Calibri" panose="020F0502020204030204" pitchFamily="34" charset="0"/>
              </a:rPr>
              <a:t>: For the query “How affirmative action affected the construction industry,” a user might notice “construct” has </a:t>
            </a:r>
            <a:r>
              <a:rPr lang="en-US" sz="2600" b="1" dirty="0">
                <a:latin typeface="Calibri" panose="020F0502020204030204" pitchFamily="34" charset="0"/>
                <a:ea typeface="Calibri" panose="020F0502020204030204" pitchFamily="34" charset="0"/>
                <a:cs typeface="Calibri" panose="020F0502020204030204" pitchFamily="34" charset="0"/>
              </a:rPr>
              <a:t>low impact </a:t>
            </a:r>
            <a:r>
              <a:rPr lang="en-US" sz="2600" dirty="0">
                <a:latin typeface="Calibri" panose="020F0502020204030204" pitchFamily="34" charset="0"/>
                <a:ea typeface="Calibri" panose="020F0502020204030204" pitchFamily="34" charset="0"/>
                <a:cs typeface="Calibri" panose="020F0502020204030204" pitchFamily="34" charset="0"/>
              </a:rPr>
              <a:t>and </a:t>
            </a:r>
            <a:r>
              <a:rPr lang="en-US" sz="2600" b="1" dirty="0">
                <a:latin typeface="Calibri" panose="020F0502020204030204" pitchFamily="34" charset="0"/>
                <a:ea typeface="Calibri" panose="020F0502020204030204" pitchFamily="34" charset="0"/>
                <a:cs typeface="Calibri" panose="020F0502020204030204" pitchFamily="34" charset="0"/>
              </a:rPr>
              <a:t>adjust the query to include related terms.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87</a:t>
            </a:fld>
            <a:endParaRPr lang="en-US" sz="900">
              <a:solidFill>
                <a:schemeClr val="lt1"/>
              </a:solidFill>
            </a:endParaRPr>
          </a:p>
        </p:txBody>
      </p:sp>
      <p:pic>
        <p:nvPicPr>
          <p:cNvPr id="9" name="Picture 8">
            <a:extLst>
              <a:ext uri="{FF2B5EF4-FFF2-40B4-BE49-F238E27FC236}">
                <a16:creationId xmlns:a16="http://schemas.microsoft.com/office/drawing/2014/main" id="{7177C062-168B-DD42-36B3-341107894913}"/>
              </a:ext>
            </a:extLst>
          </p:cNvPr>
          <p:cNvPicPr>
            <a:picLocks noChangeAspect="1"/>
          </p:cNvPicPr>
          <p:nvPr/>
        </p:nvPicPr>
        <p:blipFill>
          <a:blip r:embed="rId2"/>
          <a:stretch>
            <a:fillRect/>
          </a:stretch>
        </p:blipFill>
        <p:spPr>
          <a:xfrm>
            <a:off x="6459790" y="1414951"/>
            <a:ext cx="5234369" cy="4833449"/>
          </a:xfrm>
          <a:prstGeom prst="rect">
            <a:avLst/>
          </a:prstGeom>
        </p:spPr>
      </p:pic>
    </p:spTree>
    <p:extLst>
      <p:ext uri="{BB962C8B-B14F-4D97-AF65-F5344CB8AC3E}">
        <p14:creationId xmlns:p14="http://schemas.microsoft.com/office/powerpoint/2010/main" val="35709513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8EF0-1F91-BE6F-9305-A0DFF860297F}"/>
              </a:ext>
            </a:extLst>
          </p:cNvPr>
          <p:cNvSpPr>
            <a:spLocks noGrp="1"/>
          </p:cNvSpPr>
          <p:nvPr>
            <p:ph type="title"/>
          </p:nvPr>
        </p:nvSpPr>
        <p:spPr/>
        <p:txBody>
          <a:bodyPr/>
          <a:lstStyle/>
          <a:p>
            <a:r>
              <a:rPr lang="en-US" dirty="0">
                <a:effectLst/>
              </a:rPr>
              <a:t>DCARS Query Histogram</a:t>
            </a:r>
            <a:endParaRPr lang="en-US" dirty="0"/>
          </a:p>
        </p:txBody>
      </p:sp>
      <p:sp>
        <p:nvSpPr>
          <p:cNvPr id="3" name="Content Placeholder 2">
            <a:extLst>
              <a:ext uri="{FF2B5EF4-FFF2-40B4-BE49-F238E27FC236}">
                <a16:creationId xmlns:a16="http://schemas.microsoft.com/office/drawing/2014/main" id="{B2018F5A-EF17-EB1A-F075-33C62884634E}"/>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From </a:t>
            </a:r>
            <a:r>
              <a:rPr lang="en-US" sz="2600" dirty="0" err="1">
                <a:latin typeface="Calibri" panose="020F0502020204030204" pitchFamily="34" charset="0"/>
                <a:ea typeface="Calibri" panose="020F0502020204030204" pitchFamily="34" charset="0"/>
                <a:cs typeface="Calibri" panose="020F0502020204030204" pitchFamily="34" charset="0"/>
              </a:rPr>
              <a:t>Calspan’s</a:t>
            </a:r>
            <a:r>
              <a:rPr lang="en-US" sz="2600" dirty="0">
                <a:latin typeface="Calibri" panose="020F0502020204030204" pitchFamily="34" charset="0"/>
                <a:ea typeface="Calibri" panose="020F0502020204030204" pitchFamily="34" charset="0"/>
                <a:cs typeface="Calibri" panose="020F0502020204030204" pitchFamily="34" charset="0"/>
              </a:rPr>
              <a:t> DCARS system, this histogram displays documents as rows, with tile bars showing the </a:t>
            </a:r>
            <a:r>
              <a:rPr lang="en-US" sz="2600" b="1" dirty="0">
                <a:latin typeface="Calibri" panose="020F0502020204030204" pitchFamily="34" charset="0"/>
                <a:ea typeface="Calibri" panose="020F0502020204030204" pitchFamily="34" charset="0"/>
                <a:cs typeface="Calibri" panose="020F0502020204030204" pitchFamily="34" charset="0"/>
              </a:rPr>
              <a:t>contribution of query terms </a:t>
            </a:r>
            <a:r>
              <a:rPr lang="en-US" sz="2600" dirty="0">
                <a:latin typeface="Calibri" panose="020F0502020204030204" pitchFamily="34" charset="0"/>
                <a:ea typeface="Calibri" panose="020F0502020204030204" pitchFamily="34" charset="0"/>
                <a:cs typeface="Calibri" panose="020F0502020204030204" pitchFamily="34" charset="0"/>
              </a:rPr>
              <a:t>(e.g., “arms,” “proliferation”) to retrieval. </a:t>
            </a:r>
          </a:p>
          <a:p>
            <a:r>
              <a:rPr lang="en-US" sz="2600" b="1" dirty="0">
                <a:latin typeface="Calibri" panose="020F0502020204030204" pitchFamily="34" charset="0"/>
                <a:ea typeface="Calibri" panose="020F0502020204030204" pitchFamily="34" charset="0"/>
                <a:cs typeface="Calibri" panose="020F0502020204030204" pitchFamily="34" charset="0"/>
              </a:rPr>
              <a:t>The</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width of each bar reflects term importance</a:t>
            </a:r>
            <a:r>
              <a:rPr lang="en-US" sz="2600" dirty="0">
                <a:latin typeface="Calibri" panose="020F0502020204030204" pitchFamily="34" charset="0"/>
                <a:ea typeface="Calibri" panose="020F0502020204030204" pitchFamily="34" charset="0"/>
                <a:cs typeface="Calibri" panose="020F0502020204030204" pitchFamily="34" charset="0"/>
              </a:rPr>
              <a: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88</a:t>
            </a:fld>
            <a:endParaRPr lang="en-US" sz="900">
              <a:solidFill>
                <a:schemeClr val="lt1"/>
              </a:solidFill>
            </a:endParaRPr>
          </a:p>
        </p:txBody>
      </p:sp>
      <p:pic>
        <p:nvPicPr>
          <p:cNvPr id="9" name="Picture 8">
            <a:extLst>
              <a:ext uri="{FF2B5EF4-FFF2-40B4-BE49-F238E27FC236}">
                <a16:creationId xmlns:a16="http://schemas.microsoft.com/office/drawing/2014/main" id="{C1BAF0D8-5D7D-F21B-04C7-B1CAB9FCEF22}"/>
              </a:ext>
            </a:extLst>
          </p:cNvPr>
          <p:cNvPicPr>
            <a:picLocks noChangeAspect="1"/>
          </p:cNvPicPr>
          <p:nvPr/>
        </p:nvPicPr>
        <p:blipFill>
          <a:blip r:embed="rId2"/>
          <a:stretch>
            <a:fillRect/>
          </a:stretch>
        </p:blipFill>
        <p:spPr>
          <a:xfrm>
            <a:off x="6485103" y="1414951"/>
            <a:ext cx="5097297" cy="4752169"/>
          </a:xfrm>
          <a:prstGeom prst="rect">
            <a:avLst/>
          </a:prstGeom>
        </p:spPr>
      </p:pic>
    </p:spTree>
    <p:extLst>
      <p:ext uri="{BB962C8B-B14F-4D97-AF65-F5344CB8AC3E}">
        <p14:creationId xmlns:p14="http://schemas.microsoft.com/office/powerpoint/2010/main" val="2937651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8EF0-1F91-BE6F-9305-A0DFF860297F}"/>
              </a:ext>
            </a:extLst>
          </p:cNvPr>
          <p:cNvSpPr>
            <a:spLocks noGrp="1"/>
          </p:cNvSpPr>
          <p:nvPr>
            <p:ph type="title"/>
          </p:nvPr>
        </p:nvSpPr>
        <p:spPr/>
        <p:txBody>
          <a:bodyPr/>
          <a:lstStyle/>
          <a:p>
            <a:r>
              <a:rPr lang="en-US" dirty="0">
                <a:effectLst/>
              </a:rPr>
              <a:t>DCARS Query Histogram</a:t>
            </a:r>
            <a:endParaRPr lang="en-US" dirty="0"/>
          </a:p>
        </p:txBody>
      </p:sp>
      <p:sp>
        <p:nvSpPr>
          <p:cNvPr id="3" name="Content Placeholder 2">
            <a:extLst>
              <a:ext uri="{FF2B5EF4-FFF2-40B4-BE49-F238E27FC236}">
                <a16:creationId xmlns:a16="http://schemas.microsoft.com/office/drawing/2014/main" id="{B2018F5A-EF17-EB1A-F075-33C62884634E}"/>
              </a:ext>
            </a:extLst>
          </p:cNvPr>
          <p:cNvSpPr>
            <a:spLocks noGrp="1"/>
          </p:cNvSpPr>
          <p:nvPr>
            <p:ph sz="quarter" idx="13"/>
          </p:nvPr>
        </p:nvSpPr>
        <p:spPr>
          <a:xfrm>
            <a:off x="609600" y="1414951"/>
            <a:ext cx="5875503" cy="4576274"/>
          </a:xfrm>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Purpose</a:t>
            </a:r>
            <a:r>
              <a:rPr lang="en-US" sz="2600" dirty="0">
                <a:latin typeface="Calibri" panose="020F0502020204030204" pitchFamily="34" charset="0"/>
                <a:ea typeface="Calibri" panose="020F0502020204030204" pitchFamily="34" charset="0"/>
                <a:cs typeface="Calibri" panose="020F0502020204030204" pitchFamily="34" charset="0"/>
              </a:rPr>
              <a:t>: It </a:t>
            </a:r>
            <a:r>
              <a:rPr lang="en-US" sz="2600" b="1" dirty="0">
                <a:latin typeface="Calibri" panose="020F0502020204030204" pitchFamily="34" charset="0"/>
                <a:ea typeface="Calibri" panose="020F0502020204030204" pitchFamily="34" charset="0"/>
                <a:cs typeface="Calibri" panose="020F0502020204030204" pitchFamily="34" charset="0"/>
              </a:rPr>
              <a:t>highlights why a document was retrieved</a:t>
            </a:r>
            <a:r>
              <a:rPr lang="en-US" sz="2600" dirty="0">
                <a:latin typeface="Calibri" panose="020F0502020204030204" pitchFamily="34" charset="0"/>
                <a:ea typeface="Calibri" panose="020F0502020204030204" pitchFamily="34" charset="0"/>
                <a:cs typeface="Calibri" panose="020F0502020204030204" pitchFamily="34" charset="0"/>
              </a:rPr>
              <a:t>, but it’s less effective for query refinement compared to Figure 8.8.</a:t>
            </a:r>
          </a:p>
          <a:p>
            <a:r>
              <a:rPr lang="en-US" sz="2600" b="1" dirty="0">
                <a:latin typeface="Calibri" panose="020F0502020204030204" pitchFamily="34" charset="0"/>
                <a:ea typeface="Calibri" panose="020F0502020204030204" pitchFamily="34" charset="0"/>
                <a:cs typeface="Calibri" panose="020F0502020204030204" pitchFamily="34" charset="0"/>
              </a:rPr>
              <a:t>Example</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Use</a:t>
            </a:r>
            <a:r>
              <a:rPr lang="en-US" sz="2600" dirty="0">
                <a:latin typeface="Calibri" panose="020F0502020204030204" pitchFamily="34" charset="0"/>
                <a:ea typeface="Calibri" panose="020F0502020204030204" pitchFamily="34" charset="0"/>
                <a:cs typeface="Calibri" panose="020F0502020204030204" pitchFamily="34" charset="0"/>
              </a:rPr>
              <a:t>: A user searching for “arms proliferation” can see </a:t>
            </a:r>
            <a:r>
              <a:rPr lang="en-US" sz="2600" b="1" dirty="0">
                <a:latin typeface="Calibri" panose="020F0502020204030204" pitchFamily="34" charset="0"/>
                <a:ea typeface="Calibri" panose="020F0502020204030204" pitchFamily="34" charset="0"/>
                <a:cs typeface="Calibri" panose="020F0502020204030204" pitchFamily="34" charset="0"/>
              </a:rPr>
              <a:t>which terms drove the retrieval of each document, focusing on the most relevant ones.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89</a:t>
            </a:fld>
            <a:endParaRPr lang="en-US" sz="900">
              <a:solidFill>
                <a:schemeClr val="lt1"/>
              </a:solidFill>
            </a:endParaRPr>
          </a:p>
        </p:txBody>
      </p:sp>
      <p:pic>
        <p:nvPicPr>
          <p:cNvPr id="9" name="Picture 8">
            <a:extLst>
              <a:ext uri="{FF2B5EF4-FFF2-40B4-BE49-F238E27FC236}">
                <a16:creationId xmlns:a16="http://schemas.microsoft.com/office/drawing/2014/main" id="{C1BAF0D8-5D7D-F21B-04C7-B1CAB9FCEF22}"/>
              </a:ext>
            </a:extLst>
          </p:cNvPr>
          <p:cNvPicPr>
            <a:picLocks noChangeAspect="1"/>
          </p:cNvPicPr>
          <p:nvPr/>
        </p:nvPicPr>
        <p:blipFill>
          <a:blip r:embed="rId2"/>
          <a:stretch>
            <a:fillRect/>
          </a:stretch>
        </p:blipFill>
        <p:spPr>
          <a:xfrm>
            <a:off x="6485103" y="1414951"/>
            <a:ext cx="5097297" cy="4752169"/>
          </a:xfrm>
          <a:prstGeom prst="rect">
            <a:avLst/>
          </a:prstGeom>
        </p:spPr>
      </p:pic>
    </p:spTree>
    <p:extLst>
      <p:ext uri="{BB962C8B-B14F-4D97-AF65-F5344CB8AC3E}">
        <p14:creationId xmlns:p14="http://schemas.microsoft.com/office/powerpoint/2010/main" val="29509016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Cityscape for Thematic Representation</a:t>
            </a:r>
            <a:endParaRPr lang="en-US" dirty="0"/>
          </a:p>
        </p:txBody>
      </p:sp>
      <p:sp>
        <p:nvSpPr>
          <p:cNvPr id="2" name="Content Placeholder 1">
            <a:extLst>
              <a:ext uri="{FF2B5EF4-FFF2-40B4-BE49-F238E27FC236}">
                <a16:creationId xmlns:a16="http://schemas.microsoft.com/office/drawing/2014/main" id="{0D62AFCD-3ADA-0D1F-3789-A09C58ECBE79}"/>
              </a:ext>
            </a:extLst>
          </p:cNvPr>
          <p:cNvSpPr>
            <a:spLocks noGrp="1"/>
          </p:cNvSpPr>
          <p:nvPr>
            <p:ph sz="quarter" idx="13"/>
          </p:nvPr>
        </p:nvSpPr>
        <p:spPr/>
        <p:txBody>
          <a:bodyPr/>
          <a:lstStyle/>
          <a:p>
            <a:r>
              <a:rPr lang="en-US" dirty="0"/>
              <a:t>This uses a 3D “city” metaphor </a:t>
            </a:r>
            <a:r>
              <a:rPr lang="en-US" b="1" dirty="0"/>
              <a:t>where skyscrapers represent themes or concepts </a:t>
            </a:r>
            <a:r>
              <a:rPr lang="en-US" dirty="0"/>
              <a:t>(e.g., document clusters). </a:t>
            </a:r>
          </a:p>
          <a:p>
            <a:r>
              <a:rPr lang="en-US" b="1" dirty="0"/>
              <a:t>The height of buildings indicates the importance or size of the theme, and connections between buildings show relationships.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90</a:t>
            </a:fld>
            <a:endParaRPr lang="en-US" sz="900">
              <a:solidFill>
                <a:schemeClr val="lt1"/>
              </a:solidFill>
            </a:endParaRPr>
          </a:p>
        </p:txBody>
      </p:sp>
      <p:pic>
        <p:nvPicPr>
          <p:cNvPr id="8" name="Picture 7">
            <a:extLst>
              <a:ext uri="{FF2B5EF4-FFF2-40B4-BE49-F238E27FC236}">
                <a16:creationId xmlns:a16="http://schemas.microsoft.com/office/drawing/2014/main" id="{073A54DD-8872-7B1A-1B0A-96CD9F8D1FBB}"/>
              </a:ext>
            </a:extLst>
          </p:cNvPr>
          <p:cNvPicPr>
            <a:picLocks noChangeAspect="1"/>
          </p:cNvPicPr>
          <p:nvPr/>
        </p:nvPicPr>
        <p:blipFill>
          <a:blip r:embed="rId2"/>
          <a:stretch>
            <a:fillRect/>
          </a:stretch>
        </p:blipFill>
        <p:spPr>
          <a:xfrm>
            <a:off x="6259775" y="1548100"/>
            <a:ext cx="5322312" cy="4324379"/>
          </a:xfrm>
          <a:prstGeom prst="rect">
            <a:avLst/>
          </a:prstGeom>
        </p:spPr>
      </p:pic>
    </p:spTree>
    <p:extLst>
      <p:ext uri="{BB962C8B-B14F-4D97-AF65-F5344CB8AC3E}">
        <p14:creationId xmlns:p14="http://schemas.microsoft.com/office/powerpoint/2010/main" val="24553953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Cityscape for Thematic Representation</a:t>
            </a:r>
            <a:endParaRPr lang="en-US" dirty="0"/>
          </a:p>
        </p:txBody>
      </p:sp>
      <p:sp>
        <p:nvSpPr>
          <p:cNvPr id="2" name="Content Placeholder 1">
            <a:extLst>
              <a:ext uri="{FF2B5EF4-FFF2-40B4-BE49-F238E27FC236}">
                <a16:creationId xmlns:a16="http://schemas.microsoft.com/office/drawing/2014/main" id="{0D62AFCD-3ADA-0D1F-3789-A09C58ECBE79}"/>
              </a:ext>
            </a:extLst>
          </p:cNvPr>
          <p:cNvSpPr>
            <a:spLocks noGrp="1"/>
          </p:cNvSpPr>
          <p:nvPr>
            <p:ph sz="quarter" idx="13"/>
          </p:nvPr>
        </p:nvSpPr>
        <p:spPr>
          <a:xfrm>
            <a:off x="609600" y="1312651"/>
            <a:ext cx="5486400" cy="4678574"/>
          </a:xfrm>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Purpose</a:t>
            </a:r>
            <a:r>
              <a:rPr lang="en-US" sz="2600" dirty="0">
                <a:latin typeface="Calibri" panose="020F0502020204030204" pitchFamily="34" charset="0"/>
                <a:ea typeface="Calibri" panose="020F0502020204030204" pitchFamily="34" charset="0"/>
                <a:cs typeface="Calibri" panose="020F0502020204030204" pitchFamily="34" charset="0"/>
              </a:rPr>
              <a:t>: It allows users to “move” through the </a:t>
            </a:r>
            <a:r>
              <a:rPr lang="en-US" sz="2600" b="1" dirty="0">
                <a:latin typeface="Calibri" panose="020F0502020204030204" pitchFamily="34" charset="0"/>
                <a:ea typeface="Calibri" panose="020F0502020204030204" pitchFamily="34" charset="0"/>
                <a:cs typeface="Calibri" panose="020F0502020204030204" pitchFamily="34" charset="0"/>
              </a:rPr>
              <a:t>cityscape, zooming in on specific themes to reveal more details</a:t>
            </a:r>
            <a:r>
              <a:rPr lang="en-US" sz="2600" dirty="0">
                <a:latin typeface="Calibri" panose="020F0502020204030204" pitchFamily="34" charset="0"/>
                <a:ea typeface="Calibri" panose="020F0502020204030204" pitchFamily="34" charset="0"/>
                <a:cs typeface="Calibri" panose="020F0502020204030204" pitchFamily="34" charset="0"/>
              </a:rPr>
              <a:t>, providing an intuitive way to explore complex data.</a:t>
            </a:r>
          </a:p>
          <a:p>
            <a:r>
              <a:rPr lang="en-US" sz="2600" b="1" dirty="0">
                <a:latin typeface="Calibri" panose="020F0502020204030204" pitchFamily="34" charset="0"/>
                <a:ea typeface="Calibri" panose="020F0502020204030204" pitchFamily="34" charset="0"/>
                <a:cs typeface="Calibri" panose="020F0502020204030204" pitchFamily="34" charset="0"/>
              </a:rPr>
              <a:t>Example</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Use</a:t>
            </a:r>
            <a:r>
              <a:rPr lang="en-US" sz="2600" dirty="0">
                <a:latin typeface="Calibri" panose="020F0502020204030204" pitchFamily="34" charset="0"/>
                <a:ea typeface="Calibri" panose="020F0502020204030204" pitchFamily="34" charset="0"/>
                <a:cs typeface="Calibri" panose="020F0502020204030204" pitchFamily="34" charset="0"/>
              </a:rPr>
              <a:t>: In a news retrieval system, a user might see a tall building for “oil spill” with connected buildings for related events, navigating to explore specific articles.</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91</a:t>
            </a:fld>
            <a:endParaRPr lang="en-US" sz="900">
              <a:solidFill>
                <a:schemeClr val="lt1"/>
              </a:solidFill>
            </a:endParaRPr>
          </a:p>
        </p:txBody>
      </p:sp>
      <p:pic>
        <p:nvPicPr>
          <p:cNvPr id="8" name="Picture 7">
            <a:extLst>
              <a:ext uri="{FF2B5EF4-FFF2-40B4-BE49-F238E27FC236}">
                <a16:creationId xmlns:a16="http://schemas.microsoft.com/office/drawing/2014/main" id="{073A54DD-8872-7B1A-1B0A-96CD9F8D1FBB}"/>
              </a:ext>
            </a:extLst>
          </p:cNvPr>
          <p:cNvPicPr>
            <a:picLocks noChangeAspect="1"/>
          </p:cNvPicPr>
          <p:nvPr/>
        </p:nvPicPr>
        <p:blipFill>
          <a:blip r:embed="rId2"/>
          <a:stretch>
            <a:fillRect/>
          </a:stretch>
        </p:blipFill>
        <p:spPr>
          <a:xfrm>
            <a:off x="6259775" y="1548100"/>
            <a:ext cx="5322312" cy="4324379"/>
          </a:xfrm>
          <a:prstGeom prst="rect">
            <a:avLst/>
          </a:prstGeom>
        </p:spPr>
      </p:pic>
    </p:spTree>
    <p:extLst>
      <p:ext uri="{BB962C8B-B14F-4D97-AF65-F5344CB8AC3E}">
        <p14:creationId xmlns:p14="http://schemas.microsoft.com/office/powerpoint/2010/main" val="29347311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Item Term Clustering</a:t>
            </a:r>
          </a:p>
        </p:txBody>
      </p:sp>
      <p:pic>
        <p:nvPicPr>
          <p:cNvPr id="3" name="Content Placeholder 2">
            <a:extLst>
              <a:ext uri="{FF2B5EF4-FFF2-40B4-BE49-F238E27FC236}">
                <a16:creationId xmlns:a16="http://schemas.microsoft.com/office/drawing/2014/main" id="{52F2ECE6-B4D4-9FC8-8D0E-D0B917615B8E}"/>
              </a:ext>
            </a:extLst>
          </p:cNvPr>
          <p:cNvPicPr>
            <a:picLocks noGrp="1" noChangeAspect="1"/>
          </p:cNvPicPr>
          <p:nvPr>
            <p:ph sz="quarter" idx="13"/>
          </p:nvPr>
        </p:nvPicPr>
        <p:blipFill>
          <a:blip r:embed="rId2"/>
          <a:stretch>
            <a:fillRect/>
          </a:stretch>
        </p:blipFill>
        <p:spPr>
          <a:xfrm>
            <a:off x="152030" y="1552575"/>
            <a:ext cx="5602727" cy="3894237"/>
          </a:xfrm>
          <a:prstGeom prst="rect">
            <a:avLst/>
          </a:prstGeom>
        </p:spPr>
      </p:pic>
      <p:sp>
        <p:nvSpPr>
          <p:cNvPr id="8" name="Content Placeholder 7">
            <a:extLst>
              <a:ext uri="{FF2B5EF4-FFF2-40B4-BE49-F238E27FC236}">
                <a16:creationId xmlns:a16="http://schemas.microsoft.com/office/drawing/2014/main" id="{D70205D0-541B-1D80-B249-400ECF403794}"/>
              </a:ext>
            </a:extLst>
          </p:cNvPr>
          <p:cNvSpPr>
            <a:spLocks noGrp="1"/>
          </p:cNvSpPr>
          <p:nvPr>
            <p:ph sz="quarter" idx="14"/>
          </p:nvPr>
        </p:nvSpPr>
        <p:spPr>
          <a:xfrm>
            <a:off x="5754757" y="496957"/>
            <a:ext cx="5827643" cy="5494268"/>
          </a:xfrm>
        </p:spPr>
        <p:txBody>
          <a:bodyPr/>
          <a:lstStyle/>
          <a:p>
            <a:r>
              <a:rPr lang="en-US" sz="2200" dirty="0">
                <a:latin typeface="Calibri" panose="020F0502020204030204" pitchFamily="34" charset="0"/>
                <a:cs typeface="Calibri" panose="020F0502020204030204" pitchFamily="34" charset="0"/>
              </a:rPr>
              <a:t>This diagram shows a </a:t>
            </a:r>
            <a:r>
              <a:rPr lang="en-US" sz="2200" b="1" dirty="0">
                <a:latin typeface="Calibri" panose="020F0502020204030204" pitchFamily="34" charset="0"/>
                <a:cs typeface="Calibri" panose="020F0502020204030204" pitchFamily="34" charset="0"/>
              </a:rPr>
              <a:t>hierarchical clustering </a:t>
            </a:r>
            <a:r>
              <a:rPr lang="en-US" sz="2200" dirty="0">
                <a:latin typeface="Calibri" panose="020F0502020204030204" pitchFamily="34" charset="0"/>
                <a:cs typeface="Calibri" panose="020F0502020204030204" pitchFamily="34" charset="0"/>
              </a:rPr>
              <a:t>of items (represented by letters K, L, M, etc.) into clusters (A, B, C, etc.).</a:t>
            </a:r>
          </a:p>
          <a:p>
            <a:r>
              <a:rPr lang="en-US" sz="2200" dirty="0">
                <a:latin typeface="Calibri" panose="020F0502020204030204" pitchFamily="34" charset="0"/>
                <a:cs typeface="Calibri" panose="020F0502020204030204" pitchFamily="34" charset="0"/>
              </a:rPr>
              <a:t>Nodes A and B are top-level centroids (averages of their child nodes).</a:t>
            </a:r>
          </a:p>
          <a:p>
            <a:r>
              <a:rPr lang="en-US" sz="2200" dirty="0">
                <a:latin typeface="Calibri" panose="020F0502020204030204" pitchFamily="34" charset="0"/>
                <a:cs typeface="Calibri" panose="020F0502020204030204" pitchFamily="34" charset="0"/>
              </a:rPr>
              <a:t>C, D, E, etc. are sub-clusters or individual items.</a:t>
            </a:r>
          </a:p>
          <a:p>
            <a:r>
              <a:rPr lang="en-US" sz="2200" dirty="0">
                <a:latin typeface="Calibri" panose="020F0502020204030204" pitchFamily="34" charset="0"/>
                <a:cs typeface="Calibri" panose="020F0502020204030204" pitchFamily="34" charset="0"/>
              </a:rPr>
              <a:t>In a search, the query is first compared to centroids A and B using a similarity measure (e.g., Cosine). If the similarity exceeds a threshold, the search proceeds to the child nodes (e.g., C, D, E under A). If not, that branch is pruned. This top-down approach reduces computation but risks missing relevant items if the centroid isn’t representative (e.g., items in cluster C might be relevant even if C’s centroid isn’t).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92</a:t>
            </a:fld>
            <a:endParaRPr lang="en-US" sz="900">
              <a:solidFill>
                <a:schemeClr val="lt1"/>
              </a:solidFill>
            </a:endParaRPr>
          </a:p>
        </p:txBody>
      </p:sp>
    </p:spTree>
    <p:extLst>
      <p:ext uri="{BB962C8B-B14F-4D97-AF65-F5344CB8AC3E}">
        <p14:creationId xmlns:p14="http://schemas.microsoft.com/office/powerpoint/2010/main" val="2009653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464CFB-29EE-AD42-EE37-E285F5EB1F73}"/>
              </a:ext>
            </a:extLst>
          </p:cNvPr>
          <p:cNvSpPr>
            <a:spLocks noGrp="1"/>
          </p:cNvSpPr>
          <p:nvPr>
            <p:ph type="title"/>
          </p:nvPr>
        </p:nvSpPr>
        <p:spPr/>
        <p:txBody>
          <a:bodyPr/>
          <a:lstStyle/>
          <a:p>
            <a:r>
              <a:rPr lang="en-US" dirty="0"/>
              <a:t>Centroid Comparisons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The filled circle is the query.</a:t>
            </a:r>
          </a:p>
          <a:p>
            <a:r>
              <a:rPr lang="en-US" sz="2400" dirty="0">
                <a:latin typeface="Calibri" panose="020F0502020204030204" pitchFamily="34" charset="0"/>
                <a:cs typeface="Calibri" panose="020F0502020204030204" pitchFamily="34" charset="0"/>
              </a:rPr>
              <a:t>The filled boxes are centroids of three clusters (ovals), with triangles representing individual items.</a:t>
            </a:r>
          </a:p>
          <a:p>
            <a:r>
              <a:rPr lang="en-US" sz="2400" dirty="0">
                <a:latin typeface="Calibri" panose="020F0502020204030204" pitchFamily="34" charset="0"/>
                <a:cs typeface="Calibri" panose="020F0502020204030204" pitchFamily="34" charset="0"/>
              </a:rPr>
              <a:t>The query is closer to the centroids of the middle and right clusters, so only those might be searched further. </a:t>
            </a:r>
          </a:p>
        </p:txBody>
      </p:sp>
      <p:sp>
        <p:nvSpPr>
          <p:cNvPr id="4" name="Content Placeholder 3">
            <a:extLst>
              <a:ext uri="{FF2B5EF4-FFF2-40B4-BE49-F238E27FC236}">
                <a16:creationId xmlns:a16="http://schemas.microsoft.com/office/drawing/2014/main" id="{E2118B72-169B-A7EC-C82D-A40559B7EB12}"/>
              </a:ext>
            </a:extLst>
          </p:cNvPr>
          <p:cNvSpPr>
            <a:spLocks noGrp="1"/>
          </p:cNvSpPr>
          <p:nvPr>
            <p:ph sz="quarter" idx="14"/>
          </p:nvPr>
        </p:nvSpPr>
        <p:spPr>
          <a:xfrm>
            <a:off x="6259773" y="1192698"/>
            <a:ext cx="5322627" cy="3344906"/>
          </a:xfrm>
        </p:spPr>
        <p:txBody>
          <a:bodyPr/>
          <a:lstStyle/>
          <a:p>
            <a:r>
              <a:rPr lang="en-US" sz="2400" dirty="0">
                <a:latin typeface="Calibri" panose="020F0502020204030204" pitchFamily="34" charset="0"/>
                <a:cs typeface="Calibri" panose="020F0502020204030204" pitchFamily="34" charset="0"/>
              </a:rPr>
              <a:t>However, the left cluster has items (triangles) near the query, but its centroid is too far, so those items are missed.</a:t>
            </a:r>
          </a:p>
          <a:p>
            <a:r>
              <a:rPr lang="en-US" sz="2400" dirty="0">
                <a:latin typeface="Calibri" panose="020F0502020204030204" pitchFamily="34" charset="0"/>
                <a:cs typeface="Calibri" panose="020F0502020204030204" pitchFamily="34" charset="0"/>
              </a:rPr>
              <a:t>This highlights a trade-off: centroids reduce computation but can lower recall (missing relevant items) if the cluster’s standard deviation is high.</a:t>
            </a:r>
          </a:p>
          <a:p>
            <a:endParaRPr lang="en-US" sz="2400"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93</a:t>
            </a:fld>
            <a:endParaRPr lang="en-US" sz="900">
              <a:solidFill>
                <a:schemeClr val="lt1"/>
              </a:solidFill>
            </a:endParaRPr>
          </a:p>
        </p:txBody>
      </p:sp>
      <p:pic>
        <p:nvPicPr>
          <p:cNvPr id="9" name="Picture 8">
            <a:extLst>
              <a:ext uri="{FF2B5EF4-FFF2-40B4-BE49-F238E27FC236}">
                <a16:creationId xmlns:a16="http://schemas.microsoft.com/office/drawing/2014/main" id="{8EDF845C-7751-9DA2-0E7B-F02782E9C91C}"/>
              </a:ext>
            </a:extLst>
          </p:cNvPr>
          <p:cNvPicPr>
            <a:picLocks noChangeAspect="1"/>
          </p:cNvPicPr>
          <p:nvPr/>
        </p:nvPicPr>
        <p:blipFill>
          <a:blip r:embed="rId2"/>
          <a:stretch>
            <a:fillRect/>
          </a:stretch>
        </p:blipFill>
        <p:spPr>
          <a:xfrm>
            <a:off x="5664217" y="4422913"/>
            <a:ext cx="4575199" cy="2435087"/>
          </a:xfrm>
          <a:prstGeom prst="rect">
            <a:avLst/>
          </a:prstGeom>
        </p:spPr>
      </p:pic>
    </p:spTree>
    <p:extLst>
      <p:ext uri="{BB962C8B-B14F-4D97-AF65-F5344CB8AC3E}">
        <p14:creationId xmlns:p14="http://schemas.microsoft.com/office/powerpoint/2010/main" val="10329422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a:xfrm>
            <a:off x="609600" y="215372"/>
            <a:ext cx="10972800" cy="828237"/>
          </a:xfrm>
        </p:spPr>
        <p:txBody>
          <a:bodyPr/>
          <a:lstStyle/>
          <a:p>
            <a:r>
              <a:rPr lang="en-US" dirty="0"/>
              <a:t>Overview - Hidden Markov Models Techniques</a:t>
            </a:r>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a:xfrm>
            <a:off x="609601" y="1043609"/>
            <a:ext cx="10977033" cy="5107809"/>
          </a:xfrm>
        </p:spPr>
        <p:txBody>
          <a:bodyPr/>
          <a:lstStyle/>
          <a:p>
            <a:r>
              <a:rPr lang="en-US" sz="2400" dirty="0">
                <a:latin typeface="Calibri" panose="020F0502020204030204" pitchFamily="34" charset="0"/>
                <a:cs typeface="Calibri" panose="020F0502020204030204" pitchFamily="34" charset="0"/>
              </a:rPr>
              <a:t>Search systems treat a query as a "document" and look for other documents similar to it using similarity measures. </a:t>
            </a:r>
          </a:p>
          <a:p>
            <a:r>
              <a:rPr lang="en-US" sz="2400" dirty="0">
                <a:latin typeface="Calibri" panose="020F0502020204030204" pitchFamily="34" charset="0"/>
                <a:cs typeface="Calibri" panose="020F0502020204030204" pitchFamily="34" charset="0"/>
              </a:rPr>
              <a:t>However, HMMs shift this perspective:</a:t>
            </a:r>
          </a:p>
          <a:p>
            <a:pPr lvl="1"/>
            <a:r>
              <a:rPr lang="en-US" sz="2400" b="1" dirty="0">
                <a:latin typeface="Calibri" panose="020F0502020204030204" pitchFamily="34" charset="0"/>
                <a:cs typeface="Calibri" panose="020F0502020204030204" pitchFamily="34" charset="0"/>
              </a:rPr>
              <a:t>Documents as Statistical Processes</a:t>
            </a:r>
            <a:r>
              <a:rPr lang="en-US" sz="2400" dirty="0">
                <a:latin typeface="Calibri" panose="020F0502020204030204" pitchFamily="34" charset="0"/>
                <a:cs typeface="Calibri" panose="020F0502020204030204" pitchFamily="34" charset="0"/>
              </a:rPr>
              <a:t>: In the HMM approach, documents are modeled as unknown statistical processes </a:t>
            </a:r>
            <a:r>
              <a:rPr lang="en-US" sz="2400" b="1" dirty="0">
                <a:latin typeface="Calibri" panose="020F0502020204030204" pitchFamily="34" charset="0"/>
                <a:cs typeface="Calibri" panose="020F0502020204030204" pitchFamily="34" charset="0"/>
              </a:rPr>
              <a:t>that can "generate" queries</a:t>
            </a:r>
            <a:r>
              <a:rPr lang="en-US" sz="2400" dirty="0">
                <a:latin typeface="Calibri" panose="020F0502020204030204" pitchFamily="34" charset="0"/>
                <a:cs typeface="Calibri" panose="020F0502020204030204" pitchFamily="34" charset="0"/>
              </a:rPr>
              <a:t>. Essentially, a document is considered relevant if it could have produced the user’s query.</a:t>
            </a:r>
          </a:p>
          <a:p>
            <a:pPr lvl="1"/>
            <a:r>
              <a:rPr lang="en-US" sz="2400" b="1" dirty="0">
                <a:latin typeface="Calibri" panose="020F0502020204030204" pitchFamily="34" charset="0"/>
                <a:cs typeface="Calibri" panose="020F0502020204030204" pitchFamily="34" charset="0"/>
              </a:rPr>
              <a:t>Query as Output</a:t>
            </a:r>
            <a:r>
              <a:rPr lang="en-US" sz="2400" dirty="0">
                <a:latin typeface="Calibri" panose="020F0502020204030204" pitchFamily="34" charset="0"/>
                <a:cs typeface="Calibri" panose="020F0502020204030204" pitchFamily="34" charset="0"/>
              </a:rPr>
              <a:t>: The query is treated as the observed output of this process, while the relevant document is the </a:t>
            </a:r>
            <a:r>
              <a:rPr lang="en-US" sz="2400" b="1" dirty="0">
                <a:latin typeface="Calibri" panose="020F0502020204030204" pitchFamily="34" charset="0"/>
                <a:cs typeface="Calibri" panose="020F0502020204030204" pitchFamily="34" charset="0"/>
              </a:rPr>
              <a:t>"hidden" state </a:t>
            </a:r>
            <a:r>
              <a:rPr lang="en-US" sz="2400" dirty="0">
                <a:latin typeface="Calibri" panose="020F0502020204030204" pitchFamily="34" charset="0"/>
                <a:cs typeface="Calibri" panose="020F0502020204030204" pitchFamily="34" charset="0"/>
              </a:rPr>
              <a:t>the system tries to infer.</a:t>
            </a:r>
          </a:p>
          <a:p>
            <a:pPr lvl="1"/>
            <a:r>
              <a:rPr lang="en-US" sz="2400" b="1" dirty="0">
                <a:latin typeface="Calibri" panose="020F0502020204030204" pitchFamily="34" charset="0"/>
                <a:cs typeface="Calibri" panose="020F0502020204030204" pitchFamily="34" charset="0"/>
              </a:rPr>
              <a:t>Noisy Channel Analogy</a:t>
            </a:r>
            <a:r>
              <a:rPr lang="en-US" sz="2400" dirty="0">
                <a:latin typeface="Calibri" panose="020F0502020204030204" pitchFamily="34" charset="0"/>
                <a:cs typeface="Calibri" panose="020F0502020204030204" pitchFamily="34" charset="0"/>
              </a:rPr>
              <a:t>: The mismatch between how an author expresses ideas in a document and how a user formulates a query is modeled as a </a:t>
            </a:r>
            <a:r>
              <a:rPr lang="en-US" sz="2400" b="1" dirty="0">
                <a:latin typeface="Calibri" panose="020F0502020204030204" pitchFamily="34" charset="0"/>
                <a:cs typeface="Calibri" panose="020F0502020204030204" pitchFamily="34" charset="0"/>
              </a:rPr>
              <a:t>"noisy channel." The HMM accounts for this noise in the process</a:t>
            </a:r>
            <a:r>
              <a:rPr lang="en-US" sz="2400" dirty="0">
                <a:latin typeface="Calibri" panose="020F0502020204030204" pitchFamily="34" charset="0"/>
                <a:cs typeface="Calibri" panose="020F0502020204030204" pitchFamily="34" charset="0"/>
              </a:rPr>
              <a:t>.</a:t>
            </a: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94</a:t>
            </a:fld>
            <a:endParaRPr lang="en-US" sz="900">
              <a:solidFill>
                <a:schemeClr val="lt1"/>
              </a:solidFill>
            </a:endParaRPr>
          </a:p>
        </p:txBody>
      </p:sp>
    </p:spTree>
    <p:extLst>
      <p:ext uri="{BB962C8B-B14F-4D97-AF65-F5344CB8AC3E}">
        <p14:creationId xmlns:p14="http://schemas.microsoft.com/office/powerpoint/2010/main" val="39858863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HMM - Bayes' Rule Application (Equation in Image)</a:t>
            </a:r>
            <a:endParaRPr lang="en-US" dirty="0"/>
          </a:p>
        </p:txBody>
      </p:sp>
      <p:sp>
        <p:nvSpPr>
          <p:cNvPr id="10" name="Content Placeholder 9">
            <a:extLst>
              <a:ext uri="{FF2B5EF4-FFF2-40B4-BE49-F238E27FC236}">
                <a16:creationId xmlns:a16="http://schemas.microsoft.com/office/drawing/2014/main" id="{F31C2226-E6FF-CF14-C35E-E05EE26DE65F}"/>
              </a:ext>
            </a:extLst>
          </p:cNvPr>
          <p:cNvSpPr>
            <a:spLocks noGrp="1"/>
          </p:cNvSpPr>
          <p:nvPr>
            <p:ph sz="quarter" idx="13"/>
          </p:nvPr>
        </p:nvSpPr>
        <p:spPr/>
        <p:txBody>
          <a:bodyPr/>
          <a:lstStyle/>
          <a:p>
            <a:endParaRPr lang="en-US" dirty="0"/>
          </a:p>
          <a:p>
            <a:endParaRPr lang="en-US" dirty="0"/>
          </a:p>
          <a:p>
            <a:endParaRPr lang="en-US" dirty="0"/>
          </a:p>
          <a:p>
            <a:endParaRPr lang="en-US" dirty="0"/>
          </a:p>
          <a:p>
            <a:pPr marL="101600" indent="0">
              <a:buNone/>
            </a:pPr>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95</a:t>
            </a:fld>
            <a:endParaRPr lang="en-US" sz="900">
              <a:solidFill>
                <a:schemeClr val="lt1"/>
              </a:solidFill>
            </a:endParaRPr>
          </a:p>
        </p:txBody>
      </p:sp>
      <p:pic>
        <p:nvPicPr>
          <p:cNvPr id="3" name="Picture 2">
            <a:extLst>
              <a:ext uri="{FF2B5EF4-FFF2-40B4-BE49-F238E27FC236}">
                <a16:creationId xmlns:a16="http://schemas.microsoft.com/office/drawing/2014/main" id="{DFF949A5-1EED-B667-F2A5-A55A5E6882B6}"/>
              </a:ext>
            </a:extLst>
          </p:cNvPr>
          <p:cNvPicPr>
            <a:picLocks noChangeAspect="1"/>
          </p:cNvPicPr>
          <p:nvPr/>
        </p:nvPicPr>
        <p:blipFill>
          <a:blip r:embed="rId2"/>
          <a:stretch>
            <a:fillRect/>
          </a:stretch>
        </p:blipFill>
        <p:spPr>
          <a:xfrm>
            <a:off x="1533530" y="1312651"/>
            <a:ext cx="5076794" cy="556592"/>
          </a:xfrm>
          <a:prstGeom prst="rect">
            <a:avLst/>
          </a:prstGeom>
        </p:spPr>
      </p:pic>
      <p:pic>
        <p:nvPicPr>
          <p:cNvPr id="9" name="Picture 8">
            <a:extLst>
              <a:ext uri="{FF2B5EF4-FFF2-40B4-BE49-F238E27FC236}">
                <a16:creationId xmlns:a16="http://schemas.microsoft.com/office/drawing/2014/main" id="{2860A4C0-6FBA-12AA-A504-B35D5170958B}"/>
              </a:ext>
            </a:extLst>
          </p:cNvPr>
          <p:cNvPicPr>
            <a:picLocks noChangeAspect="1"/>
          </p:cNvPicPr>
          <p:nvPr/>
        </p:nvPicPr>
        <p:blipFill>
          <a:blip r:embed="rId3"/>
          <a:stretch>
            <a:fillRect/>
          </a:stretch>
        </p:blipFill>
        <p:spPr>
          <a:xfrm>
            <a:off x="1352550" y="1928877"/>
            <a:ext cx="9486900" cy="1581150"/>
          </a:xfrm>
          <a:prstGeom prst="rect">
            <a:avLst/>
          </a:prstGeom>
        </p:spPr>
      </p:pic>
      <p:pic>
        <p:nvPicPr>
          <p:cNvPr id="12" name="Picture 11">
            <a:extLst>
              <a:ext uri="{FF2B5EF4-FFF2-40B4-BE49-F238E27FC236}">
                <a16:creationId xmlns:a16="http://schemas.microsoft.com/office/drawing/2014/main" id="{2522E811-7BCA-13B3-D8B5-43129CE73015}"/>
              </a:ext>
            </a:extLst>
          </p:cNvPr>
          <p:cNvPicPr>
            <a:picLocks noChangeAspect="1"/>
          </p:cNvPicPr>
          <p:nvPr/>
        </p:nvPicPr>
        <p:blipFill>
          <a:blip r:embed="rId4"/>
          <a:stretch>
            <a:fillRect/>
          </a:stretch>
        </p:blipFill>
        <p:spPr>
          <a:xfrm>
            <a:off x="1352550" y="3796434"/>
            <a:ext cx="1466850" cy="438150"/>
          </a:xfrm>
          <a:prstGeom prst="rect">
            <a:avLst/>
          </a:prstGeom>
        </p:spPr>
      </p:pic>
      <p:pic>
        <p:nvPicPr>
          <p:cNvPr id="14" name="Picture 13">
            <a:extLst>
              <a:ext uri="{FF2B5EF4-FFF2-40B4-BE49-F238E27FC236}">
                <a16:creationId xmlns:a16="http://schemas.microsoft.com/office/drawing/2014/main" id="{FC027438-1491-AF51-BA76-21D03F5C32FA}"/>
              </a:ext>
            </a:extLst>
          </p:cNvPr>
          <p:cNvPicPr>
            <a:picLocks noChangeAspect="1"/>
          </p:cNvPicPr>
          <p:nvPr/>
        </p:nvPicPr>
        <p:blipFill>
          <a:blip r:embed="rId5"/>
          <a:stretch>
            <a:fillRect/>
          </a:stretch>
        </p:blipFill>
        <p:spPr>
          <a:xfrm>
            <a:off x="1352550" y="4245208"/>
            <a:ext cx="3067050" cy="371475"/>
          </a:xfrm>
          <a:prstGeom prst="rect">
            <a:avLst/>
          </a:prstGeom>
        </p:spPr>
      </p:pic>
      <p:pic>
        <p:nvPicPr>
          <p:cNvPr id="16" name="Picture 15">
            <a:extLst>
              <a:ext uri="{FF2B5EF4-FFF2-40B4-BE49-F238E27FC236}">
                <a16:creationId xmlns:a16="http://schemas.microsoft.com/office/drawing/2014/main" id="{1C43D3C9-770B-B972-2D99-9EB15094490B}"/>
              </a:ext>
            </a:extLst>
          </p:cNvPr>
          <p:cNvPicPr>
            <a:picLocks noChangeAspect="1"/>
          </p:cNvPicPr>
          <p:nvPr/>
        </p:nvPicPr>
        <p:blipFill>
          <a:blip r:embed="rId6"/>
          <a:stretch>
            <a:fillRect/>
          </a:stretch>
        </p:blipFill>
        <p:spPr>
          <a:xfrm>
            <a:off x="1352550" y="4710242"/>
            <a:ext cx="2571750" cy="352425"/>
          </a:xfrm>
          <a:prstGeom prst="rect">
            <a:avLst/>
          </a:prstGeom>
        </p:spPr>
      </p:pic>
      <p:cxnSp>
        <p:nvCxnSpPr>
          <p:cNvPr id="18" name="Straight Arrow Connector 17">
            <a:extLst>
              <a:ext uri="{FF2B5EF4-FFF2-40B4-BE49-F238E27FC236}">
                <a16:creationId xmlns:a16="http://schemas.microsoft.com/office/drawing/2014/main" id="{E53B2381-5D51-3C7D-EF07-D1179861F56D}"/>
              </a:ext>
            </a:extLst>
          </p:cNvPr>
          <p:cNvCxnSpPr/>
          <p:nvPr/>
        </p:nvCxnSpPr>
        <p:spPr>
          <a:xfrm>
            <a:off x="775252" y="4015509"/>
            <a:ext cx="40750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F61E811C-3893-5DBC-0ED7-B4E34852432A}"/>
              </a:ext>
            </a:extLst>
          </p:cNvPr>
          <p:cNvCxnSpPr/>
          <p:nvPr/>
        </p:nvCxnSpPr>
        <p:spPr>
          <a:xfrm>
            <a:off x="775252" y="4430945"/>
            <a:ext cx="40750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A8069BC8-713E-335E-092E-C602EB697CDA}"/>
              </a:ext>
            </a:extLst>
          </p:cNvPr>
          <p:cNvCxnSpPr/>
          <p:nvPr/>
        </p:nvCxnSpPr>
        <p:spPr>
          <a:xfrm>
            <a:off x="793473" y="4909746"/>
            <a:ext cx="40750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0499016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HMM Structure for Search</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pPr marL="558800" indent="-457200">
              <a:buFont typeface="+mj-lt"/>
              <a:buAutoNum type="arabicPeriod"/>
            </a:pPr>
            <a:r>
              <a:rPr lang="en-US" sz="2600" b="1" dirty="0">
                <a:effectLst/>
                <a:latin typeface="Calibri" panose="020F0502020204030204" pitchFamily="34" charset="0"/>
                <a:cs typeface="Calibri" panose="020F0502020204030204" pitchFamily="34" charset="0"/>
              </a:rPr>
              <a:t>States:	</a:t>
            </a:r>
            <a:r>
              <a:rPr lang="en-US" sz="2600" dirty="0">
                <a:effectLst/>
                <a:latin typeface="Calibri" panose="020F0502020204030204" pitchFamily="34" charset="0"/>
                <a:cs typeface="Calibri" panose="020F0502020204030204" pitchFamily="34" charset="0"/>
              </a:rPr>
              <a:t>Each document can be thought of as a sequence of states (e.g., the words in the document).</a:t>
            </a:r>
          </a:p>
          <a:p>
            <a:pPr marL="558800" indent="-457200">
              <a:buFont typeface="+mj-lt"/>
              <a:buAutoNum type="arabicPeriod"/>
            </a:pPr>
            <a:r>
              <a:rPr lang="en-US" sz="2600" b="1" dirty="0">
                <a:effectLst/>
                <a:latin typeface="Calibri" panose="020F0502020204030204" pitchFamily="34" charset="0"/>
                <a:cs typeface="Calibri" panose="020F0502020204030204" pitchFamily="34" charset="0"/>
              </a:rPr>
              <a:t>Transition Matrix : </a:t>
            </a:r>
            <a:r>
              <a:rPr lang="en-US" sz="2600" dirty="0">
                <a:effectLst/>
                <a:latin typeface="Calibri" panose="020F0502020204030204" pitchFamily="34" charset="0"/>
                <a:cs typeface="Calibri" panose="020F0502020204030204" pitchFamily="34" charset="0"/>
              </a:rPr>
              <a:t>Defines the probability of moving from one state to another (e.g., from one word to the next). </a:t>
            </a:r>
          </a:p>
          <a:p>
            <a:pPr marL="558800" indent="-457200">
              <a:buFont typeface="+mj-lt"/>
              <a:buAutoNum type="arabicPeriod"/>
            </a:pPr>
            <a:r>
              <a:rPr lang="en-US" sz="2600" b="1" dirty="0">
                <a:effectLst/>
                <a:latin typeface="Calibri" panose="020F0502020204030204" pitchFamily="34" charset="0"/>
                <a:cs typeface="Calibri" panose="020F0502020204030204" pitchFamily="34" charset="0"/>
              </a:rPr>
              <a:t>Output Symbols : </a:t>
            </a:r>
            <a:r>
              <a:rPr lang="en-US" sz="2600" dirty="0">
                <a:effectLst/>
                <a:latin typeface="Calibri" panose="020F0502020204030204" pitchFamily="34" charset="0"/>
                <a:cs typeface="Calibri" panose="020F0502020204030204" pitchFamily="34" charset="0"/>
              </a:rPr>
              <a:t>Each state (word in the document) can "output" query terms with some probability.</a:t>
            </a:r>
          </a:p>
          <a:p>
            <a:pPr marL="558800" indent="-457200">
              <a:buFont typeface="+mj-lt"/>
              <a:buAutoNum type="arabicPeriod"/>
            </a:pPr>
            <a:r>
              <a:rPr lang="en-US" sz="2600" b="1" dirty="0">
                <a:effectLst/>
                <a:latin typeface="Calibri" panose="020F0502020204030204" pitchFamily="34" charset="0"/>
                <a:cs typeface="Calibri" panose="020F0502020204030204" pitchFamily="34" charset="0"/>
              </a:rPr>
              <a:t>Output Probabilities : </a:t>
            </a:r>
            <a:r>
              <a:rPr lang="en-US" sz="2600" dirty="0">
                <a:effectLst/>
                <a:latin typeface="Calibri" panose="020F0502020204030204" pitchFamily="34" charset="0"/>
                <a:cs typeface="Calibri" panose="020F0502020204030204" pitchFamily="34" charset="0"/>
              </a:rPr>
              <a:t>The probability of generating a specific query term given a particular state (word in the document).</a:t>
            </a:r>
            <a:endParaRPr lang="en-US" sz="2600" b="1" dirty="0">
              <a:effectLst/>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96</a:t>
            </a:fld>
            <a:endParaRPr lang="en-US" sz="900">
              <a:solidFill>
                <a:schemeClr val="lt1"/>
              </a:solidFill>
            </a:endParaRPr>
          </a:p>
        </p:txBody>
      </p:sp>
    </p:spTree>
    <p:extLst>
      <p:ext uri="{BB962C8B-B14F-4D97-AF65-F5344CB8AC3E}">
        <p14:creationId xmlns:p14="http://schemas.microsoft.com/office/powerpoint/2010/main" val="12638349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t>HMM - </a:t>
            </a:r>
            <a:r>
              <a:rPr lang="en-US" dirty="0">
                <a:effectLst/>
              </a:rPr>
              <a:t>How It Works: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400" b="1" dirty="0">
                <a:latin typeface="Calibri" panose="020F0502020204030204" pitchFamily="34" charset="0"/>
                <a:cs typeface="Calibri" panose="020F0502020204030204" pitchFamily="34" charset="0"/>
              </a:rPr>
              <a:t>State Transitions</a:t>
            </a:r>
            <a:r>
              <a:rPr lang="en-US" sz="2400" dirty="0">
                <a:latin typeface="Calibri" panose="020F0502020204030204" pitchFamily="34" charset="0"/>
                <a:cs typeface="Calibri" panose="020F0502020204030204" pitchFamily="34" charset="0"/>
              </a:rPr>
              <a:t>: The HMM moves through the states of a document (e.g., its words), with transitions governed by the transition matrix. These transitions reflect the structure of the document (how words are sequenced).</a:t>
            </a:r>
          </a:p>
          <a:p>
            <a:r>
              <a:rPr lang="en-US" sz="2400" b="1" dirty="0">
                <a:effectLst/>
                <a:latin typeface="Calibri" panose="020F0502020204030204" pitchFamily="34" charset="0"/>
                <a:cs typeface="Calibri" panose="020F0502020204030204" pitchFamily="34" charset="0"/>
              </a:rPr>
              <a:t>Query Generation</a:t>
            </a:r>
            <a:r>
              <a:rPr lang="en-US" sz="2400" dirty="0">
                <a:effectLst/>
                <a:latin typeface="Calibri" panose="020F0502020204030204" pitchFamily="34" charset="0"/>
                <a:cs typeface="Calibri" panose="020F0502020204030204" pitchFamily="34" charset="0"/>
              </a:rPr>
              <a:t>: At each state, the HMM outputs query terms with probabilities defined by the output distribution. The idea is that a relevant document would generate query terms that match the user’s query.</a:t>
            </a:r>
          </a:p>
          <a:p>
            <a:r>
              <a:rPr lang="en-US" sz="2400" b="1" dirty="0">
                <a:effectLst/>
                <a:latin typeface="Calibri" panose="020F0502020204030204" pitchFamily="34" charset="0"/>
                <a:cs typeface="Calibri" panose="020F0502020204030204" pitchFamily="34" charset="0"/>
              </a:rPr>
              <a:t>Probability Calculation</a:t>
            </a:r>
            <a:r>
              <a:rPr lang="en-US" sz="2400" dirty="0">
                <a:effectLst/>
                <a:latin typeface="Calibri" panose="020F0502020204030204" pitchFamily="34" charset="0"/>
                <a:cs typeface="Calibri" panose="020F0502020204030204" pitchFamily="34" charset="0"/>
              </a:rPr>
              <a:t>: Given the user’s query Q, the HMM calculates the probability that a document D could have generated Q by tracing through its states and summing the probabilities of all possible paths that produce Q</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97</a:t>
            </a:fld>
            <a:endParaRPr lang="en-US" sz="900">
              <a:solidFill>
                <a:schemeClr val="lt1"/>
              </a:solidFill>
            </a:endParaRPr>
          </a:p>
        </p:txBody>
      </p:sp>
    </p:spTree>
    <p:extLst>
      <p:ext uri="{BB962C8B-B14F-4D97-AF65-F5344CB8AC3E}">
        <p14:creationId xmlns:p14="http://schemas.microsoft.com/office/powerpoint/2010/main" val="32956951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Challenges and Solutions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400" dirty="0">
                <a:effectLst/>
                <a:latin typeface="Calibri" panose="020F0502020204030204" pitchFamily="34" charset="0"/>
                <a:cs typeface="Calibri" panose="020F0502020204030204" pitchFamily="34" charset="0"/>
              </a:rPr>
              <a:t>Transition Probabilities and Output Probabilities</a:t>
            </a:r>
          </a:p>
          <a:p>
            <a:r>
              <a:rPr lang="en-US" sz="2400" dirty="0">
                <a:effectLst/>
                <a:latin typeface="Calibri" panose="020F0502020204030204" pitchFamily="34" charset="0"/>
                <a:cs typeface="Calibri" panose="020F0502020204030204" pitchFamily="34" charset="0"/>
              </a:rPr>
              <a:t>Ideal Solution (Not Feasible):</a:t>
            </a:r>
          </a:p>
          <a:p>
            <a:pPr lvl="1"/>
            <a:r>
              <a:rPr lang="en-US" sz="2400" dirty="0">
                <a:effectLst/>
                <a:latin typeface="Calibri" panose="020F0502020204030204" pitchFamily="34" charset="0"/>
                <a:cs typeface="Calibri" panose="020F0502020204030204" pitchFamily="34" charset="0"/>
              </a:rPr>
              <a:t>Estimation-Maximization (EM) algorithm (e.g., Baum-Welch algorithm)</a:t>
            </a:r>
          </a:p>
          <a:p>
            <a:r>
              <a:rPr lang="en-US" sz="2400" dirty="0">
                <a:effectLst/>
                <a:latin typeface="Calibri" panose="020F0502020204030204" pitchFamily="34" charset="0"/>
                <a:cs typeface="Calibri" panose="020F0502020204030204" pitchFamily="34" charset="0"/>
              </a:rPr>
              <a:t>Practical Solution (Leek et al., 1999):</a:t>
            </a:r>
          </a:p>
          <a:p>
            <a:pPr lvl="1"/>
            <a:r>
              <a:rPr lang="en-US" sz="2400" dirty="0">
                <a:effectLst/>
                <a:latin typeface="Calibri" panose="020F0502020204030204" pitchFamily="34" charset="0"/>
                <a:cs typeface="Calibri" panose="020F0502020204030204" pitchFamily="34" charset="0"/>
              </a:rPr>
              <a:t>Lack of Training Data</a:t>
            </a:r>
          </a:p>
          <a:p>
            <a:pPr lvl="1"/>
            <a:r>
              <a:rPr lang="en-US" sz="2400" dirty="0">
                <a:effectLst/>
                <a:latin typeface="Calibri" panose="020F0502020204030204" pitchFamily="34" charset="0"/>
                <a:cs typeface="Calibri" panose="020F0502020204030204" pitchFamily="34" charset="0"/>
              </a:rPr>
              <a:t>Simplification</a:t>
            </a:r>
          </a:p>
          <a:p>
            <a:pPr lvl="2"/>
            <a:r>
              <a:rPr lang="en-US" sz="2400" dirty="0">
                <a:effectLst/>
                <a:latin typeface="Calibri" panose="020F0502020204030204" pitchFamily="34" charset="0"/>
                <a:cs typeface="Calibri" panose="020F0502020204030204" pitchFamily="34" charset="0"/>
              </a:rPr>
              <a:t>Independent Transition Matrix</a:t>
            </a:r>
          </a:p>
          <a:p>
            <a:pPr lvl="2"/>
            <a:r>
              <a:rPr lang="en-US" sz="2400" dirty="0">
                <a:effectLst/>
                <a:latin typeface="Calibri" panose="020F0502020204030204" pitchFamily="34" charset="0"/>
                <a:cs typeface="Calibri" panose="020F0502020204030204" pitchFamily="34" charset="0"/>
              </a:rPr>
              <a:t>Unigram Estimation for Outputs</a:t>
            </a:r>
          </a:p>
          <a:p>
            <a:pPr lvl="2"/>
            <a:endParaRPr lang="en-US" sz="2400" dirty="0">
              <a:effectLst/>
              <a:latin typeface="Calibri" panose="020F0502020204030204" pitchFamily="34" charset="0"/>
              <a:cs typeface="Calibri" panose="020F0502020204030204" pitchFamily="34" charset="0"/>
            </a:endParaRPr>
          </a:p>
          <a:p>
            <a:pPr lvl="1"/>
            <a:endParaRPr lang="en-US" sz="2400" dirty="0">
              <a:effectLst/>
              <a:latin typeface="Calibri" panose="020F0502020204030204" pitchFamily="34" charset="0"/>
              <a:cs typeface="Calibri" panose="020F0502020204030204" pitchFamily="34" charset="0"/>
            </a:endParaRPr>
          </a:p>
          <a:p>
            <a:pPr lvl="1"/>
            <a:endParaRPr lang="en-US" sz="2400" dirty="0">
              <a:effectLst/>
              <a:latin typeface="Calibri" panose="020F0502020204030204" pitchFamily="34" charset="0"/>
              <a:cs typeface="Calibri" panose="020F0502020204030204" pitchFamily="34" charset="0"/>
            </a:endParaRPr>
          </a:p>
          <a:p>
            <a:endParaRPr lang="en-US" sz="2400" dirty="0">
              <a:effectLst/>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98</a:t>
            </a:fld>
            <a:endParaRPr lang="en-US" sz="900">
              <a:solidFill>
                <a:schemeClr val="lt1"/>
              </a:solidFill>
            </a:endParaRPr>
          </a:p>
        </p:txBody>
      </p:sp>
    </p:spTree>
    <p:extLst>
      <p:ext uri="{BB962C8B-B14F-4D97-AF65-F5344CB8AC3E}">
        <p14:creationId xmlns:p14="http://schemas.microsoft.com/office/powerpoint/2010/main" val="25462320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BB2D2-8D0E-9830-C2E4-F9E3B962795F}"/>
              </a:ext>
            </a:extLst>
          </p:cNvPr>
          <p:cNvSpPr>
            <a:spLocks noGrp="1"/>
          </p:cNvSpPr>
          <p:nvPr>
            <p:ph type="title"/>
          </p:nvPr>
        </p:nvSpPr>
        <p:spPr/>
        <p:txBody>
          <a:bodyPr/>
          <a:lstStyle/>
          <a:p>
            <a:r>
              <a:rPr lang="en-US" dirty="0">
                <a:effectLst/>
              </a:rPr>
              <a:t>Limitations</a:t>
            </a:r>
            <a:endParaRPr lang="en-US" dirty="0"/>
          </a:p>
        </p:txBody>
      </p:sp>
      <p:sp>
        <p:nvSpPr>
          <p:cNvPr id="7" name="Content Placeholder 6">
            <a:extLst>
              <a:ext uri="{FF2B5EF4-FFF2-40B4-BE49-F238E27FC236}">
                <a16:creationId xmlns:a16="http://schemas.microsoft.com/office/drawing/2014/main" id="{D26DB321-2944-F1B9-581E-FF5E48928E66}"/>
              </a:ext>
            </a:extLst>
          </p:cNvPr>
          <p:cNvSpPr>
            <a:spLocks noGrp="1"/>
          </p:cNvSpPr>
          <p:nvPr>
            <p:ph sz="quarter" idx="13"/>
          </p:nvPr>
        </p:nvSpPr>
        <p:spPr/>
        <p:txBody>
          <a:bodyPr/>
          <a:lstStyle/>
          <a:p>
            <a:r>
              <a:rPr lang="en-US" sz="2400" dirty="0">
                <a:effectLst/>
                <a:latin typeface="Calibri" panose="020F0502020204030204" pitchFamily="34" charset="0"/>
                <a:cs typeface="Calibri" panose="020F0502020204030204" pitchFamily="34" charset="0"/>
              </a:rPr>
              <a:t>Data Dependency</a:t>
            </a:r>
          </a:p>
          <a:p>
            <a:r>
              <a:rPr lang="en-US" sz="2400" dirty="0">
                <a:effectLst/>
                <a:latin typeface="Calibri" panose="020F0502020204030204" pitchFamily="34" charset="0"/>
                <a:cs typeface="Calibri" panose="020F0502020204030204" pitchFamily="34" charset="0"/>
              </a:rPr>
              <a:t>Computational Complexity</a:t>
            </a:r>
          </a:p>
          <a:p>
            <a:r>
              <a:rPr lang="en-US" sz="2400" dirty="0">
                <a:effectLst/>
                <a:latin typeface="Calibri" panose="020F0502020204030204" pitchFamily="34" charset="0"/>
                <a:cs typeface="Calibri" panose="020F0502020204030204" pitchFamily="34" charset="0"/>
              </a:rPr>
              <a:t>Recall vs. Precision Trade-off</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4439828-46D7-7942-B605-1288D57D418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99</a:t>
            </a:fld>
            <a:endParaRPr lang="en-US" sz="900">
              <a:solidFill>
                <a:schemeClr val="lt1"/>
              </a:solidFill>
            </a:endParaRPr>
          </a:p>
        </p:txBody>
      </p:sp>
    </p:spTree>
    <p:extLst>
      <p:ext uri="{BB962C8B-B14F-4D97-AF65-F5344CB8AC3E}">
        <p14:creationId xmlns:p14="http://schemas.microsoft.com/office/powerpoint/2010/main" val="3120556379"/>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CE_PPT_TEMPLATE" id="{7685A1A2-185D-4A1C-8D9D-E042126D3D3B}" vid="{4716B268-422F-4BEE-9E35-EFFCE5F7B4E5}"/>
    </a:ext>
  </a:ext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CE_PPT_TEMPLATE" id="{7685A1A2-185D-4A1C-8D9D-E042126D3D3B}" vid="{07DB275E-617F-44DD-850C-25F4BEA05830}"/>
    </a:ext>
  </a:extLst>
</a:theme>
</file>

<file path=docProps/app.xml><?xml version="1.0" encoding="utf-8"?>
<Properties xmlns="http://schemas.openxmlformats.org/officeDocument/2006/extended-properties" xmlns:vt="http://schemas.openxmlformats.org/officeDocument/2006/docPropsVTypes">
  <Template>ACE_PPT_TEMPLATE</Template>
  <TotalTime>9383</TotalTime>
  <Words>7491</Words>
  <Application>Microsoft Office PowerPoint</Application>
  <PresentationFormat>Widescreen</PresentationFormat>
  <Paragraphs>635</Paragraphs>
  <Slides>99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99</vt:i4>
      </vt:variant>
    </vt:vector>
  </HeadingPairs>
  <TitlesOfParts>
    <vt:vector size="105" baseType="lpstr">
      <vt:lpstr>Arial</vt:lpstr>
      <vt:lpstr>Book Antiqua</vt:lpstr>
      <vt:lpstr>Calibri</vt:lpstr>
      <vt:lpstr>Times New Roman</vt:lpstr>
      <vt:lpstr>USHE</vt:lpstr>
      <vt:lpstr>USHE_slide options</vt:lpstr>
      <vt:lpstr>Information Retrieval Systems</vt:lpstr>
      <vt:lpstr>AGENDA</vt:lpstr>
      <vt:lpstr>Search Statements and Binding</vt:lpstr>
      <vt:lpstr>Binding: Translating Abstract Needs into Concrete Queries</vt:lpstr>
      <vt:lpstr>User-Level Binding – Concept to Words</vt:lpstr>
      <vt:lpstr>System-Level Binding – Query to Search Engine Metalanguage</vt:lpstr>
      <vt:lpstr>Database-Level Binding – Match Query with Data</vt:lpstr>
      <vt:lpstr>Length of Search Statements and Their Impact</vt:lpstr>
      <vt:lpstr>PowerPoint Presentation</vt:lpstr>
      <vt:lpstr>Similarity Measures and Ranking</vt:lpstr>
      <vt:lpstr>Similarity Measures - Simple Sum of Products </vt:lpstr>
      <vt:lpstr>Similarity Measures - Croft’s Similarity Formula </vt:lpstr>
      <vt:lpstr>Similarity Measures - Cosine Similarity</vt:lpstr>
      <vt:lpstr>Similarity Measures - Query Term Weighting</vt:lpstr>
      <vt:lpstr>Similarity Measures - Jaccard and Dice Measures </vt:lpstr>
      <vt:lpstr>Similarity Measures - Jaccard and Dice Measures </vt:lpstr>
      <vt:lpstr>Similarity Measures - Jaccard and Dice Measures </vt:lpstr>
      <vt:lpstr>Ranking Algorithms - Coarse Grain Ranking</vt:lpstr>
      <vt:lpstr>Ranking Algorithms - Fine Grain Ranking </vt:lpstr>
      <vt:lpstr>Relevance Feedback</vt:lpstr>
      <vt:lpstr>Formula Breakdown</vt:lpstr>
      <vt:lpstr>Formula Breakdown</vt:lpstr>
      <vt:lpstr>PowerPoint Presentation</vt:lpstr>
      <vt:lpstr>Query Modification via Relevance Feedback</vt:lpstr>
      <vt:lpstr>Selective Dissemination of Information Search(SDI)</vt:lpstr>
      <vt:lpstr>Challenges in SDI Systems</vt:lpstr>
      <vt:lpstr>Examples of SDI Systems</vt:lpstr>
      <vt:lpstr>Statistical Classification and Error Minimization</vt:lpstr>
      <vt:lpstr>Feature Selection</vt:lpstr>
      <vt:lpstr>Feature Creation (Local LSI)</vt:lpstr>
      <vt:lpstr>Learning Algorithms for Classification</vt:lpstr>
      <vt:lpstr>Linear Discriminant Analysis (LDA)</vt:lpstr>
      <vt:lpstr>Simplification</vt:lpstr>
      <vt:lpstr>Logistic Regression</vt:lpstr>
      <vt:lpstr>Neural Networks</vt:lpstr>
      <vt:lpstr>Neural Networks</vt:lpstr>
      <vt:lpstr>Weighted Searches of Boolean Systems</vt:lpstr>
      <vt:lpstr>Fuzzy Set Approach (Fox and Sharat)</vt:lpstr>
      <vt:lpstr>Mixed Min and Max (MMM) Model</vt:lpstr>
      <vt:lpstr>Paice’s Extension of MMM</vt:lpstr>
      <vt:lpstr>P-norm Model</vt:lpstr>
      <vt:lpstr>Salton’s Approach (No Weights in Indexes)</vt:lpstr>
      <vt:lpstr>PowerPoint Presentation</vt:lpstr>
      <vt:lpstr>Algorithm</vt:lpstr>
      <vt:lpstr>Example</vt:lpstr>
      <vt:lpstr>PowerPoint Presentation</vt:lpstr>
      <vt:lpstr>Searching the INTERNET and Hypertext</vt:lpstr>
      <vt:lpstr>Six Key Characteristics Of Intelligent Agents</vt:lpstr>
      <vt:lpstr>Six Key Characteristics Of Intelligent Agents</vt:lpstr>
      <vt:lpstr>Six Key Characteristics Of Intelligent Agents</vt:lpstr>
      <vt:lpstr>Relevance Feedback:</vt:lpstr>
      <vt:lpstr>Hyperlinks and Hypertext Search</vt:lpstr>
      <vt:lpstr>Hyperlinks and Hypertext Search</vt:lpstr>
      <vt:lpstr>Hypertext Search</vt:lpstr>
      <vt:lpstr>Emerging Search and Dissemination Systems</vt:lpstr>
      <vt:lpstr>PowerPoint Presentation</vt:lpstr>
      <vt:lpstr>Introduction to Information Visualization</vt:lpstr>
      <vt:lpstr>Shift in Perspective: Visual Computing</vt:lpstr>
      <vt:lpstr>Why Visualization is Critical</vt:lpstr>
      <vt:lpstr>Cognitive Foundations</vt:lpstr>
      <vt:lpstr>Visualization </vt:lpstr>
      <vt:lpstr>Historical Context</vt:lpstr>
      <vt:lpstr>User-Centric Design</vt:lpstr>
      <vt:lpstr>PowerPoint Presentation</vt:lpstr>
      <vt:lpstr>Cognition and Perception</vt:lpstr>
      <vt:lpstr>Key Concepts in Human-Computer Interaction</vt:lpstr>
      <vt:lpstr>Key Concepts in Human-Computer Interaction</vt:lpstr>
      <vt:lpstr>Key Concepts in Human-Computer Interaction</vt:lpstr>
      <vt:lpstr>Background on Vision and Cognition</vt:lpstr>
      <vt:lpstr>Aspects of the Visualization Process</vt:lpstr>
      <vt:lpstr>Preattentive Processing</vt:lpstr>
      <vt:lpstr>Rotated Objects and Symmetry</vt:lpstr>
      <vt:lpstr>Optical Illusions and Color</vt:lpstr>
      <vt:lpstr>Configural Effects</vt:lpstr>
      <vt:lpstr>Spatial Frequency</vt:lpstr>
      <vt:lpstr>Natural Visual Processing</vt:lpstr>
      <vt:lpstr>Challenges in Visualization</vt:lpstr>
      <vt:lpstr>Information Visualization Technologies</vt:lpstr>
      <vt:lpstr>Hierarchical Visualization: Cone Tree and Perspective Wall</vt:lpstr>
      <vt:lpstr>Hierarchical Visualization: Cone Tree and Perspective Wall</vt:lpstr>
      <vt:lpstr>Hierarchical Visualization: Cone Tree and Perspective Wall</vt:lpstr>
      <vt:lpstr>Hierarchical Visualization: Cone Tree and Perspective Wall</vt:lpstr>
      <vt:lpstr>Tree Maps for Hierarchical Data</vt:lpstr>
      <vt:lpstr>Search Statement Analysis: Understanding Query Impact</vt:lpstr>
      <vt:lpstr>Search Statement Analysis: Understanding Query Impact</vt:lpstr>
      <vt:lpstr>Visualization of Results</vt:lpstr>
      <vt:lpstr>Visualization of Results</vt:lpstr>
      <vt:lpstr>DCARS Query Histogram</vt:lpstr>
      <vt:lpstr>DCARS Query Histogram</vt:lpstr>
      <vt:lpstr>Cityscape for Thematic Representation</vt:lpstr>
      <vt:lpstr>Cityscape for Thematic Representation</vt:lpstr>
      <vt:lpstr>Item Term Clustering</vt:lpstr>
      <vt:lpstr>Centroid Comparisons</vt:lpstr>
      <vt:lpstr>Overview - Hidden Markov Models Techniques</vt:lpstr>
      <vt:lpstr>HMM - Bayes' Rule Application (Equation in Image)</vt:lpstr>
      <vt:lpstr>HMM Structure for Search</vt:lpstr>
      <vt:lpstr>HMM - How It Works:</vt:lpstr>
      <vt:lpstr>Challenges and Solutions</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kalluri lakshmisri sai</dc:creator>
  <cp:lastModifiedBy>kalluri lakshmisri sai</cp:lastModifiedBy>
  <cp:revision>570</cp:revision>
  <dcterms:created xsi:type="dcterms:W3CDTF">2025-05-16T06:25:37Z</dcterms:created>
  <dcterms:modified xsi:type="dcterms:W3CDTF">2025-06-15T14:55:48Z</dcterms:modified>
</cp:coreProperties>
</file>