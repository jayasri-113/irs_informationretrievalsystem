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5" r:id="rId2"/>
  </p:sldMasterIdLst>
  <p:sldIdLst>
    <p:sldId id="256" r:id="rId3"/>
    <p:sldId id="257" r:id="rId4"/>
    <p:sldId id="258" r:id="rId5"/>
    <p:sldId id="259" r:id="rId6"/>
    <p:sldId id="356" r:id="rId7"/>
    <p:sldId id="260" r:id="rId8"/>
    <p:sldId id="261" r:id="rId9"/>
    <p:sldId id="262" r:id="rId10"/>
    <p:sldId id="263" r:id="rId11"/>
    <p:sldId id="265" r:id="rId12"/>
    <p:sldId id="266" r:id="rId13"/>
    <p:sldId id="264" r:id="rId14"/>
    <p:sldId id="267" r:id="rId15"/>
    <p:sldId id="357" r:id="rId16"/>
    <p:sldId id="269" r:id="rId17"/>
    <p:sldId id="268" r:id="rId18"/>
    <p:sldId id="273" r:id="rId19"/>
    <p:sldId id="270" r:id="rId20"/>
    <p:sldId id="271" r:id="rId21"/>
    <p:sldId id="272" r:id="rId22"/>
    <p:sldId id="358" r:id="rId23"/>
    <p:sldId id="274" r:id="rId24"/>
    <p:sldId id="359" r:id="rId25"/>
    <p:sldId id="360" r:id="rId26"/>
    <p:sldId id="361" r:id="rId27"/>
    <p:sldId id="275" r:id="rId28"/>
    <p:sldId id="362" r:id="rId29"/>
    <p:sldId id="363" r:id="rId30"/>
    <p:sldId id="364" r:id="rId31"/>
    <p:sldId id="279" r:id="rId32"/>
    <p:sldId id="365" r:id="rId33"/>
    <p:sldId id="366" r:id="rId34"/>
    <p:sldId id="367" r:id="rId35"/>
    <p:sldId id="368" r:id="rId36"/>
    <p:sldId id="283" r:id="rId37"/>
    <p:sldId id="284" r:id="rId38"/>
    <p:sldId id="285" r:id="rId39"/>
    <p:sldId id="369" r:id="rId40"/>
    <p:sldId id="286" r:id="rId41"/>
    <p:sldId id="287" r:id="rId42"/>
    <p:sldId id="288" r:id="rId43"/>
    <p:sldId id="290" r:id="rId44"/>
    <p:sldId id="291" r:id="rId45"/>
    <p:sldId id="292" r:id="rId46"/>
    <p:sldId id="370" r:id="rId47"/>
    <p:sldId id="293" r:id="rId48"/>
    <p:sldId id="294" r:id="rId49"/>
    <p:sldId id="295" r:id="rId50"/>
    <p:sldId id="296" r:id="rId51"/>
    <p:sldId id="297" r:id="rId52"/>
    <p:sldId id="298" r:id="rId53"/>
    <p:sldId id="299" r:id="rId54"/>
    <p:sldId id="301" r:id="rId55"/>
    <p:sldId id="371" r:id="rId56"/>
    <p:sldId id="373" r:id="rId57"/>
    <p:sldId id="372" r:id="rId58"/>
    <p:sldId id="374" r:id="rId59"/>
    <p:sldId id="375" r:id="rId60"/>
    <p:sldId id="376" r:id="rId61"/>
    <p:sldId id="302" r:id="rId62"/>
    <p:sldId id="377" r:id="rId63"/>
    <p:sldId id="378" r:id="rId64"/>
    <p:sldId id="379" r:id="rId65"/>
    <p:sldId id="382" r:id="rId66"/>
    <p:sldId id="383" r:id="rId67"/>
    <p:sldId id="303" r:id="rId68"/>
    <p:sldId id="304" r:id="rId69"/>
    <p:sldId id="305" r:id="rId70"/>
    <p:sldId id="384" r:id="rId71"/>
    <p:sldId id="385" r:id="rId72"/>
    <p:sldId id="386" r:id="rId73"/>
    <p:sldId id="306" r:id="rId74"/>
    <p:sldId id="307" r:id="rId75"/>
    <p:sldId id="308" r:id="rId76"/>
    <p:sldId id="309" r:id="rId77"/>
    <p:sldId id="310" r:id="rId78"/>
    <p:sldId id="311" r:id="rId79"/>
    <p:sldId id="312" r:id="rId80"/>
    <p:sldId id="313" r:id="rId81"/>
    <p:sldId id="314" r:id="rId82"/>
    <p:sldId id="315" r:id="rId83"/>
    <p:sldId id="316" r:id="rId84"/>
    <p:sldId id="317" r:id="rId85"/>
    <p:sldId id="318" r:id="rId86"/>
    <p:sldId id="319" r:id="rId8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05" autoAdjust="0"/>
    <p:restoredTop sz="93447" autoAdjust="0"/>
  </p:normalViewPr>
  <p:slideViewPr>
    <p:cSldViewPr snapToGrid="0">
      <p:cViewPr varScale="1">
        <p:scale>
          <a:sx n="59" d="100"/>
          <a:sy n="59" d="100"/>
        </p:scale>
        <p:origin x="5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heme" Target="theme/theme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39" name="Content Placeholder"/>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pPr lvl="0"/>
            <a:r>
              <a:rPr lang="en-US"/>
              <a:t>Click to edit Master text styles</a:t>
            </a:r>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609601" y="1600201"/>
            <a:ext cx="5863167"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6705600" y="1600200"/>
            <a:ext cx="48768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6705600" y="3252789"/>
            <a:ext cx="4876800" cy="2873375"/>
          </a:xfrm>
        </p:spPr>
        <p:txBody>
          <a:bodyPr/>
          <a:lstStyle>
            <a:lvl1pPr marL="101600" indent="0">
              <a:buNone/>
              <a:defRPr sz="2200"/>
            </a:lvl1pPr>
          </a:lstStyle>
          <a:p>
            <a:pPr lvl="0"/>
            <a:r>
              <a:rPr lang="en-US" dirty="0"/>
              <a:t>Chapter name</a:t>
            </a: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fld id="{71F42A98-7636-48FD-9080-71ACA68AC7F1}" type="slidenum">
              <a:rPr lang="en-US" smtClean="0"/>
              <a:t>‹#›</a:t>
            </a:fld>
            <a:endParaRPr lang="en-US"/>
          </a:p>
        </p:txBody>
      </p:sp>
    </p:spTree>
    <p:extLst>
      <p:ext uri="{BB962C8B-B14F-4D97-AF65-F5344CB8AC3E}">
        <p14:creationId xmlns:p14="http://schemas.microsoft.com/office/powerpoint/2010/main" val="806575031"/>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r>
              <a:rPr lang="en-US"/>
              <a:t>Click to edit Master subtitle style</a:t>
            </a:r>
            <a:endParaRPr dirty="0"/>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fld id="{71F42A98-7636-48FD-9080-71ACA68AC7F1}" type="slidenum">
              <a:rPr lang="en-US" smtClean="0"/>
              <a:t>‹#›</a:t>
            </a:fld>
            <a:endParaRPr lang="en-US"/>
          </a:p>
        </p:txBody>
      </p:sp>
    </p:spTree>
    <p:extLst>
      <p:ext uri="{BB962C8B-B14F-4D97-AF65-F5344CB8AC3E}">
        <p14:creationId xmlns:p14="http://schemas.microsoft.com/office/powerpoint/2010/main" val="2205085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E336-DCD4-1F17-E217-5C485191D3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36D6E2-0608-F09B-554F-8070C3DD67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0B79CD-4ABF-D3D7-0A41-CA36F53783C9}"/>
              </a:ext>
            </a:extLst>
          </p:cNvPr>
          <p:cNvSpPr>
            <a:spLocks noGrp="1"/>
          </p:cNvSpPr>
          <p:nvPr>
            <p:ph type="dt" sz="half" idx="10"/>
          </p:nvPr>
        </p:nvSpPr>
        <p:spPr/>
        <p:txBody>
          <a:bodyPr/>
          <a:lstStyle/>
          <a:p>
            <a:fld id="{C0662B76-0371-4014-9DBE-45B82E933B8A}" type="datetimeFigureOut">
              <a:rPr lang="en-US" smtClean="0"/>
              <a:t>6/14/2025</a:t>
            </a:fld>
            <a:endParaRPr lang="en-US"/>
          </a:p>
        </p:txBody>
      </p:sp>
      <p:sp>
        <p:nvSpPr>
          <p:cNvPr id="5" name="Footer Placeholder 4">
            <a:extLst>
              <a:ext uri="{FF2B5EF4-FFF2-40B4-BE49-F238E27FC236}">
                <a16:creationId xmlns:a16="http://schemas.microsoft.com/office/drawing/2014/main" id="{A7ECA0A3-ED16-D7A5-046D-FA616704A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7025E-6232-1B86-AA7E-008885D0B8BE}"/>
              </a:ext>
            </a:extLst>
          </p:cNvPr>
          <p:cNvSpPr>
            <a:spLocks noGrp="1"/>
          </p:cNvSpPr>
          <p:nvPr>
            <p:ph type="sldNum" sz="quarter" idx="12"/>
          </p:nvPr>
        </p:nvSpPr>
        <p:spPr/>
        <p:txBody>
          <a:bodyPr/>
          <a:lstStyle/>
          <a:p>
            <a:fld id="{71F42A98-7636-48FD-9080-71ACA68AC7F1}" type="slidenum">
              <a:rPr lang="en-US" smtClean="0"/>
              <a:t>‹#›</a:t>
            </a:fld>
            <a:endParaRPr lang="en-US"/>
          </a:p>
        </p:txBody>
      </p:sp>
    </p:spTree>
    <p:extLst>
      <p:ext uri="{BB962C8B-B14F-4D97-AF65-F5344CB8AC3E}">
        <p14:creationId xmlns:p14="http://schemas.microsoft.com/office/powerpoint/2010/main" val="3336373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FFF7-F9AA-4252-21FF-E2612AA4CC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DCE90C-9548-3238-4E0A-5648071328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A0630C-6452-492E-31A2-1B72B45735E0}"/>
              </a:ext>
            </a:extLst>
          </p:cNvPr>
          <p:cNvSpPr>
            <a:spLocks noGrp="1"/>
          </p:cNvSpPr>
          <p:nvPr>
            <p:ph type="dt" sz="half" idx="10"/>
          </p:nvPr>
        </p:nvSpPr>
        <p:spPr/>
        <p:txBody>
          <a:bodyPr/>
          <a:lstStyle/>
          <a:p>
            <a:fld id="{C0662B76-0371-4014-9DBE-45B82E933B8A}" type="datetimeFigureOut">
              <a:rPr lang="en-US" smtClean="0"/>
              <a:t>6/14/2025</a:t>
            </a:fld>
            <a:endParaRPr lang="en-US"/>
          </a:p>
        </p:txBody>
      </p:sp>
      <p:sp>
        <p:nvSpPr>
          <p:cNvPr id="5" name="Footer Placeholder 4">
            <a:extLst>
              <a:ext uri="{FF2B5EF4-FFF2-40B4-BE49-F238E27FC236}">
                <a16:creationId xmlns:a16="http://schemas.microsoft.com/office/drawing/2014/main" id="{E67EC2A1-90B0-A025-EEF1-0F3148C70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9F2AC0-29BF-B1A3-E21C-9D992FF6CF41}"/>
              </a:ext>
            </a:extLst>
          </p:cNvPr>
          <p:cNvSpPr>
            <a:spLocks noGrp="1"/>
          </p:cNvSpPr>
          <p:nvPr>
            <p:ph type="sldNum" sz="quarter" idx="12"/>
          </p:nvPr>
        </p:nvSpPr>
        <p:spPr/>
        <p:txBody>
          <a:bodyPr/>
          <a:lstStyle/>
          <a:p>
            <a:fld id="{71F42A98-7636-48FD-9080-71ACA68AC7F1}" type="slidenum">
              <a:rPr lang="en-US" smtClean="0"/>
              <a:t>‹#›</a:t>
            </a:fld>
            <a:endParaRPr lang="en-US"/>
          </a:p>
        </p:txBody>
      </p:sp>
    </p:spTree>
    <p:extLst>
      <p:ext uri="{BB962C8B-B14F-4D97-AF65-F5344CB8AC3E}">
        <p14:creationId xmlns:p14="http://schemas.microsoft.com/office/powerpoint/2010/main" val="1967240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609601" y="1441450"/>
            <a:ext cx="10977033" cy="4709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8610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a:t>Click to 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a:t>Click to 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45168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609601" y="1556328"/>
            <a:ext cx="4847167" cy="4520623"/>
          </a:xfrm>
        </p:spPr>
        <p:txBody>
          <a:bodyPr/>
          <a:lstStyle/>
          <a:p>
            <a:pPr lvl="0"/>
            <a:r>
              <a:rPr lang="en-US"/>
              <a:t>Click to 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5646057" y="1556327"/>
            <a:ext cx="5936343" cy="2267528"/>
          </a:xfrm>
        </p:spPr>
        <p:txBody>
          <a:bodyPr/>
          <a:lstStyle/>
          <a:p>
            <a:pPr lvl="0"/>
            <a:r>
              <a:rPr lang="en-US"/>
              <a:t>Click to 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5646056" y="3971926"/>
            <a:ext cx="5936344" cy="2105025"/>
          </a:xfrm>
        </p:spPr>
        <p:txBody>
          <a:bodyPr/>
          <a:lstStyle/>
          <a:p>
            <a:pPr lvl="0"/>
            <a:r>
              <a:rPr lang="en-US"/>
              <a:t>Click to 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188661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5322627"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259773" y="1552575"/>
            <a:ext cx="5322627"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116867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09602" y="1552575"/>
            <a:ext cx="3460804"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365599" y="1552575"/>
            <a:ext cx="3460803"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8121597" y="1552575"/>
            <a:ext cx="3460804"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944867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251460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3430124" y="1552575"/>
            <a:ext cx="251460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250648" y="1552575"/>
            <a:ext cx="251460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9071171" y="1552575"/>
            <a:ext cx="251460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354655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lstStyle/>
          <a:p>
            <a:r>
              <a:rPr lang="en-US"/>
              <a:t>Click icon to add picture</a:t>
            </a:r>
            <a:endParaRPr lang="en-US" dirty="0"/>
          </a:p>
        </p:txBody>
      </p:sp>
      <p:sp>
        <p:nvSpPr>
          <p:cNvPr id="55" name="Content Placeholder"/>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dk1"/>
                </a:solidFill>
              </a:rPr>
              <a:pPr algn="r">
                <a:buSzPct val="25000"/>
              </a:pPr>
              <a:t>‹#›</a:t>
            </a:fld>
            <a:endParaRPr lang="en-US" sz="900">
              <a:solidFill>
                <a:schemeClr val="dk1"/>
              </a:solidFill>
            </a:endParaRPr>
          </a:p>
        </p:txBody>
      </p:sp>
    </p:spTree>
    <p:extLst>
      <p:ext uri="{BB962C8B-B14F-4D97-AF65-F5344CB8AC3E}">
        <p14:creationId xmlns:p14="http://schemas.microsoft.com/office/powerpoint/2010/main" val="404572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609600" y="1481139"/>
            <a:ext cx="5979584"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6731000" y="1481139"/>
            <a:ext cx="485140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609600" y="5343525"/>
            <a:ext cx="109728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a:xfrm>
            <a:off x="8447617" y="113072"/>
            <a:ext cx="2844799" cy="182879"/>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358422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3977218" y="4359276"/>
            <a:ext cx="4643967"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3977217" y="1681163"/>
            <a:ext cx="4643967"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1077479" y="1681163"/>
            <a:ext cx="1627621"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1077479" y="2647157"/>
            <a:ext cx="1608667"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1077479" y="3613151"/>
            <a:ext cx="1608667"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9842499" y="1681163"/>
            <a:ext cx="1739900"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9842499" y="2651590"/>
            <a:ext cx="1739900"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9842499" y="3613152"/>
            <a:ext cx="1739900"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a:xfrm>
            <a:off x="8447617" y="113072"/>
            <a:ext cx="2844799" cy="182879"/>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34980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a:t>Click to edit Master title style</a:t>
            </a:r>
            <a:endParaRPr lang="en-US" dirty="0"/>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609602" y="4392614"/>
            <a:ext cx="2809764"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609600" y="1817688"/>
            <a:ext cx="2809765"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3699497" y="1794947"/>
            <a:ext cx="204615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3699497" y="2707482"/>
            <a:ext cx="204615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3699497" y="3597276"/>
            <a:ext cx="204615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6575462" y="4347440"/>
            <a:ext cx="2809764"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6575462" y="1806537"/>
            <a:ext cx="2809764"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9739441" y="1794947"/>
            <a:ext cx="204615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9739439" y="2707481"/>
            <a:ext cx="204615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9739439" y="3579818"/>
            <a:ext cx="204616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a:xfrm>
            <a:off x="8447617" y="113072"/>
            <a:ext cx="2844799" cy="182879"/>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081825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914400" y="1447801"/>
            <a:ext cx="103632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899583" y="3962400"/>
            <a:ext cx="1039283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pPr lvl="0"/>
            <a:r>
              <a:rPr lang="en-US"/>
              <a:t>Click to edit Master text styles</a:t>
            </a:r>
          </a:p>
        </p:txBody>
      </p:sp>
      <p:sp>
        <p:nvSpPr>
          <p:cNvPr id="72" name="Shape 7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9391894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fld id="{71F42A98-7636-48FD-9080-71ACA68AC7F1}" type="slidenum">
              <a:rPr lang="en-US" smtClean="0"/>
              <a:t>‹#›</a:t>
            </a:fld>
            <a:endParaRPr lang="en-US"/>
          </a:p>
        </p:txBody>
      </p:sp>
      <p:sp>
        <p:nvSpPr>
          <p:cNvPr id="9" name="TextBox 8">
            <a:extLst>
              <a:ext uri="{FF2B5EF4-FFF2-40B4-BE49-F238E27FC236}">
                <a16:creationId xmlns:a16="http://schemas.microsoft.com/office/drawing/2014/main" id="{898403F3-1A1C-4086-9B8B-3CC54035999C}"/>
              </a:ext>
            </a:extLst>
          </p:cNvPr>
          <p:cNvSpPr txBox="1"/>
          <p:nvPr/>
        </p:nvSpPr>
        <p:spPr>
          <a:xfrm flipH="1">
            <a:off x="8273141" y="6313176"/>
            <a:ext cx="3309256" cy="369332"/>
          </a:xfrm>
          <a:prstGeom prst="rect">
            <a:avLst/>
          </a:prstGeom>
          <a:noFill/>
        </p:spPr>
        <p:txBody>
          <a:bodyPr wrap="square" rtlCol="0">
            <a:spAutoFit/>
          </a:bodyPr>
          <a:lstStyle/>
          <a:p>
            <a:pPr algn="r"/>
            <a:r>
              <a:rPr lang="en-US" sz="1800" b="1" dirty="0" err="1">
                <a:solidFill>
                  <a:schemeClr val="accent1">
                    <a:lumMod val="60000"/>
                    <a:lumOff val="40000"/>
                  </a:schemeClr>
                </a:solidFill>
              </a:rPr>
              <a:t>Jayasri</a:t>
            </a:r>
            <a:endParaRPr lang="en-US" sz="1800" b="1" dirty="0">
              <a:solidFill>
                <a:schemeClr val="accent1">
                  <a:lumMod val="60000"/>
                  <a:lumOff val="40000"/>
                </a:schemeClr>
              </a:solidFill>
            </a:endParaRPr>
          </a:p>
        </p:txBody>
      </p:sp>
      <p:pic>
        <p:nvPicPr>
          <p:cNvPr id="4" name="Picture 3">
            <a:extLst>
              <a:ext uri="{FF2B5EF4-FFF2-40B4-BE49-F238E27FC236}">
                <a16:creationId xmlns:a16="http://schemas.microsoft.com/office/drawing/2014/main" id="{2CB7AEAF-F11F-442F-B3DB-0DC8E1DDF69E}"/>
              </a:ext>
            </a:extLst>
          </p:cNvPr>
          <p:cNvPicPr>
            <a:picLocks noChangeAspect="1"/>
          </p:cNvPicPr>
          <p:nvPr/>
        </p:nvPicPr>
        <p:blipFill>
          <a:blip r:embed="rId6"/>
          <a:stretch>
            <a:fillRect/>
          </a:stretch>
        </p:blipFill>
        <p:spPr>
          <a:xfrm>
            <a:off x="618311" y="5949723"/>
            <a:ext cx="1228453" cy="921340"/>
          </a:xfrm>
          <a:prstGeom prst="rect">
            <a:avLst/>
          </a:prstGeom>
        </p:spPr>
      </p:pic>
      <p:sp>
        <p:nvSpPr>
          <p:cNvPr id="12" name="TextBox 11">
            <a:extLst>
              <a:ext uri="{FF2B5EF4-FFF2-40B4-BE49-F238E27FC236}">
                <a16:creationId xmlns:a16="http://schemas.microsoft.com/office/drawing/2014/main" id="{0949580F-9F00-4F99-B6B1-26597E6562DF}"/>
              </a:ext>
            </a:extLst>
          </p:cNvPr>
          <p:cNvSpPr txBox="1"/>
          <p:nvPr/>
        </p:nvSpPr>
        <p:spPr>
          <a:xfrm flipH="1">
            <a:off x="1596554" y="6313177"/>
            <a:ext cx="4325273" cy="369332"/>
          </a:xfrm>
          <a:prstGeom prst="rect">
            <a:avLst/>
          </a:prstGeom>
          <a:noFill/>
        </p:spPr>
        <p:txBody>
          <a:bodyPr wrap="square" rtlCol="0">
            <a:spAutoFit/>
          </a:bodyPr>
          <a:lstStyle/>
          <a:p>
            <a:r>
              <a:rPr lang="en-US" sz="1800" b="1" dirty="0">
                <a:solidFill>
                  <a:schemeClr val="accent1">
                    <a:lumMod val="60000"/>
                    <a:lumOff val="40000"/>
                  </a:schemeClr>
                </a:solidFill>
              </a:rPr>
              <a:t>ACE ENGINEERING COLLEGE</a:t>
            </a:r>
          </a:p>
        </p:txBody>
      </p:sp>
    </p:spTree>
    <p:extLst>
      <p:ext uri="{BB962C8B-B14F-4D97-AF65-F5344CB8AC3E}">
        <p14:creationId xmlns:p14="http://schemas.microsoft.com/office/powerpoint/2010/main" val="378932979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7" name="TextBox 16">
            <a:extLst>
              <a:ext uri="{FF2B5EF4-FFF2-40B4-BE49-F238E27FC236}">
                <a16:creationId xmlns:a16="http://schemas.microsoft.com/office/drawing/2014/main" id="{27CC3BB5-1D86-46D5-AE48-71ABDA16B66D}"/>
              </a:ext>
            </a:extLst>
          </p:cNvPr>
          <p:cNvSpPr txBox="1"/>
          <p:nvPr/>
        </p:nvSpPr>
        <p:spPr>
          <a:xfrm flipH="1">
            <a:off x="8273141" y="6313177"/>
            <a:ext cx="3309256" cy="307777"/>
          </a:xfrm>
          <a:prstGeom prst="rect">
            <a:avLst/>
          </a:prstGeom>
          <a:noFill/>
        </p:spPr>
        <p:txBody>
          <a:bodyPr wrap="square" rtlCol="0">
            <a:spAutoFit/>
          </a:bodyPr>
          <a:lstStyle/>
          <a:p>
            <a:pPr algn="r"/>
            <a:r>
              <a:rPr lang="en-US" sz="1400" b="1" dirty="0" err="1">
                <a:solidFill>
                  <a:schemeClr val="accent1">
                    <a:lumMod val="60000"/>
                    <a:lumOff val="40000"/>
                  </a:schemeClr>
                </a:solidFill>
              </a:rPr>
              <a:t>Jayasri</a:t>
            </a:r>
            <a:endParaRPr lang="en-US" sz="1400" b="1" dirty="0">
              <a:solidFill>
                <a:schemeClr val="accent1">
                  <a:lumMod val="60000"/>
                  <a:lumOff val="40000"/>
                </a:schemeClr>
              </a:solidFill>
            </a:endParaRPr>
          </a:p>
        </p:txBody>
      </p:sp>
      <p:pic>
        <p:nvPicPr>
          <p:cNvPr id="18" name="Picture 17">
            <a:extLst>
              <a:ext uri="{FF2B5EF4-FFF2-40B4-BE49-F238E27FC236}">
                <a16:creationId xmlns:a16="http://schemas.microsoft.com/office/drawing/2014/main" id="{756D831A-AB11-4A8B-AC7C-3135AE31E270}"/>
              </a:ext>
            </a:extLst>
          </p:cNvPr>
          <p:cNvPicPr>
            <a:picLocks noChangeAspect="1"/>
          </p:cNvPicPr>
          <p:nvPr/>
        </p:nvPicPr>
        <p:blipFill>
          <a:blip r:embed="rId13"/>
          <a:stretch>
            <a:fillRect/>
          </a:stretch>
        </p:blipFill>
        <p:spPr>
          <a:xfrm>
            <a:off x="618311" y="5949723"/>
            <a:ext cx="1228453" cy="921340"/>
          </a:xfrm>
          <a:prstGeom prst="rect">
            <a:avLst/>
          </a:prstGeom>
        </p:spPr>
      </p:pic>
      <p:sp>
        <p:nvSpPr>
          <p:cNvPr id="19" name="TextBox 18">
            <a:extLst>
              <a:ext uri="{FF2B5EF4-FFF2-40B4-BE49-F238E27FC236}">
                <a16:creationId xmlns:a16="http://schemas.microsoft.com/office/drawing/2014/main" id="{6FC6E57E-D093-4D52-8424-9F52C27ED41D}"/>
              </a:ext>
            </a:extLst>
          </p:cNvPr>
          <p:cNvSpPr txBox="1"/>
          <p:nvPr/>
        </p:nvSpPr>
        <p:spPr>
          <a:xfrm flipH="1">
            <a:off x="1596554" y="6313177"/>
            <a:ext cx="4325273" cy="307777"/>
          </a:xfrm>
          <a:prstGeom prst="rect">
            <a:avLst/>
          </a:prstGeom>
          <a:noFill/>
        </p:spPr>
        <p:txBody>
          <a:bodyPr wrap="square" rtlCol="0">
            <a:spAutoFit/>
          </a:bodyPr>
          <a:lstStyle/>
          <a:p>
            <a:r>
              <a:rPr lang="en-US" sz="1400" b="1" dirty="0">
                <a:solidFill>
                  <a:schemeClr val="accent1">
                    <a:lumMod val="60000"/>
                    <a:lumOff val="40000"/>
                  </a:schemeClr>
                </a:solidFill>
              </a:rPr>
              <a:t>ACE ENGINEERING COLLEGE</a:t>
            </a:r>
          </a:p>
        </p:txBody>
      </p:sp>
      <p:sp>
        <p:nvSpPr>
          <p:cNvPr id="20" name="TextBox 19">
            <a:extLst>
              <a:ext uri="{FF2B5EF4-FFF2-40B4-BE49-F238E27FC236}">
                <a16:creationId xmlns:a16="http://schemas.microsoft.com/office/drawing/2014/main" id="{65EFD184-3B21-4269-92E2-AA0C1D0CECA1}"/>
              </a:ext>
            </a:extLst>
          </p:cNvPr>
          <p:cNvSpPr txBox="1"/>
          <p:nvPr/>
        </p:nvSpPr>
        <p:spPr>
          <a:xfrm rot="5400000">
            <a:off x="10582987" y="3135087"/>
            <a:ext cx="2762295" cy="307777"/>
          </a:xfrm>
          <a:prstGeom prst="rect">
            <a:avLst/>
          </a:prstGeom>
          <a:noFill/>
        </p:spPr>
        <p:txBody>
          <a:bodyPr wrap="none" rtlCol="0">
            <a:spAutoFit/>
          </a:bodyPr>
          <a:lstStyle/>
          <a:p>
            <a:r>
              <a:rPr lang="en-US" sz="1400" b="1" dirty="0">
                <a:solidFill>
                  <a:schemeClr val="accent1">
                    <a:lumMod val="60000"/>
                    <a:lumOff val="40000"/>
                  </a:schemeClr>
                </a:solidFill>
              </a:rPr>
              <a:t>Information Retrieval Systems</a:t>
            </a:r>
          </a:p>
        </p:txBody>
      </p:sp>
      <p:sp>
        <p:nvSpPr>
          <p:cNvPr id="2" name="TextBox 1">
            <a:extLst>
              <a:ext uri="{FF2B5EF4-FFF2-40B4-BE49-F238E27FC236}">
                <a16:creationId xmlns:a16="http://schemas.microsoft.com/office/drawing/2014/main" id="{341856B6-7AA4-4EE6-8533-B06E980F891C}"/>
              </a:ext>
            </a:extLst>
          </p:cNvPr>
          <p:cNvSpPr txBox="1"/>
          <p:nvPr/>
        </p:nvSpPr>
        <p:spPr>
          <a:xfrm>
            <a:off x="11425647" y="45553"/>
            <a:ext cx="674003" cy="307777"/>
          </a:xfrm>
          <a:prstGeom prst="rect">
            <a:avLst/>
          </a:prstGeom>
          <a:noFill/>
        </p:spPr>
        <p:txBody>
          <a:bodyPr wrap="square" rtlCol="0">
            <a:spAutoFit/>
          </a:bodyPr>
          <a:lstStyle/>
          <a:p>
            <a:pPr algn="r"/>
            <a:fld id="{6C35DBDA-768B-41DA-92F1-86237CE345C5}" type="slidenum">
              <a:rPr lang="en-US" sz="1400" b="1" smtClean="0">
                <a:latin typeface="Book Antiqua" panose="02040602050305030304" pitchFamily="18" charset="0"/>
              </a:rPr>
              <a:pPr algn="r"/>
              <a:t>‹#›</a:t>
            </a:fld>
            <a:endParaRPr lang="en-US" sz="1400" b="1" dirty="0">
              <a:latin typeface="Book Antiqua" panose="02040602050305030304" pitchFamily="18" charset="0"/>
            </a:endParaRPr>
          </a:p>
        </p:txBody>
      </p:sp>
    </p:spTree>
    <p:extLst>
      <p:ext uri="{BB962C8B-B14F-4D97-AF65-F5344CB8AC3E}">
        <p14:creationId xmlns:p14="http://schemas.microsoft.com/office/powerpoint/2010/main" val="499243435"/>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 Id="rId5" Type="http://schemas.openxmlformats.org/officeDocument/2006/relationships/image" Target="../media/image39.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1ACB53-520F-ADC0-2A2C-7772DE5E6E32}"/>
              </a:ext>
            </a:extLst>
          </p:cNvPr>
          <p:cNvSpPr>
            <a:spLocks noGrp="1"/>
          </p:cNvSpPr>
          <p:nvPr>
            <p:ph type="ctrTitle"/>
          </p:nvPr>
        </p:nvSpPr>
        <p:spPr/>
        <p:txBody>
          <a:bodyPr/>
          <a:lstStyle/>
          <a:p>
            <a:r>
              <a:rPr lang="en-US" dirty="0"/>
              <a:t>Information Retrieval Systems</a:t>
            </a:r>
          </a:p>
        </p:txBody>
      </p:sp>
      <p:sp>
        <p:nvSpPr>
          <p:cNvPr id="5" name="Subtitle 4">
            <a:extLst>
              <a:ext uri="{FF2B5EF4-FFF2-40B4-BE49-F238E27FC236}">
                <a16:creationId xmlns:a16="http://schemas.microsoft.com/office/drawing/2014/main" id="{4896134E-1A01-CE53-100E-C6C47B0D298E}"/>
              </a:ext>
            </a:extLst>
          </p:cNvPr>
          <p:cNvSpPr>
            <a:spLocks noGrp="1"/>
          </p:cNvSpPr>
          <p:nvPr>
            <p:ph type="subTitle" idx="1"/>
          </p:nvPr>
        </p:nvSpPr>
        <p:spPr/>
        <p:txBody>
          <a:bodyPr/>
          <a:lstStyle/>
          <a:p>
            <a:pPr algn="ctr"/>
            <a:r>
              <a:rPr lang="en-US" sz="3600" b="1" dirty="0">
                <a:solidFill>
                  <a:srgbClr val="007FA3"/>
                </a:solidFill>
              </a:rPr>
              <a:t>UNIT - V</a:t>
            </a:r>
            <a:endParaRPr lang="en-US" sz="3600" dirty="0"/>
          </a:p>
        </p:txBody>
      </p:sp>
    </p:spTree>
    <p:extLst>
      <p:ext uri="{BB962C8B-B14F-4D97-AF65-F5344CB8AC3E}">
        <p14:creationId xmlns:p14="http://schemas.microsoft.com/office/powerpoint/2010/main" val="4093549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sz="3600" dirty="0">
                <a:latin typeface="+mj-lt"/>
              </a:rPr>
              <a:t>AGENDA</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Text Search Algorithms</a:t>
            </a:r>
            <a:r>
              <a:rPr lang="en-US" sz="2600" dirty="0">
                <a:latin typeface="Calibri" panose="020F0502020204030204" pitchFamily="34" charset="0"/>
                <a:ea typeface="Calibri" panose="020F0502020204030204" pitchFamily="34" charset="0"/>
                <a:cs typeface="Calibri" panose="020F0502020204030204" pitchFamily="34" charset="0"/>
              </a:rPr>
              <a:t>: Introduction to Text Search Techniques, Software Text Search Algorithms, Hardware Text Search Systems </a:t>
            </a:r>
          </a:p>
          <a:p>
            <a:r>
              <a:rPr lang="en-US" sz="2600" b="1" dirty="0">
                <a:latin typeface="Calibri" panose="020F0502020204030204" pitchFamily="34" charset="0"/>
                <a:ea typeface="Calibri" panose="020F0502020204030204" pitchFamily="34" charset="0"/>
                <a:cs typeface="Calibri" panose="020F0502020204030204" pitchFamily="34" charset="0"/>
              </a:rPr>
              <a:t>Multimedia Information Retrieval</a:t>
            </a:r>
            <a:r>
              <a:rPr lang="en-US" sz="2600" dirty="0">
                <a:latin typeface="Calibri" panose="020F0502020204030204" pitchFamily="34" charset="0"/>
                <a:ea typeface="Calibri" panose="020F0502020204030204" pitchFamily="34" charset="0"/>
                <a:cs typeface="Calibri" panose="020F0502020204030204" pitchFamily="34" charset="0"/>
              </a:rPr>
              <a:t>: Spoken Language Audio Retrieval, Non-Speech Audio Retrieval, Graph Retrieval, Imagery Retrieval, Video Retrieval </a:t>
            </a:r>
          </a:p>
        </p:txBody>
      </p:sp>
    </p:spTree>
    <p:extLst>
      <p:ext uri="{BB962C8B-B14F-4D97-AF65-F5344CB8AC3E}">
        <p14:creationId xmlns:p14="http://schemas.microsoft.com/office/powerpoint/2010/main" val="340226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t>Introduction to Text Search Techniques</a:t>
            </a:r>
          </a:p>
        </p:txBody>
      </p:sp>
      <p:sp>
        <p:nvSpPr>
          <p:cNvPr id="5" name="Content Placeholder 4">
            <a:extLst>
              <a:ext uri="{FF2B5EF4-FFF2-40B4-BE49-F238E27FC236}">
                <a16:creationId xmlns:a16="http://schemas.microsoft.com/office/drawing/2014/main" id="{DA7A58E5-AFDB-7B68-E7CE-7B3C0D329E47}"/>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Three classical methods for organizing and searching textual databases are mentioned:</a:t>
            </a:r>
          </a:p>
          <a:p>
            <a:endParaRPr lang="en-US" sz="2600" dirty="0">
              <a:latin typeface="Calibri" panose="020F0502020204030204" pitchFamily="34" charset="0"/>
              <a:ea typeface="Calibri" panose="020F0502020204030204" pitchFamily="34" charset="0"/>
              <a:cs typeface="Calibri" panose="020F0502020204030204" pitchFamily="34" charset="0"/>
            </a:endParaRPr>
          </a:p>
          <a:p>
            <a:pPr lvl="1"/>
            <a:r>
              <a:rPr lang="en-US" sz="2600" b="1" dirty="0">
                <a:latin typeface="Calibri" panose="020F0502020204030204" pitchFamily="34" charset="0"/>
                <a:ea typeface="Calibri" panose="020F0502020204030204" pitchFamily="34" charset="0"/>
                <a:cs typeface="Calibri" panose="020F0502020204030204" pitchFamily="34" charset="0"/>
              </a:rPr>
              <a:t>Full Text Scanning (Streaming): </a:t>
            </a:r>
            <a:r>
              <a:rPr lang="en-US" sz="2600" dirty="0">
                <a:latin typeface="Calibri" panose="020F0502020204030204" pitchFamily="34" charset="0"/>
                <a:ea typeface="Calibri" panose="020F0502020204030204" pitchFamily="34" charset="0"/>
                <a:cs typeface="Calibri" panose="020F0502020204030204" pitchFamily="34" charset="0"/>
              </a:rPr>
              <a:t>Directly scanning the entire text to find matches for a query.</a:t>
            </a:r>
          </a:p>
          <a:p>
            <a:pPr lvl="1"/>
            <a:r>
              <a:rPr lang="en-US" sz="2600" b="1" dirty="0">
                <a:latin typeface="Calibri" panose="020F0502020204030204" pitchFamily="34" charset="0"/>
                <a:ea typeface="Calibri" panose="020F0502020204030204" pitchFamily="34" charset="0"/>
                <a:cs typeface="Calibri" panose="020F0502020204030204" pitchFamily="34" charset="0"/>
              </a:rPr>
              <a:t>Word Inversion (Indexing): </a:t>
            </a:r>
            <a:r>
              <a:rPr lang="en-US" sz="2600" dirty="0">
                <a:latin typeface="Calibri" panose="020F0502020204030204" pitchFamily="34" charset="0"/>
                <a:ea typeface="Calibri" panose="020F0502020204030204" pitchFamily="34" charset="0"/>
                <a:cs typeface="Calibri" panose="020F0502020204030204" pitchFamily="34" charset="0"/>
              </a:rPr>
              <a:t>Creating an index of words to quickly locate relevant items, reducing the data to be searched.</a:t>
            </a:r>
          </a:p>
          <a:p>
            <a:pPr lvl="1"/>
            <a:r>
              <a:rPr lang="en-US" sz="2600" b="1" dirty="0" err="1">
                <a:latin typeface="Calibri" panose="020F0502020204030204" pitchFamily="34" charset="0"/>
                <a:ea typeface="Calibri" panose="020F0502020204030204" pitchFamily="34" charset="0"/>
                <a:cs typeface="Calibri" panose="020F0502020204030204" pitchFamily="34" charset="0"/>
              </a:rPr>
              <a:t>Multiattribute</a:t>
            </a:r>
            <a:r>
              <a:rPr lang="en-US" sz="2600" b="1" dirty="0">
                <a:latin typeface="Calibri" panose="020F0502020204030204" pitchFamily="34" charset="0"/>
                <a:ea typeface="Calibri" panose="020F0502020204030204" pitchFamily="34" charset="0"/>
                <a:cs typeface="Calibri" panose="020F0502020204030204" pitchFamily="34" charset="0"/>
              </a:rPr>
              <a:t> Retrieval: </a:t>
            </a:r>
            <a:r>
              <a:rPr lang="en-US" sz="2600" dirty="0">
                <a:latin typeface="Calibri" panose="020F0502020204030204" pitchFamily="34" charset="0"/>
                <a:ea typeface="Calibri" panose="020F0502020204030204" pitchFamily="34" charset="0"/>
                <a:cs typeface="Calibri" panose="020F0502020204030204" pitchFamily="34" charset="0"/>
              </a:rPr>
              <a:t>Searching based on multiple attributes of the data (e.g., metadata and content).</a:t>
            </a:r>
          </a:p>
        </p:txBody>
      </p:sp>
    </p:spTree>
    <p:extLst>
      <p:ext uri="{BB962C8B-B14F-4D97-AF65-F5344CB8AC3E}">
        <p14:creationId xmlns:p14="http://schemas.microsoft.com/office/powerpoint/2010/main" val="380623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3"/>
            <a:ext cx="10972800" cy="820948"/>
          </a:xfrm>
        </p:spPr>
        <p:txBody>
          <a:bodyPr/>
          <a:lstStyle/>
          <a:p>
            <a:r>
              <a:rPr lang="en-US" dirty="0">
                <a:effectLst/>
              </a:rPr>
              <a:t>Text Streaming Architecture</a:t>
            </a:r>
            <a:endParaRPr lang="en-US" dirty="0"/>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a:xfrm>
            <a:off x="609600" y="1036321"/>
            <a:ext cx="11074400" cy="4954904"/>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diagram shows the architecture of a text streaming search system, which includes three main components:</a:t>
            </a:r>
          </a:p>
          <a:p>
            <a:pPr lvl="1"/>
            <a:r>
              <a:rPr lang="en-US" sz="2600" b="1" dirty="0">
                <a:latin typeface="Calibri" panose="020F0502020204030204" pitchFamily="34" charset="0"/>
                <a:ea typeface="Calibri" panose="020F0502020204030204" pitchFamily="34" charset="0"/>
                <a:cs typeface="Calibri" panose="020F0502020204030204" pitchFamily="34" charset="0"/>
              </a:rPr>
              <a:t>Database:</a:t>
            </a:r>
            <a:r>
              <a:rPr lang="en-US" sz="2600" dirty="0">
                <a:latin typeface="Calibri" panose="020F0502020204030204" pitchFamily="34" charset="0"/>
                <a:ea typeface="Calibri" panose="020F0502020204030204" pitchFamily="34" charset="0"/>
                <a:cs typeface="Calibri" panose="020F0502020204030204" pitchFamily="34" charset="0"/>
              </a:rPr>
              <a:t> Stores the full text of items to be searched.</a:t>
            </a:r>
          </a:p>
          <a:p>
            <a:pPr lvl="1"/>
            <a:r>
              <a:rPr lang="en-US" sz="2600" b="1" dirty="0">
                <a:latin typeface="Calibri" panose="020F0502020204030204" pitchFamily="34" charset="0"/>
                <a:ea typeface="Calibri" panose="020F0502020204030204" pitchFamily="34" charset="0"/>
                <a:cs typeface="Calibri" panose="020F0502020204030204" pitchFamily="34" charset="0"/>
              </a:rPr>
              <a:t>Term Detector: </a:t>
            </a:r>
            <a:r>
              <a:rPr lang="en-US" sz="2600" dirty="0">
                <a:latin typeface="Calibri" panose="020F0502020204030204" pitchFamily="34" charset="0"/>
                <a:ea typeface="Calibri" panose="020F0502020204030204" pitchFamily="34" charset="0"/>
                <a:cs typeface="Calibri" panose="020F0502020204030204" pitchFamily="34" charset="0"/>
              </a:rPr>
              <a:t>A hardware/software module that identifies search terms in the text stream. It checks for the presence of query terms and may also handle basic logic (e.g., AND/OR relationships between terms).</a:t>
            </a:r>
          </a:p>
        </p:txBody>
      </p:sp>
      <p:pic>
        <p:nvPicPr>
          <p:cNvPr id="7" name="Picture 6">
            <a:extLst>
              <a:ext uri="{FF2B5EF4-FFF2-40B4-BE49-F238E27FC236}">
                <a16:creationId xmlns:a16="http://schemas.microsoft.com/office/drawing/2014/main" id="{39A8A541-065A-B71E-22B3-7BC0B50EEDBA}"/>
              </a:ext>
            </a:extLst>
          </p:cNvPr>
          <p:cNvPicPr>
            <a:picLocks noChangeAspect="1"/>
          </p:cNvPicPr>
          <p:nvPr/>
        </p:nvPicPr>
        <p:blipFill>
          <a:blip r:embed="rId2"/>
          <a:stretch>
            <a:fillRect/>
          </a:stretch>
        </p:blipFill>
        <p:spPr>
          <a:xfrm>
            <a:off x="4031398" y="3881120"/>
            <a:ext cx="6815293" cy="2476817"/>
          </a:xfrm>
          <a:prstGeom prst="rect">
            <a:avLst/>
          </a:prstGeom>
        </p:spPr>
      </p:pic>
    </p:spTree>
    <p:extLst>
      <p:ext uri="{BB962C8B-B14F-4D97-AF65-F5344CB8AC3E}">
        <p14:creationId xmlns:p14="http://schemas.microsoft.com/office/powerpoint/2010/main" val="5867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3"/>
            <a:ext cx="10972800" cy="810788"/>
          </a:xfrm>
        </p:spPr>
        <p:txBody>
          <a:bodyPr/>
          <a:lstStyle/>
          <a:p>
            <a:r>
              <a:rPr lang="en-US" dirty="0">
                <a:effectLst/>
              </a:rPr>
              <a:t>Text Streaming Architecture</a:t>
            </a:r>
            <a:endParaRPr lang="en-US" dirty="0"/>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a:xfrm>
            <a:off x="609601" y="1026161"/>
            <a:ext cx="10977033" cy="5125257"/>
          </a:xfrm>
        </p:spPr>
        <p:txBody>
          <a:bodyPr/>
          <a:lstStyle/>
          <a:p>
            <a:pPr lvl="1"/>
            <a:r>
              <a:rPr lang="en-US" sz="2600" b="1" dirty="0">
                <a:latin typeface="Calibri" panose="020F0502020204030204" pitchFamily="34" charset="0"/>
                <a:ea typeface="Calibri" panose="020F0502020204030204" pitchFamily="34" charset="0"/>
                <a:cs typeface="Calibri" panose="020F0502020204030204" pitchFamily="34" charset="0"/>
              </a:rPr>
              <a:t>Query Resolver</a:t>
            </a:r>
            <a:r>
              <a:rPr lang="en-US" sz="2600" dirty="0">
                <a:latin typeface="Calibri" panose="020F0502020204030204" pitchFamily="34" charset="0"/>
                <a:ea typeface="Calibri" panose="020F0502020204030204" pitchFamily="34" charset="0"/>
                <a:cs typeface="Calibri" panose="020F0502020204030204" pitchFamily="34" charset="0"/>
              </a:rPr>
              <a:t>:</a:t>
            </a:r>
          </a:p>
          <a:p>
            <a:pPr lvl="2"/>
            <a:r>
              <a:rPr lang="en-US" sz="2600" dirty="0">
                <a:latin typeface="Calibri" panose="020F0502020204030204" pitchFamily="34" charset="0"/>
                <a:ea typeface="Calibri" panose="020F0502020204030204" pitchFamily="34" charset="0"/>
                <a:cs typeface="Calibri" panose="020F0502020204030204" pitchFamily="34" charset="0"/>
              </a:rPr>
              <a:t>Takes user queries, extracts search terms and logic, and sends the terms to the Term Detector.</a:t>
            </a:r>
          </a:p>
          <a:p>
            <a:pPr lvl="2"/>
            <a:r>
              <a:rPr lang="en-US" sz="2600" dirty="0">
                <a:latin typeface="Calibri" panose="020F0502020204030204" pitchFamily="34" charset="0"/>
                <a:ea typeface="Calibri" panose="020F0502020204030204" pitchFamily="34" charset="0"/>
                <a:cs typeface="Calibri" panose="020F0502020204030204" pitchFamily="34" charset="0"/>
              </a:rPr>
              <a:t>Receives results from the Term Detector, evaluates the query logic, and determines which items satisfy the query (possibly assigning weights to matches).</a:t>
            </a:r>
          </a:p>
          <a:p>
            <a:pPr lvl="1"/>
            <a:r>
              <a:rPr lang="en-US" sz="2600" b="1" dirty="0">
                <a:latin typeface="Calibri" panose="020F0502020204030204" pitchFamily="34" charset="0"/>
                <a:ea typeface="Calibri" panose="020F0502020204030204" pitchFamily="34" charset="0"/>
                <a:cs typeface="Calibri" panose="020F0502020204030204" pitchFamily="34" charset="0"/>
              </a:rPr>
              <a:t>User Interface</a:t>
            </a:r>
            <a:r>
              <a:rPr lang="en-US" sz="2600" dirty="0">
                <a:latin typeface="Calibri" panose="020F0502020204030204" pitchFamily="34" charset="0"/>
                <a:ea typeface="Calibri" panose="020F0502020204030204" pitchFamily="34" charset="0"/>
                <a:cs typeface="Calibri" panose="020F0502020204030204" pitchFamily="34" charset="0"/>
              </a:rPr>
              <a:t>: Displays search results and status to the user, allowing retrieval of matching items.</a:t>
            </a:r>
          </a:p>
        </p:txBody>
      </p:sp>
      <p:pic>
        <p:nvPicPr>
          <p:cNvPr id="7" name="Picture 6">
            <a:extLst>
              <a:ext uri="{FF2B5EF4-FFF2-40B4-BE49-F238E27FC236}">
                <a16:creationId xmlns:a16="http://schemas.microsoft.com/office/drawing/2014/main" id="{39A8A541-065A-B71E-22B3-7BC0B50EEDBA}"/>
              </a:ext>
            </a:extLst>
          </p:cNvPr>
          <p:cNvPicPr>
            <a:picLocks noChangeAspect="1"/>
          </p:cNvPicPr>
          <p:nvPr/>
        </p:nvPicPr>
        <p:blipFill>
          <a:blip r:embed="rId2"/>
          <a:stretch>
            <a:fillRect/>
          </a:stretch>
        </p:blipFill>
        <p:spPr>
          <a:xfrm>
            <a:off x="4480661" y="4541520"/>
            <a:ext cx="6061043" cy="2202707"/>
          </a:xfrm>
          <a:prstGeom prst="rect">
            <a:avLst/>
          </a:prstGeom>
        </p:spPr>
      </p:pic>
    </p:spTree>
    <p:extLst>
      <p:ext uri="{BB962C8B-B14F-4D97-AF65-F5344CB8AC3E}">
        <p14:creationId xmlns:p14="http://schemas.microsoft.com/office/powerpoint/2010/main" val="2053261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609600" y="215373"/>
            <a:ext cx="10972800" cy="709188"/>
          </a:xfrm>
        </p:spPr>
        <p:txBody>
          <a:bodyPr/>
          <a:lstStyle/>
          <a:p>
            <a:r>
              <a:rPr lang="en-US" dirty="0"/>
              <a:t>How it works:</a:t>
            </a:r>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a:xfrm>
            <a:off x="609601" y="924561"/>
            <a:ext cx="10977033" cy="5226857"/>
          </a:xfrm>
        </p:spPr>
        <p:txBody>
          <a:bodyPr/>
          <a:lstStyle/>
          <a:p>
            <a:pPr marL="615950" indent="-51435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The database streams text to the Term Detector.</a:t>
            </a:r>
          </a:p>
          <a:p>
            <a:pPr marL="615950" indent="-51435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The Term Detector identifies query terms in the stream and sends detected terms to the Query Resolver.</a:t>
            </a:r>
          </a:p>
          <a:p>
            <a:pPr marL="615950" indent="-51435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The Query Resolver processes the results, applies query logic, and passes the final results to the User Interface for display.</a:t>
            </a:r>
          </a:p>
          <a:p>
            <a:pPr marL="615950" indent="-51435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This system allows results to be shown as soon as a match is found, unlike indexing, which typically processes the entire query first.</a:t>
            </a:r>
          </a:p>
        </p:txBody>
      </p:sp>
      <p:pic>
        <p:nvPicPr>
          <p:cNvPr id="6" name="Picture 5">
            <a:extLst>
              <a:ext uri="{FF2B5EF4-FFF2-40B4-BE49-F238E27FC236}">
                <a16:creationId xmlns:a16="http://schemas.microsoft.com/office/drawing/2014/main" id="{040E0463-F98E-BF5C-5002-A3EEA3572EC1}"/>
              </a:ext>
            </a:extLst>
          </p:cNvPr>
          <p:cNvPicPr>
            <a:picLocks noChangeAspect="1"/>
          </p:cNvPicPr>
          <p:nvPr/>
        </p:nvPicPr>
        <p:blipFill>
          <a:blip r:embed="rId2"/>
          <a:stretch>
            <a:fillRect/>
          </a:stretch>
        </p:blipFill>
        <p:spPr>
          <a:xfrm>
            <a:off x="4480661" y="4389120"/>
            <a:ext cx="6061043" cy="2355107"/>
          </a:xfrm>
          <a:prstGeom prst="rect">
            <a:avLst/>
          </a:prstGeom>
        </p:spPr>
      </p:pic>
    </p:spTree>
    <p:extLst>
      <p:ext uri="{BB962C8B-B14F-4D97-AF65-F5344CB8AC3E}">
        <p14:creationId xmlns:p14="http://schemas.microsoft.com/office/powerpoint/2010/main" val="2167516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4B44675-303A-A4AB-6673-7A5B3A0027B5}"/>
              </a:ext>
            </a:extLst>
          </p:cNvPr>
          <p:cNvSpPr>
            <a:spLocks noGrp="1"/>
          </p:cNvSpPr>
          <p:nvPr>
            <p:ph sz="quarter" idx="13"/>
          </p:nvPr>
        </p:nvSpPr>
        <p:spPr>
          <a:xfrm>
            <a:off x="609601" y="132080"/>
            <a:ext cx="11145519" cy="6045200"/>
          </a:xfrm>
        </p:spPr>
        <p:txBody>
          <a:bodyPr/>
          <a:lstStyle/>
          <a:p>
            <a:r>
              <a:rPr lang="en-US" sz="2400" b="1" dirty="0">
                <a:latin typeface="Calibri" panose="020F0502020204030204" pitchFamily="34" charset="0"/>
                <a:ea typeface="Calibri" panose="020F0502020204030204" pitchFamily="34" charset="0"/>
                <a:cs typeface="Calibri" panose="020F0502020204030204" pitchFamily="34" charset="0"/>
              </a:rPr>
              <a:t>Advantages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400" dirty="0">
                <a:latin typeface="Calibri" panose="020F0502020204030204" pitchFamily="34" charset="0"/>
                <a:ea typeface="Calibri" panose="020F0502020204030204" pitchFamily="34" charset="0"/>
                <a:cs typeface="Calibri" panose="020F0502020204030204" pitchFamily="34" charset="0"/>
              </a:rPr>
              <a:t>No storage overhead (unlike indexing, which can require 50%–300% additional storage).</a:t>
            </a:r>
          </a:p>
          <a:p>
            <a:pPr lvl="1"/>
            <a:r>
              <a:rPr lang="en-US" sz="2400" dirty="0">
                <a:latin typeface="Calibri" panose="020F0502020204030204" pitchFamily="34" charset="0"/>
                <a:ea typeface="Calibri" panose="020F0502020204030204" pitchFamily="34" charset="0"/>
                <a:cs typeface="Calibri" panose="020F0502020204030204" pitchFamily="34" charset="0"/>
              </a:rPr>
              <a:t>Immediate feedback to users as matches are found.</a:t>
            </a:r>
          </a:p>
          <a:p>
            <a:pPr lvl="1"/>
            <a:r>
              <a:rPr lang="en-US" sz="2400" dirty="0">
                <a:latin typeface="Calibri" panose="020F0502020204030204" pitchFamily="34" charset="0"/>
                <a:ea typeface="Calibri" panose="020F0502020204030204" pitchFamily="34" charset="0"/>
                <a:cs typeface="Calibri" panose="020F0502020204030204" pitchFamily="34" charset="0"/>
              </a:rPr>
              <a:t>Accurate search status and time-to-completion estimates.</a:t>
            </a:r>
          </a:p>
          <a:p>
            <a:r>
              <a:rPr lang="en-US" sz="2400" b="1" dirty="0">
                <a:latin typeface="Calibri" panose="020F0502020204030204" pitchFamily="34" charset="0"/>
                <a:ea typeface="Calibri" panose="020F0502020204030204" pitchFamily="34" charset="0"/>
                <a:cs typeface="Calibri" panose="020F0502020204030204" pitchFamily="34" charset="0"/>
              </a:rPr>
              <a:t>Disadvantages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400" dirty="0">
                <a:latin typeface="Calibri" panose="020F0502020204030204" pitchFamily="34" charset="0"/>
                <a:ea typeface="Calibri" panose="020F0502020204030204" pitchFamily="34" charset="0"/>
                <a:cs typeface="Calibri" panose="020F0502020204030204" pitchFamily="34" charset="0"/>
              </a:rPr>
              <a:t>Relies heavily on I/O, which can be a bottleneck (the slowest part of the system).</a:t>
            </a:r>
          </a:p>
          <a:p>
            <a:pPr lvl="1"/>
            <a:r>
              <a:rPr lang="en-US" sz="2400" dirty="0">
                <a:latin typeface="Calibri" panose="020F0502020204030204" pitchFamily="34" charset="0"/>
                <a:ea typeface="Calibri" panose="020F0502020204030204" pitchFamily="34" charset="0"/>
                <a:cs typeface="Calibri" panose="020F0502020204030204" pitchFamily="34" charset="0"/>
              </a:rPr>
              <a:t>Slower than indexing for large datasets, as it scans the entire database.</a:t>
            </a:r>
          </a:p>
        </p:txBody>
      </p:sp>
      <p:pic>
        <p:nvPicPr>
          <p:cNvPr id="3" name="Picture 2">
            <a:extLst>
              <a:ext uri="{FF2B5EF4-FFF2-40B4-BE49-F238E27FC236}">
                <a16:creationId xmlns:a16="http://schemas.microsoft.com/office/drawing/2014/main" id="{DE3FFB69-A65A-0FD4-69A6-7CEEE3C7D9B1}"/>
              </a:ext>
            </a:extLst>
          </p:cNvPr>
          <p:cNvPicPr>
            <a:picLocks noChangeAspect="1"/>
          </p:cNvPicPr>
          <p:nvPr/>
        </p:nvPicPr>
        <p:blipFill>
          <a:blip r:embed="rId2"/>
          <a:stretch>
            <a:fillRect/>
          </a:stretch>
        </p:blipFill>
        <p:spPr>
          <a:xfrm>
            <a:off x="876728" y="3924267"/>
            <a:ext cx="10878392" cy="2008319"/>
          </a:xfrm>
          <a:prstGeom prst="rect">
            <a:avLst/>
          </a:prstGeom>
        </p:spPr>
      </p:pic>
    </p:spTree>
    <p:extLst>
      <p:ext uri="{BB962C8B-B14F-4D97-AF65-F5344CB8AC3E}">
        <p14:creationId xmlns:p14="http://schemas.microsoft.com/office/powerpoint/2010/main" val="1635988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effectLst/>
              </a:rPr>
              <a:t>Finite State Automata(</a:t>
            </a:r>
            <a:r>
              <a:rPr lang="en-US" sz="3600" dirty="0">
                <a:latin typeface="Calibri" panose="020F0502020204030204" pitchFamily="34" charset="0"/>
                <a:ea typeface="Calibri" panose="020F0502020204030204" pitchFamily="34" charset="0"/>
                <a:cs typeface="Calibri" panose="020F0502020204030204" pitchFamily="34" charset="0"/>
              </a:rPr>
              <a:t>FSA)</a:t>
            </a:r>
            <a:r>
              <a:rPr lang="en-US" dirty="0">
                <a:effectLst/>
              </a:rPr>
              <a:t> in Text Search</a:t>
            </a:r>
            <a:endParaRPr lang="en-US" dirty="0"/>
          </a:p>
        </p:txBody>
      </p:sp>
      <p:sp>
        <p:nvSpPr>
          <p:cNvPr id="5" name="Content Placeholder 4">
            <a:extLst>
              <a:ext uri="{FF2B5EF4-FFF2-40B4-BE49-F238E27FC236}">
                <a16:creationId xmlns:a16="http://schemas.microsoft.com/office/drawing/2014/main" id="{DA7A58E5-AFDB-7B68-E7CE-7B3C0D329E47}"/>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Text search systems often use finite state automata (FSA) to efficiently detect patterns in a text stream. </a:t>
            </a:r>
          </a:p>
          <a:p>
            <a:r>
              <a:rPr lang="en-US" sz="2600" dirty="0">
                <a:latin typeface="Calibri" panose="020F0502020204030204" pitchFamily="34" charset="0"/>
                <a:ea typeface="Calibri" panose="020F0502020204030204" pitchFamily="34" charset="0"/>
                <a:cs typeface="Calibri" panose="020F0502020204030204" pitchFamily="34" charset="0"/>
              </a:rPr>
              <a:t>An FSA is a logical machine defined by </a:t>
            </a:r>
            <a:r>
              <a:rPr lang="en-US" sz="2600" b="1" dirty="0">
                <a:latin typeface="Calibri" panose="020F0502020204030204" pitchFamily="34" charset="0"/>
                <a:ea typeface="Calibri" panose="020F0502020204030204" pitchFamily="34" charset="0"/>
                <a:cs typeface="Calibri" panose="020F0502020204030204" pitchFamily="34" charset="0"/>
              </a:rPr>
              <a:t>five elements (as per the text):</a:t>
            </a:r>
          </a:p>
        </p:txBody>
      </p:sp>
      <p:pic>
        <p:nvPicPr>
          <p:cNvPr id="3" name="Picture 2">
            <a:extLst>
              <a:ext uri="{FF2B5EF4-FFF2-40B4-BE49-F238E27FC236}">
                <a16:creationId xmlns:a16="http://schemas.microsoft.com/office/drawing/2014/main" id="{003C71FF-5D7F-B37F-E7E3-F8E59D8EE24C}"/>
              </a:ext>
            </a:extLst>
          </p:cNvPr>
          <p:cNvPicPr>
            <a:picLocks noChangeAspect="1"/>
          </p:cNvPicPr>
          <p:nvPr/>
        </p:nvPicPr>
        <p:blipFill>
          <a:blip r:embed="rId2"/>
          <a:stretch>
            <a:fillRect/>
          </a:stretch>
        </p:blipFill>
        <p:spPr>
          <a:xfrm>
            <a:off x="1169602" y="3003529"/>
            <a:ext cx="9539037" cy="2772431"/>
          </a:xfrm>
          <a:prstGeom prst="rect">
            <a:avLst/>
          </a:prstGeom>
        </p:spPr>
      </p:pic>
    </p:spTree>
    <p:extLst>
      <p:ext uri="{BB962C8B-B14F-4D97-AF65-F5344CB8AC3E}">
        <p14:creationId xmlns:p14="http://schemas.microsoft.com/office/powerpoint/2010/main" val="2075018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p:txBody>
          <a:bodyPr/>
          <a:lstStyle/>
          <a:p>
            <a:r>
              <a:rPr lang="en-US" dirty="0">
                <a:effectLst/>
              </a:rPr>
              <a:t>Automata Definition</a:t>
            </a:r>
            <a:endParaRPr lang="en-US" dirty="0"/>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a:xfrm>
            <a:off x="609601" y="1441450"/>
            <a:ext cx="5364479" cy="4709968"/>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This defines an FSA to detect the string "CPU" in a text stream. </a:t>
            </a:r>
          </a:p>
          <a:p>
            <a:r>
              <a:rPr lang="en-US" sz="2600" dirty="0">
                <a:latin typeface="Calibri" panose="020F0502020204030204" pitchFamily="34" charset="0"/>
                <a:ea typeface="Calibri" panose="020F0502020204030204" pitchFamily="34" charset="0"/>
                <a:cs typeface="Calibri" panose="020F0502020204030204" pitchFamily="34" charset="0"/>
              </a:rPr>
              <a:t> The components are:</a:t>
            </a:r>
          </a:p>
        </p:txBody>
      </p:sp>
      <p:pic>
        <p:nvPicPr>
          <p:cNvPr id="3" name="Picture 2">
            <a:extLst>
              <a:ext uri="{FF2B5EF4-FFF2-40B4-BE49-F238E27FC236}">
                <a16:creationId xmlns:a16="http://schemas.microsoft.com/office/drawing/2014/main" id="{2822B034-CACC-64A6-6D81-B28BE1DDC15E}"/>
              </a:ext>
            </a:extLst>
          </p:cNvPr>
          <p:cNvPicPr>
            <a:picLocks noChangeAspect="1"/>
          </p:cNvPicPr>
          <p:nvPr/>
        </p:nvPicPr>
        <p:blipFill>
          <a:blip r:embed="rId2"/>
          <a:stretch>
            <a:fillRect/>
          </a:stretch>
        </p:blipFill>
        <p:spPr>
          <a:xfrm>
            <a:off x="6203984" y="1312651"/>
            <a:ext cx="5442365" cy="4709969"/>
          </a:xfrm>
          <a:prstGeom prst="rect">
            <a:avLst/>
          </a:prstGeom>
        </p:spPr>
      </p:pic>
      <p:pic>
        <p:nvPicPr>
          <p:cNvPr id="7" name="Picture 6">
            <a:extLst>
              <a:ext uri="{FF2B5EF4-FFF2-40B4-BE49-F238E27FC236}">
                <a16:creationId xmlns:a16="http://schemas.microsoft.com/office/drawing/2014/main" id="{9DE5EB11-3711-32DD-E9B3-03B3F713D270}"/>
              </a:ext>
            </a:extLst>
          </p:cNvPr>
          <p:cNvPicPr>
            <a:picLocks noChangeAspect="1"/>
          </p:cNvPicPr>
          <p:nvPr/>
        </p:nvPicPr>
        <p:blipFill>
          <a:blip r:embed="rId3"/>
          <a:stretch>
            <a:fillRect/>
          </a:stretch>
        </p:blipFill>
        <p:spPr>
          <a:xfrm>
            <a:off x="379694" y="3108136"/>
            <a:ext cx="5824291" cy="2801207"/>
          </a:xfrm>
          <a:prstGeom prst="rect">
            <a:avLst/>
          </a:prstGeom>
        </p:spPr>
      </p:pic>
    </p:spTree>
    <p:extLst>
      <p:ext uri="{BB962C8B-B14F-4D97-AF65-F5344CB8AC3E}">
        <p14:creationId xmlns:p14="http://schemas.microsoft.com/office/powerpoint/2010/main" val="693387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effectLst/>
              </a:rPr>
              <a:t>Finite State Automata Diagram - How it works</a:t>
            </a:r>
            <a:endParaRPr lang="en-US" dirty="0"/>
          </a:p>
        </p:txBody>
      </p:sp>
      <p:pic>
        <p:nvPicPr>
          <p:cNvPr id="3" name="Picture 2">
            <a:extLst>
              <a:ext uri="{FF2B5EF4-FFF2-40B4-BE49-F238E27FC236}">
                <a16:creationId xmlns:a16="http://schemas.microsoft.com/office/drawing/2014/main" id="{9524CF00-55DC-3CB2-E936-6E4EF64D9BB4}"/>
              </a:ext>
            </a:extLst>
          </p:cNvPr>
          <p:cNvPicPr>
            <a:picLocks noChangeAspect="1"/>
          </p:cNvPicPr>
          <p:nvPr/>
        </p:nvPicPr>
        <p:blipFill>
          <a:blip r:embed="rId2"/>
          <a:stretch>
            <a:fillRect/>
          </a:stretch>
        </p:blipFill>
        <p:spPr>
          <a:xfrm>
            <a:off x="609600" y="1395730"/>
            <a:ext cx="10718800" cy="1184910"/>
          </a:xfrm>
          <a:prstGeom prst="rect">
            <a:avLst/>
          </a:prstGeom>
        </p:spPr>
      </p:pic>
      <p:pic>
        <p:nvPicPr>
          <p:cNvPr id="9" name="Picture 8">
            <a:extLst>
              <a:ext uri="{FF2B5EF4-FFF2-40B4-BE49-F238E27FC236}">
                <a16:creationId xmlns:a16="http://schemas.microsoft.com/office/drawing/2014/main" id="{849CA223-8126-76F4-A803-F8D326E7F682}"/>
              </a:ext>
            </a:extLst>
          </p:cNvPr>
          <p:cNvPicPr>
            <a:picLocks noChangeAspect="1"/>
          </p:cNvPicPr>
          <p:nvPr/>
        </p:nvPicPr>
        <p:blipFill>
          <a:blip r:embed="rId3"/>
          <a:stretch>
            <a:fillRect/>
          </a:stretch>
        </p:blipFill>
        <p:spPr>
          <a:xfrm>
            <a:off x="609600" y="2619927"/>
            <a:ext cx="5201920" cy="2571834"/>
          </a:xfrm>
          <a:prstGeom prst="rect">
            <a:avLst/>
          </a:prstGeom>
        </p:spPr>
      </p:pic>
    </p:spTree>
    <p:extLst>
      <p:ext uri="{BB962C8B-B14F-4D97-AF65-F5344CB8AC3E}">
        <p14:creationId xmlns:p14="http://schemas.microsoft.com/office/powerpoint/2010/main" val="2969078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effectLst/>
              </a:rPr>
              <a:t>Finite State Automata Diagram - How it works</a:t>
            </a:r>
            <a:endParaRPr lang="en-US" dirty="0"/>
          </a:p>
        </p:txBody>
      </p:sp>
      <p:pic>
        <p:nvPicPr>
          <p:cNvPr id="3" name="Picture 2">
            <a:extLst>
              <a:ext uri="{FF2B5EF4-FFF2-40B4-BE49-F238E27FC236}">
                <a16:creationId xmlns:a16="http://schemas.microsoft.com/office/drawing/2014/main" id="{5F101790-7598-6A71-A9CB-F615ACCC5C3E}"/>
              </a:ext>
            </a:extLst>
          </p:cNvPr>
          <p:cNvPicPr>
            <a:picLocks noChangeAspect="1"/>
          </p:cNvPicPr>
          <p:nvPr/>
        </p:nvPicPr>
        <p:blipFill>
          <a:blip r:embed="rId2"/>
          <a:stretch>
            <a:fillRect/>
          </a:stretch>
        </p:blipFill>
        <p:spPr>
          <a:xfrm>
            <a:off x="1209522" y="1601411"/>
            <a:ext cx="8259598" cy="3176086"/>
          </a:xfrm>
          <a:prstGeom prst="rect">
            <a:avLst/>
          </a:prstGeom>
        </p:spPr>
      </p:pic>
    </p:spTree>
    <p:extLst>
      <p:ext uri="{BB962C8B-B14F-4D97-AF65-F5344CB8AC3E}">
        <p14:creationId xmlns:p14="http://schemas.microsoft.com/office/powerpoint/2010/main" val="2384422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rot="16200000">
            <a:off x="-3120126" y="3109966"/>
            <a:ext cx="6868160" cy="627908"/>
          </a:xfrm>
        </p:spPr>
        <p:txBody>
          <a:bodyPr/>
          <a:lstStyle/>
          <a:p>
            <a:r>
              <a:rPr lang="en-US" dirty="0">
                <a:effectLst/>
              </a:rPr>
              <a:t>Finite State Automata Diagram</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a:xfrm>
            <a:off x="609601" y="0"/>
            <a:ext cx="11186159" cy="6350000"/>
          </a:xfrm>
        </p:spPr>
        <p:txBody>
          <a:bodyPr/>
          <a:lstStyle/>
          <a:p>
            <a:pPr marL="558800" indent="-457200">
              <a:buFont typeface="+mj-lt"/>
              <a:buAutoNum type="arabicPeriod"/>
            </a:pPr>
            <a:r>
              <a:rPr lang="en-US" sz="2500" b="1" dirty="0">
                <a:latin typeface="Calibri" panose="020F0502020204030204" pitchFamily="34" charset="0"/>
                <a:ea typeface="Calibri" panose="020F0502020204030204" pitchFamily="34" charset="0"/>
                <a:cs typeface="Calibri" panose="020F0502020204030204" pitchFamily="34" charset="0"/>
              </a:rPr>
              <a:t>Text Streaming vs. Indexing:</a:t>
            </a:r>
          </a:p>
          <a:p>
            <a:pPr lvl="1"/>
            <a:r>
              <a:rPr lang="en-US" sz="2500" dirty="0">
                <a:latin typeface="Calibri" panose="020F0502020204030204" pitchFamily="34" charset="0"/>
                <a:ea typeface="Calibri" panose="020F0502020204030204" pitchFamily="34" charset="0"/>
                <a:cs typeface="Calibri" panose="020F0502020204030204" pitchFamily="34" charset="0"/>
              </a:rPr>
              <a:t>Streaming scans the entire text, </a:t>
            </a:r>
            <a:r>
              <a:rPr lang="en-US" sz="2500" b="1" dirty="0">
                <a:latin typeface="Calibri" panose="020F0502020204030204" pitchFamily="34" charset="0"/>
                <a:ea typeface="Calibri" panose="020F0502020204030204" pitchFamily="34" charset="0"/>
                <a:cs typeface="Calibri" panose="020F0502020204030204" pitchFamily="34" charset="0"/>
              </a:rPr>
              <a:t>making it slower but more flexible</a:t>
            </a:r>
            <a:r>
              <a:rPr lang="en-US" sz="2500" dirty="0">
                <a:latin typeface="Calibri" panose="020F0502020204030204" pitchFamily="34" charset="0"/>
                <a:ea typeface="Calibri" panose="020F0502020204030204" pitchFamily="34" charset="0"/>
                <a:cs typeface="Calibri" panose="020F0502020204030204" pitchFamily="34" charset="0"/>
              </a:rPr>
              <a:t> for certain queries (e.g., fuzzy searches, wildcards).</a:t>
            </a:r>
          </a:p>
          <a:p>
            <a:pPr lvl="1"/>
            <a:r>
              <a:rPr lang="en-US" sz="2500" b="1" dirty="0">
                <a:latin typeface="Calibri" panose="020F0502020204030204" pitchFamily="34" charset="0"/>
                <a:ea typeface="Calibri" panose="020F0502020204030204" pitchFamily="34" charset="0"/>
                <a:cs typeface="Calibri" panose="020F0502020204030204" pitchFamily="34" charset="0"/>
              </a:rPr>
              <a:t>Indexing is faster but less flexible </a:t>
            </a:r>
            <a:r>
              <a:rPr lang="en-US" sz="2500" dirty="0">
                <a:latin typeface="Calibri" panose="020F0502020204030204" pitchFamily="34" charset="0"/>
                <a:ea typeface="Calibri" panose="020F0502020204030204" pitchFamily="34" charset="0"/>
                <a:cs typeface="Calibri" panose="020F0502020204030204" pitchFamily="34" charset="0"/>
              </a:rPr>
              <a:t>and requires significant storage overhead.</a:t>
            </a:r>
          </a:p>
          <a:p>
            <a:pPr marL="558800" indent="-457200">
              <a:buFont typeface="+mj-lt"/>
              <a:buAutoNum type="arabicPeriod"/>
            </a:pPr>
            <a:r>
              <a:rPr lang="en-US" sz="2500" b="1" dirty="0">
                <a:latin typeface="Calibri" panose="020F0502020204030204" pitchFamily="34" charset="0"/>
                <a:ea typeface="Calibri" panose="020F0502020204030204" pitchFamily="34" charset="0"/>
                <a:cs typeface="Calibri" panose="020F0502020204030204" pitchFamily="34" charset="0"/>
              </a:rPr>
              <a:t>Role of Hardware:</a:t>
            </a:r>
          </a:p>
          <a:p>
            <a:pPr lvl="1"/>
            <a:r>
              <a:rPr lang="en-US" sz="2500" dirty="0">
                <a:latin typeface="Calibri" panose="020F0502020204030204" pitchFamily="34" charset="0"/>
                <a:ea typeface="Calibri" panose="020F0502020204030204" pitchFamily="34" charset="0"/>
                <a:cs typeface="Calibri" panose="020F0502020204030204" pitchFamily="34" charset="0"/>
              </a:rPr>
              <a:t>Historically, specialized hardware (Term Detectors) was used to </a:t>
            </a:r>
            <a:r>
              <a:rPr lang="en-US" sz="2500" b="1" dirty="0">
                <a:latin typeface="Calibri" panose="020F0502020204030204" pitchFamily="34" charset="0"/>
                <a:ea typeface="Calibri" panose="020F0502020204030204" pitchFamily="34" charset="0"/>
                <a:cs typeface="Calibri" panose="020F0502020204030204" pitchFamily="34" charset="0"/>
              </a:rPr>
              <a:t>offload text search from the main CPU</a:t>
            </a:r>
            <a:r>
              <a:rPr lang="en-US" sz="2500" dirty="0">
                <a:latin typeface="Calibri" panose="020F0502020204030204" pitchFamily="34" charset="0"/>
                <a:ea typeface="Calibri" panose="020F0502020204030204" pitchFamily="34" charset="0"/>
                <a:cs typeface="Calibri" panose="020F0502020204030204" pitchFamily="34" charset="0"/>
              </a:rPr>
              <a:t>.</a:t>
            </a:r>
          </a:p>
          <a:p>
            <a:pPr lvl="1"/>
            <a:r>
              <a:rPr lang="en-US" sz="2500" dirty="0">
                <a:latin typeface="Calibri" panose="020F0502020204030204" pitchFamily="34" charset="0"/>
                <a:ea typeface="Calibri" panose="020F0502020204030204" pitchFamily="34" charset="0"/>
                <a:cs typeface="Calibri" panose="020F0502020204030204" pitchFamily="34" charset="0"/>
              </a:rPr>
              <a:t>Modern CPU, memory, and disk improvements have reduced the need for such hardware, but it’s still used in niches like genetic research.</a:t>
            </a:r>
          </a:p>
          <a:p>
            <a:pPr marL="558800" indent="-457200">
              <a:buFont typeface="+mj-lt"/>
              <a:buAutoNum type="arabicPeriod"/>
            </a:pPr>
            <a:r>
              <a:rPr lang="en-US" sz="2500" b="1" dirty="0">
                <a:latin typeface="Calibri" panose="020F0502020204030204" pitchFamily="34" charset="0"/>
                <a:ea typeface="Calibri" panose="020F0502020204030204" pitchFamily="34" charset="0"/>
                <a:cs typeface="Calibri" panose="020F0502020204030204" pitchFamily="34" charset="0"/>
              </a:rPr>
              <a:t>Finite State Automata:</a:t>
            </a:r>
          </a:p>
          <a:p>
            <a:pPr lvl="1"/>
            <a:r>
              <a:rPr lang="en-US" sz="2500" dirty="0">
                <a:latin typeface="Calibri" panose="020F0502020204030204" pitchFamily="34" charset="0"/>
                <a:ea typeface="Calibri" panose="020F0502020204030204" pitchFamily="34" charset="0"/>
                <a:cs typeface="Calibri" panose="020F0502020204030204" pitchFamily="34" charset="0"/>
              </a:rPr>
              <a:t>FSAs provide an </a:t>
            </a:r>
            <a:r>
              <a:rPr lang="en-US" sz="2500" b="1" dirty="0">
                <a:latin typeface="Calibri" panose="020F0502020204030204" pitchFamily="34" charset="0"/>
                <a:ea typeface="Calibri" panose="020F0502020204030204" pitchFamily="34" charset="0"/>
                <a:cs typeface="Calibri" panose="020F0502020204030204" pitchFamily="34" charset="0"/>
              </a:rPr>
              <a:t>efficient way to search for patterns </a:t>
            </a:r>
            <a:r>
              <a:rPr lang="en-US" sz="2500" dirty="0">
                <a:latin typeface="Calibri" panose="020F0502020204030204" pitchFamily="34" charset="0"/>
                <a:ea typeface="Calibri" panose="020F0502020204030204" pitchFamily="34" charset="0"/>
                <a:cs typeface="Calibri" panose="020F0502020204030204" pitchFamily="34" charset="0"/>
              </a:rPr>
              <a:t>by transitioning between states based on input symbols.</a:t>
            </a:r>
          </a:p>
          <a:p>
            <a:pPr lvl="1"/>
            <a:r>
              <a:rPr lang="en-US" sz="2500" dirty="0">
                <a:latin typeface="Calibri" panose="020F0502020204030204" pitchFamily="34" charset="0"/>
                <a:ea typeface="Calibri" panose="020F0502020204030204" pitchFamily="34" charset="0"/>
                <a:cs typeface="Calibri" panose="020F0502020204030204" pitchFamily="34" charset="0"/>
              </a:rPr>
              <a:t>The example FSA detects </a:t>
            </a:r>
            <a:r>
              <a:rPr lang="en-US" sz="2500" b="1" dirty="0">
                <a:latin typeface="Calibri" panose="020F0502020204030204" pitchFamily="34" charset="0"/>
                <a:ea typeface="Calibri" panose="020F0502020204030204" pitchFamily="34" charset="0"/>
                <a:cs typeface="Calibri" panose="020F0502020204030204" pitchFamily="34" charset="0"/>
              </a:rPr>
              <a:t>"CPU" by moving through states </a:t>
            </a:r>
            <a:r>
              <a:rPr lang="en-US" sz="2500" dirty="0">
                <a:latin typeface="Calibri" panose="020F0502020204030204" pitchFamily="34" charset="0"/>
                <a:ea typeface="Calibri" panose="020F0502020204030204" pitchFamily="34" charset="0"/>
                <a:cs typeface="Calibri" panose="020F0502020204030204" pitchFamily="34" charset="0"/>
              </a:rPr>
              <a:t>, with fallbacks to handle non-matching inputs.</a:t>
            </a:r>
          </a:p>
        </p:txBody>
      </p:sp>
    </p:spTree>
    <p:extLst>
      <p:ext uri="{BB962C8B-B14F-4D97-AF65-F5344CB8AC3E}">
        <p14:creationId xmlns:p14="http://schemas.microsoft.com/office/powerpoint/2010/main" val="2452754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t>Software Text Search Algorithms</a:t>
            </a:r>
          </a:p>
        </p:txBody>
      </p:sp>
      <p:sp>
        <p:nvSpPr>
          <p:cNvPr id="5" name="Content Placeholder 4">
            <a:extLst>
              <a:ext uri="{FF2B5EF4-FFF2-40B4-BE49-F238E27FC236}">
                <a16:creationId xmlns:a16="http://schemas.microsoft.com/office/drawing/2014/main" id="{DA7A58E5-AFDB-7B68-E7CE-7B3C0D329E47}"/>
              </a:ext>
            </a:extLst>
          </p:cNvPr>
          <p:cNvSpPr>
            <a:spLocks noGrp="1"/>
          </p:cNvSpPr>
          <p:nvPr>
            <p:ph sz="quarter" idx="13"/>
          </p:nvPr>
        </p:nvSpPr>
        <p:spPr/>
        <p:txBody>
          <a:bodyPr/>
          <a:lstStyle/>
          <a:p>
            <a:pPr marL="444500"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Brute Force</a:t>
            </a:r>
          </a:p>
          <a:p>
            <a:pPr marL="444500"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Knuth-Morris-Pratt (KMP)</a:t>
            </a:r>
          </a:p>
          <a:p>
            <a:pPr marL="444500"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Boyer-Moore</a:t>
            </a:r>
          </a:p>
          <a:p>
            <a:pPr marL="444500" indent="-342900">
              <a:buFont typeface="+mj-lt"/>
              <a:buAutoNum type="arabicPeriod"/>
            </a:pPr>
            <a:r>
              <a:rPr lang="en-US" sz="2600" dirty="0" err="1">
                <a:latin typeface="Calibri" panose="020F0502020204030204" pitchFamily="34" charset="0"/>
                <a:ea typeface="Calibri" panose="020F0502020204030204" pitchFamily="34" charset="0"/>
                <a:cs typeface="Calibri" panose="020F0502020204030204" pitchFamily="34" charset="0"/>
              </a:rPr>
              <a:t>Aho-Corasick</a:t>
            </a:r>
            <a:endParaRPr lang="en-US" sz="2600" dirty="0">
              <a:latin typeface="Calibri" panose="020F0502020204030204" pitchFamily="34" charset="0"/>
              <a:ea typeface="Calibri" panose="020F0502020204030204" pitchFamily="34" charset="0"/>
              <a:cs typeface="Calibri" panose="020F0502020204030204" pitchFamily="34" charset="0"/>
            </a:endParaRPr>
          </a:p>
          <a:p>
            <a:pPr marL="444500"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Shift-Add</a:t>
            </a:r>
          </a:p>
        </p:txBody>
      </p:sp>
    </p:spTree>
    <p:extLst>
      <p:ext uri="{BB962C8B-B14F-4D97-AF65-F5344CB8AC3E}">
        <p14:creationId xmlns:p14="http://schemas.microsoft.com/office/powerpoint/2010/main" val="98690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p:txBody>
          <a:bodyPr/>
          <a:lstStyle/>
          <a:p>
            <a:pPr marL="742950" indent="-742950">
              <a:buFont typeface="+mj-lt"/>
              <a:buAutoNum type="arabicPeriod"/>
            </a:pPr>
            <a:r>
              <a:rPr lang="en-US" dirty="0">
                <a:effectLst/>
              </a:rPr>
              <a:t>Brute Force Approach</a:t>
            </a:r>
            <a:endParaRPr lang="en-US" dirty="0"/>
          </a:p>
        </p:txBody>
      </p:sp>
      <p:sp>
        <p:nvSpPr>
          <p:cNvPr id="6" name="Content Placeholder 5">
            <a:extLst>
              <a:ext uri="{FF2B5EF4-FFF2-40B4-BE49-F238E27FC236}">
                <a16:creationId xmlns:a16="http://schemas.microsoft.com/office/drawing/2014/main" id="{2D60D5A7-0BFC-016C-1660-8A93E0FE56E4}"/>
              </a:ext>
            </a:extLst>
          </p:cNvPr>
          <p:cNvSpPr>
            <a:spLocks noGrp="1"/>
          </p:cNvSpPr>
          <p:nvPr>
            <p:ph sz="quarter" idx="13"/>
          </p:nvPr>
        </p:nvSpPr>
        <p:spPr>
          <a:xfrm>
            <a:off x="609600" y="1552575"/>
            <a:ext cx="5753608" cy="4438650"/>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a:t>
            </a:r>
            <a:r>
              <a:rPr lang="en-US" sz="2600" b="1" dirty="0">
                <a:latin typeface="Calibri" panose="020F0502020204030204" pitchFamily="34" charset="0"/>
                <a:ea typeface="Calibri" panose="020F0502020204030204" pitchFamily="34" charset="0"/>
                <a:cs typeface="Calibri" panose="020F0502020204030204" pitchFamily="34" charset="0"/>
              </a:rPr>
              <a:t>Brute Force method is the simplest string-matching </a:t>
            </a:r>
            <a:r>
              <a:rPr lang="en-US" sz="2600" dirty="0">
                <a:latin typeface="Calibri" panose="020F0502020204030204" pitchFamily="34" charset="0"/>
                <a:ea typeface="Calibri" panose="020F0502020204030204" pitchFamily="34" charset="0"/>
                <a:cs typeface="Calibri" panose="020F0502020204030204" pitchFamily="34" charset="0"/>
              </a:rPr>
              <a:t>algorithm.</a:t>
            </a:r>
          </a:p>
          <a:p>
            <a:r>
              <a:rPr lang="en-US" sz="2600" dirty="0">
                <a:latin typeface="Calibri" panose="020F0502020204030204" pitchFamily="34" charset="0"/>
                <a:ea typeface="Calibri" panose="020F0502020204030204" pitchFamily="34" charset="0"/>
                <a:cs typeface="Calibri" panose="020F0502020204030204" pitchFamily="34" charset="0"/>
              </a:rPr>
              <a:t> It compares the search pattern with the input text </a:t>
            </a:r>
            <a:r>
              <a:rPr lang="en-US" sz="2600" b="1" dirty="0">
                <a:latin typeface="Calibri" panose="020F0502020204030204" pitchFamily="34" charset="0"/>
                <a:ea typeface="Calibri" panose="020F0502020204030204" pitchFamily="34" charset="0"/>
                <a:cs typeface="Calibri" panose="020F0502020204030204" pitchFamily="34" charset="0"/>
              </a:rPr>
              <a:t>character by character, starting from the first position</a:t>
            </a:r>
            <a:r>
              <a:rPr lang="en-US" sz="2600" dirty="0">
                <a:latin typeface="Calibri" panose="020F0502020204030204" pitchFamily="34" charset="0"/>
                <a:ea typeface="Calibri" panose="020F0502020204030204" pitchFamily="34" charset="0"/>
                <a:cs typeface="Calibri" panose="020F0502020204030204" pitchFamily="34" charset="0"/>
              </a:rPr>
              <a:t>.</a:t>
            </a:r>
          </a:p>
          <a:p>
            <a:r>
              <a:rPr lang="en-US" sz="2600" dirty="0">
                <a:latin typeface="Calibri" panose="020F0502020204030204" pitchFamily="34" charset="0"/>
                <a:ea typeface="Calibri" panose="020F0502020204030204" pitchFamily="34" charset="0"/>
                <a:cs typeface="Calibri" panose="020F0502020204030204" pitchFamily="34" charset="0"/>
              </a:rPr>
              <a:t> If a </a:t>
            </a:r>
            <a:r>
              <a:rPr lang="en-US" sz="2600" b="1" dirty="0">
                <a:latin typeface="Calibri" panose="020F0502020204030204" pitchFamily="34" charset="0"/>
                <a:ea typeface="Calibri" panose="020F0502020204030204" pitchFamily="34" charset="0"/>
                <a:cs typeface="Calibri" panose="020F0502020204030204" pitchFamily="34" charset="0"/>
              </a:rPr>
              <a:t>mismatch</a:t>
            </a:r>
            <a:r>
              <a:rPr lang="en-US" sz="2600" dirty="0">
                <a:latin typeface="Calibri" panose="020F0502020204030204" pitchFamily="34" charset="0"/>
                <a:ea typeface="Calibri" panose="020F0502020204030204" pitchFamily="34" charset="0"/>
                <a:cs typeface="Calibri" panose="020F0502020204030204" pitchFamily="34" charset="0"/>
              </a:rPr>
              <a:t> occurs, the pattern </a:t>
            </a:r>
            <a:r>
              <a:rPr lang="en-US" sz="2600" b="1" dirty="0">
                <a:latin typeface="Calibri" panose="020F0502020204030204" pitchFamily="34" charset="0"/>
                <a:ea typeface="Calibri" panose="020F0502020204030204" pitchFamily="34" charset="0"/>
                <a:cs typeface="Calibri" panose="020F0502020204030204" pitchFamily="34" charset="0"/>
              </a:rPr>
              <a:t>shifts one position to the right</a:t>
            </a:r>
            <a:r>
              <a:rPr lang="en-US" sz="2600" dirty="0">
                <a:latin typeface="Calibri" panose="020F0502020204030204" pitchFamily="34" charset="0"/>
                <a:ea typeface="Calibri" panose="020F0502020204030204" pitchFamily="34" charset="0"/>
                <a:cs typeface="Calibri" panose="020F0502020204030204" pitchFamily="34" charset="0"/>
              </a:rPr>
              <a:t>, and the comparison restarts.</a:t>
            </a:r>
          </a:p>
        </p:txBody>
      </p:sp>
      <p:sp>
        <p:nvSpPr>
          <p:cNvPr id="7" name="Content Placeholder 6">
            <a:extLst>
              <a:ext uri="{FF2B5EF4-FFF2-40B4-BE49-F238E27FC236}">
                <a16:creationId xmlns:a16="http://schemas.microsoft.com/office/drawing/2014/main" id="{26C60622-3DB1-93E9-A448-89A67D9B6530}"/>
              </a:ext>
            </a:extLst>
          </p:cNvPr>
          <p:cNvSpPr>
            <a:spLocks noGrp="1"/>
          </p:cNvSpPr>
          <p:nvPr>
            <p:ph sz="quarter" idx="14"/>
          </p:nvPr>
        </p:nvSpPr>
        <p:spPr>
          <a:xfrm>
            <a:off x="6259773" y="1422400"/>
            <a:ext cx="5322627" cy="4568825"/>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expected number of comparisons for an input text of length </a:t>
            </a:r>
            <a:r>
              <a:rPr lang="en-US" sz="2800" b="1" i="1" dirty="0">
                <a:latin typeface="Book Antiqua" panose="02040602050305030304" pitchFamily="18" charset="0"/>
                <a:ea typeface="Calibri" panose="020F0502020204030204" pitchFamily="34" charset="0"/>
                <a:cs typeface="Calibri" panose="020F0502020204030204" pitchFamily="34" charset="0"/>
              </a:rPr>
              <a:t>n</a:t>
            </a:r>
            <a:r>
              <a:rPr lang="en-US" sz="2600" dirty="0">
                <a:latin typeface="Calibri" panose="020F0502020204030204" pitchFamily="34" charset="0"/>
                <a:ea typeface="Calibri" panose="020F0502020204030204" pitchFamily="34" charset="0"/>
                <a:cs typeface="Calibri" panose="020F0502020204030204" pitchFamily="34" charset="0"/>
              </a:rPr>
              <a:t> and a pattern of length </a:t>
            </a:r>
            <a:r>
              <a:rPr lang="en-US" sz="2800" b="1" i="1" dirty="0">
                <a:latin typeface="Book Antiqua" panose="02040602050305030304" pitchFamily="18" charset="0"/>
                <a:ea typeface="Calibri" panose="020F0502020204030204" pitchFamily="34" charset="0"/>
                <a:cs typeface="Calibri" panose="020F0502020204030204" pitchFamily="34" charset="0"/>
              </a:rPr>
              <a:t>m</a:t>
            </a:r>
            <a:r>
              <a:rPr lang="en-US" sz="2600" dirty="0">
                <a:latin typeface="Calibri" panose="020F0502020204030204" pitchFamily="34" charset="0"/>
                <a:ea typeface="Calibri" panose="020F0502020204030204" pitchFamily="34" charset="0"/>
                <a:cs typeface="Calibri" panose="020F0502020204030204" pitchFamily="34" charset="0"/>
              </a:rPr>
              <a:t> with an alphabet size </a:t>
            </a:r>
            <a:r>
              <a:rPr lang="en-US" sz="2800" b="1" i="1" dirty="0">
                <a:latin typeface="Book Antiqua" panose="02040602050305030304" pitchFamily="18" charset="0"/>
                <a:ea typeface="Calibri" panose="020F0502020204030204" pitchFamily="34" charset="0"/>
                <a:cs typeface="Calibri" panose="020F0502020204030204" pitchFamily="34" charset="0"/>
              </a:rPr>
              <a:t>c</a:t>
            </a:r>
            <a:r>
              <a:rPr lang="en-US" sz="2600" dirty="0">
                <a:latin typeface="Book Antiqua" panose="02040602050305030304" pitchFamily="18" charset="0"/>
                <a:ea typeface="Calibri" panose="020F0502020204030204" pitchFamily="34" charset="0"/>
                <a:cs typeface="Calibri" panose="020F0502020204030204" pitchFamily="34" charset="0"/>
              </a:rPr>
              <a:t> </a:t>
            </a:r>
            <a:r>
              <a:rPr lang="en-US" sz="2600" dirty="0">
                <a:latin typeface="Calibri" panose="020F0502020204030204" pitchFamily="34" charset="0"/>
                <a:ea typeface="Calibri" panose="020F0502020204030204" pitchFamily="34" charset="0"/>
                <a:cs typeface="Calibri" panose="020F0502020204030204" pitchFamily="34" charset="0"/>
              </a:rPr>
              <a:t>is given by the formula in the image:</a:t>
            </a:r>
          </a:p>
        </p:txBody>
      </p:sp>
      <p:pic>
        <p:nvPicPr>
          <p:cNvPr id="3" name="Picture 2">
            <a:extLst>
              <a:ext uri="{FF2B5EF4-FFF2-40B4-BE49-F238E27FC236}">
                <a16:creationId xmlns:a16="http://schemas.microsoft.com/office/drawing/2014/main" id="{80DC3FA5-6085-0801-8A55-B6F5A5391CB1}"/>
              </a:ext>
            </a:extLst>
          </p:cNvPr>
          <p:cNvPicPr>
            <a:picLocks noChangeAspect="1"/>
          </p:cNvPicPr>
          <p:nvPr/>
        </p:nvPicPr>
        <p:blipFill>
          <a:blip r:embed="rId2"/>
          <a:stretch>
            <a:fillRect/>
          </a:stretch>
        </p:blipFill>
        <p:spPr>
          <a:xfrm>
            <a:off x="6525768" y="4029174"/>
            <a:ext cx="5219192" cy="849637"/>
          </a:xfrm>
          <a:prstGeom prst="rect">
            <a:avLst/>
          </a:prstGeom>
        </p:spPr>
      </p:pic>
    </p:spTree>
    <p:extLst>
      <p:ext uri="{BB962C8B-B14F-4D97-AF65-F5344CB8AC3E}">
        <p14:creationId xmlns:p14="http://schemas.microsoft.com/office/powerpoint/2010/main" val="2219307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325120" y="215372"/>
            <a:ext cx="11419840" cy="1097279"/>
          </a:xfrm>
        </p:spPr>
        <p:txBody>
          <a:bodyPr/>
          <a:lstStyle/>
          <a:p>
            <a:pPr marL="742950" indent="-742950">
              <a:buFont typeface="+mj-lt"/>
              <a:buAutoNum type="arabicPeriod"/>
            </a:pPr>
            <a:r>
              <a:rPr lang="en-US" dirty="0">
                <a:effectLst/>
              </a:rPr>
              <a:t>Brute Force Approach – Explanation of Formula</a:t>
            </a:r>
            <a:endParaRPr lang="en-US" dirty="0"/>
          </a:p>
        </p:txBody>
      </p:sp>
      <p:pic>
        <p:nvPicPr>
          <p:cNvPr id="7" name="Content Placeholder 6">
            <a:extLst>
              <a:ext uri="{FF2B5EF4-FFF2-40B4-BE49-F238E27FC236}">
                <a16:creationId xmlns:a16="http://schemas.microsoft.com/office/drawing/2014/main" id="{845EEC1B-94A3-69F8-3EB5-BDB1EB13634F}"/>
              </a:ext>
            </a:extLst>
          </p:cNvPr>
          <p:cNvPicPr>
            <a:picLocks noGrp="1" noChangeAspect="1"/>
          </p:cNvPicPr>
          <p:nvPr>
            <p:ph sz="quarter" idx="13"/>
          </p:nvPr>
        </p:nvPicPr>
        <p:blipFill>
          <a:blip r:embed="rId2"/>
          <a:stretch>
            <a:fillRect/>
          </a:stretch>
        </p:blipFill>
        <p:spPr>
          <a:xfrm>
            <a:off x="975360" y="1706880"/>
            <a:ext cx="10515600" cy="2519680"/>
          </a:xfrm>
        </p:spPr>
      </p:pic>
      <p:pic>
        <p:nvPicPr>
          <p:cNvPr id="9" name="Picture 8">
            <a:extLst>
              <a:ext uri="{FF2B5EF4-FFF2-40B4-BE49-F238E27FC236}">
                <a16:creationId xmlns:a16="http://schemas.microsoft.com/office/drawing/2014/main" id="{89B6F786-C840-D35B-B0D4-A030AB37E1B1}"/>
              </a:ext>
            </a:extLst>
          </p:cNvPr>
          <p:cNvPicPr>
            <a:picLocks noChangeAspect="1"/>
          </p:cNvPicPr>
          <p:nvPr/>
        </p:nvPicPr>
        <p:blipFill>
          <a:blip r:embed="rId3"/>
          <a:stretch>
            <a:fillRect/>
          </a:stretch>
        </p:blipFill>
        <p:spPr>
          <a:xfrm>
            <a:off x="975360" y="4529434"/>
            <a:ext cx="10515600" cy="1353070"/>
          </a:xfrm>
          <a:prstGeom prst="rect">
            <a:avLst/>
          </a:prstGeom>
        </p:spPr>
      </p:pic>
    </p:spTree>
    <p:extLst>
      <p:ext uri="{BB962C8B-B14F-4D97-AF65-F5344CB8AC3E}">
        <p14:creationId xmlns:p14="http://schemas.microsoft.com/office/powerpoint/2010/main" val="179489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p:txBody>
          <a:bodyPr/>
          <a:lstStyle/>
          <a:p>
            <a:pPr marL="742950" indent="-742950">
              <a:buFont typeface="+mj-lt"/>
              <a:buAutoNum type="arabicPeriod"/>
            </a:pPr>
            <a:r>
              <a:rPr lang="en-US" dirty="0">
                <a:effectLst/>
              </a:rPr>
              <a:t>Brute Force Approach - Example</a:t>
            </a:r>
            <a:endParaRPr lang="en-US" dirty="0"/>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document doesn’t provide a specific example for Brute Force, but let’s consider the input stream and search pattern from the KMP example:</a:t>
            </a:r>
          </a:p>
          <a:p>
            <a:pPr lvl="1"/>
            <a:r>
              <a:rPr lang="en-US" sz="2600" dirty="0">
                <a:latin typeface="Calibri" panose="020F0502020204030204" pitchFamily="34" charset="0"/>
                <a:ea typeface="Calibri" panose="020F0502020204030204" pitchFamily="34" charset="0"/>
                <a:cs typeface="Calibri" panose="020F0502020204030204" pitchFamily="34" charset="0"/>
              </a:rPr>
              <a:t>Input Stream:  </a:t>
            </a:r>
            <a:r>
              <a:rPr lang="en-US" sz="2800" b="1" dirty="0">
                <a:latin typeface="Book Antiqua" panose="02040602050305030304" pitchFamily="18" charset="0"/>
                <a:ea typeface="Calibri" panose="020F0502020204030204" pitchFamily="34" charset="0"/>
                <a:cs typeface="Calibri" panose="020F0502020204030204" pitchFamily="34" charset="0"/>
              </a:rPr>
              <a:t>a, b, d, a, d, e, f, g</a:t>
            </a:r>
          </a:p>
          <a:p>
            <a:pPr lvl="1"/>
            <a:r>
              <a:rPr lang="en-US" sz="2600" dirty="0">
                <a:latin typeface="Calibri" panose="020F0502020204030204" pitchFamily="34" charset="0"/>
                <a:ea typeface="Calibri" panose="020F0502020204030204" pitchFamily="34" charset="0"/>
                <a:cs typeface="Calibri" panose="020F0502020204030204" pitchFamily="34" charset="0"/>
              </a:rPr>
              <a:t>Search Pattern: </a:t>
            </a:r>
            <a:r>
              <a:rPr lang="en-US" sz="2800" b="1" dirty="0">
                <a:latin typeface="Book Antiqua" panose="02040602050305030304" pitchFamily="18" charset="0"/>
                <a:ea typeface="Calibri" panose="020F0502020204030204" pitchFamily="34" charset="0"/>
                <a:cs typeface="Calibri" panose="020F0502020204030204" pitchFamily="34" charset="0"/>
              </a:rPr>
              <a:t>a, b, d, f </a:t>
            </a:r>
          </a:p>
          <a:p>
            <a:pPr lvl="1"/>
            <a:r>
              <a:rPr lang="en-US" sz="2600" dirty="0">
                <a:latin typeface="Calibri" panose="020F0502020204030204" pitchFamily="34" charset="0"/>
                <a:ea typeface="Calibri" panose="020F0502020204030204" pitchFamily="34" charset="0"/>
                <a:cs typeface="Calibri" panose="020F0502020204030204" pitchFamily="34" charset="0"/>
              </a:rPr>
              <a:t>Start at position 1:  </a:t>
            </a:r>
            <a:r>
              <a:rPr lang="en-US" sz="2800" b="1" dirty="0">
                <a:latin typeface="Book Antiqua" panose="02040602050305030304" pitchFamily="18" charset="0"/>
                <a:ea typeface="Calibri" panose="020F0502020204030204" pitchFamily="34" charset="0"/>
                <a:cs typeface="Calibri" panose="020F0502020204030204" pitchFamily="34" charset="0"/>
              </a:rPr>
              <a:t>a</a:t>
            </a:r>
            <a:r>
              <a:rPr lang="en-US" sz="2800" dirty="0">
                <a:latin typeface="Book Antiqua" panose="02040602050305030304" pitchFamily="18" charset="0"/>
                <a:ea typeface="Calibri" panose="020F0502020204030204" pitchFamily="34" charset="0"/>
                <a:cs typeface="Calibri" panose="020F0502020204030204" pitchFamily="34" charset="0"/>
              </a:rPr>
              <a:t> </a:t>
            </a:r>
            <a:r>
              <a:rPr lang="en-US" sz="2600" dirty="0">
                <a:latin typeface="Calibri" panose="020F0502020204030204" pitchFamily="34" charset="0"/>
                <a:ea typeface="Calibri" panose="020F0502020204030204" pitchFamily="34" charset="0"/>
                <a:cs typeface="Calibri" panose="020F0502020204030204" pitchFamily="34" charset="0"/>
              </a:rPr>
              <a:t> matches  </a:t>
            </a:r>
            <a:r>
              <a:rPr lang="en-US" sz="2800" b="1" dirty="0">
                <a:latin typeface="Book Antiqua" panose="02040602050305030304" pitchFamily="18" charset="0"/>
                <a:ea typeface="Calibri" panose="020F0502020204030204" pitchFamily="34" charset="0"/>
                <a:cs typeface="Calibri" panose="020F0502020204030204" pitchFamily="34" charset="0"/>
              </a:rPr>
              <a:t>a</a:t>
            </a:r>
            <a:r>
              <a:rPr lang="en-US" sz="2600" dirty="0">
                <a:latin typeface="Calibri" panose="020F0502020204030204" pitchFamily="34" charset="0"/>
                <a:ea typeface="Calibri" panose="020F0502020204030204" pitchFamily="34" charset="0"/>
                <a:cs typeface="Calibri" panose="020F0502020204030204" pitchFamily="34" charset="0"/>
              </a:rPr>
              <a:t> , </a:t>
            </a:r>
            <a:r>
              <a:rPr lang="en-US" sz="2800" b="1" dirty="0">
                <a:latin typeface="Book Antiqua" panose="02040602050305030304" pitchFamily="18" charset="0"/>
                <a:ea typeface="Calibri" panose="020F0502020204030204" pitchFamily="34" charset="0"/>
                <a:cs typeface="Calibri" panose="020F0502020204030204" pitchFamily="34" charset="0"/>
              </a:rPr>
              <a:t>b</a:t>
            </a:r>
            <a:r>
              <a:rPr lang="en-US" sz="2600" dirty="0">
                <a:latin typeface="Calibri" panose="020F0502020204030204" pitchFamily="34" charset="0"/>
                <a:ea typeface="Calibri" panose="020F0502020204030204" pitchFamily="34" charset="0"/>
                <a:cs typeface="Calibri" panose="020F0502020204030204" pitchFamily="34" charset="0"/>
              </a:rPr>
              <a:t> matches  </a:t>
            </a:r>
            <a:r>
              <a:rPr lang="en-US" sz="2800" b="1" dirty="0">
                <a:latin typeface="Book Antiqua" panose="02040602050305030304" pitchFamily="18" charset="0"/>
                <a:ea typeface="Calibri" panose="020F0502020204030204" pitchFamily="34" charset="0"/>
                <a:cs typeface="Calibri" panose="020F0502020204030204" pitchFamily="34" charset="0"/>
              </a:rPr>
              <a:t>b</a:t>
            </a:r>
            <a:r>
              <a:rPr lang="en-US" sz="2600" dirty="0">
                <a:latin typeface="Calibri" panose="020F0502020204030204" pitchFamily="34" charset="0"/>
                <a:ea typeface="Calibri" panose="020F0502020204030204" pitchFamily="34" charset="0"/>
                <a:cs typeface="Calibri" panose="020F0502020204030204" pitchFamily="34" charset="0"/>
              </a:rPr>
              <a:t> ,  </a:t>
            </a:r>
            <a:r>
              <a:rPr lang="en-US" sz="2800" b="1" dirty="0">
                <a:latin typeface="Book Antiqua" panose="02040602050305030304" pitchFamily="18" charset="0"/>
                <a:ea typeface="Calibri" panose="020F0502020204030204" pitchFamily="34" charset="0"/>
                <a:cs typeface="Calibri" panose="020F0502020204030204" pitchFamily="34" charset="0"/>
              </a:rPr>
              <a:t>d</a:t>
            </a:r>
            <a:r>
              <a:rPr lang="en-US" sz="2600" dirty="0">
                <a:latin typeface="Calibri" panose="020F0502020204030204" pitchFamily="34" charset="0"/>
                <a:ea typeface="Calibri" panose="020F0502020204030204" pitchFamily="34" charset="0"/>
                <a:cs typeface="Calibri" panose="020F0502020204030204" pitchFamily="34" charset="0"/>
              </a:rPr>
              <a:t>  matches  </a:t>
            </a:r>
            <a:r>
              <a:rPr lang="en-US" sz="2800" b="1" dirty="0">
                <a:latin typeface="Book Antiqua" panose="02040602050305030304" pitchFamily="18" charset="0"/>
                <a:ea typeface="Calibri" panose="020F0502020204030204" pitchFamily="34" charset="0"/>
                <a:cs typeface="Calibri" panose="020F0502020204030204" pitchFamily="34" charset="0"/>
              </a:rPr>
              <a:t>d</a:t>
            </a:r>
            <a:r>
              <a:rPr lang="en-US" sz="2600" dirty="0">
                <a:latin typeface="Calibri" panose="020F0502020204030204" pitchFamily="34" charset="0"/>
                <a:ea typeface="Calibri" panose="020F0502020204030204" pitchFamily="34" charset="0"/>
                <a:cs typeface="Calibri" panose="020F0502020204030204" pitchFamily="34" charset="0"/>
              </a:rPr>
              <a:t> , but </a:t>
            </a:r>
            <a:r>
              <a:rPr lang="en-US" sz="2800" b="1" dirty="0">
                <a:latin typeface="Book Antiqua" panose="02040602050305030304" pitchFamily="18" charset="0"/>
                <a:ea typeface="Calibri" panose="020F0502020204030204" pitchFamily="34" charset="0"/>
                <a:cs typeface="Calibri" panose="020F0502020204030204" pitchFamily="34" charset="0"/>
              </a:rPr>
              <a:t>f </a:t>
            </a:r>
            <a:r>
              <a:rPr lang="en-US" sz="2600" dirty="0">
                <a:latin typeface="Calibri" panose="020F0502020204030204" pitchFamily="34" charset="0"/>
                <a:ea typeface="Calibri" panose="020F0502020204030204" pitchFamily="34" charset="0"/>
                <a:cs typeface="Calibri" panose="020F0502020204030204" pitchFamily="34" charset="0"/>
              </a:rPr>
              <a:t>mismatches with </a:t>
            </a:r>
            <a:r>
              <a:rPr lang="en-US" sz="2800" b="1" dirty="0">
                <a:latin typeface="Book Antiqua" panose="02040602050305030304" pitchFamily="18" charset="0"/>
                <a:ea typeface="Calibri" panose="020F0502020204030204" pitchFamily="34" charset="0"/>
                <a:cs typeface="Calibri" panose="020F0502020204030204" pitchFamily="34" charset="0"/>
              </a:rPr>
              <a:t>a</a:t>
            </a:r>
            <a:r>
              <a:rPr lang="en-US" sz="2600" dirty="0">
                <a:latin typeface="Calibri" panose="020F0502020204030204" pitchFamily="34" charset="0"/>
                <a:ea typeface="Calibri" panose="020F0502020204030204" pitchFamily="34" charset="0"/>
                <a:cs typeface="Calibri" panose="020F0502020204030204" pitchFamily="34" charset="0"/>
              </a:rPr>
              <a:t>. Shift one position.</a:t>
            </a:r>
          </a:p>
          <a:p>
            <a:pPr lvl="1"/>
            <a:r>
              <a:rPr lang="en-US" sz="2600" dirty="0">
                <a:latin typeface="Calibri" panose="020F0502020204030204" pitchFamily="34" charset="0"/>
                <a:ea typeface="Calibri" panose="020F0502020204030204" pitchFamily="34" charset="0"/>
                <a:cs typeface="Calibri" panose="020F0502020204030204" pitchFamily="34" charset="0"/>
              </a:rPr>
              <a:t>Position 2: </a:t>
            </a:r>
            <a:r>
              <a:rPr lang="en-US" sz="2800" b="1" dirty="0">
                <a:latin typeface="Book Antiqua" panose="02040602050305030304" pitchFamily="18" charset="0"/>
                <a:ea typeface="Calibri" panose="020F0502020204030204" pitchFamily="34" charset="0"/>
                <a:cs typeface="Calibri" panose="020F0502020204030204" pitchFamily="34" charset="0"/>
              </a:rPr>
              <a:t>b</a:t>
            </a:r>
            <a:r>
              <a:rPr lang="en-US" sz="2600" dirty="0">
                <a:latin typeface="Calibri" panose="020F0502020204030204" pitchFamily="34" charset="0"/>
                <a:ea typeface="Calibri" panose="020F0502020204030204" pitchFamily="34" charset="0"/>
                <a:cs typeface="Calibri" panose="020F0502020204030204" pitchFamily="34" charset="0"/>
              </a:rPr>
              <a:t> mismatches </a:t>
            </a:r>
            <a:r>
              <a:rPr lang="en-US" sz="2800" b="1" dirty="0">
                <a:latin typeface="Book Antiqua" panose="02040602050305030304" pitchFamily="18" charset="0"/>
                <a:ea typeface="Calibri" panose="020F0502020204030204" pitchFamily="34" charset="0"/>
                <a:cs typeface="Calibri" panose="020F0502020204030204" pitchFamily="34" charset="0"/>
              </a:rPr>
              <a:t>a</a:t>
            </a:r>
            <a:r>
              <a:rPr lang="en-US" sz="2600" dirty="0">
                <a:latin typeface="Calibri" panose="020F0502020204030204" pitchFamily="34" charset="0"/>
                <a:ea typeface="Calibri" panose="020F0502020204030204" pitchFamily="34" charset="0"/>
                <a:cs typeface="Calibri" panose="020F0502020204030204" pitchFamily="34" charset="0"/>
              </a:rPr>
              <a:t>. Shift again.</a:t>
            </a:r>
          </a:p>
          <a:p>
            <a:r>
              <a:rPr lang="en-US" sz="2600" dirty="0">
                <a:latin typeface="Calibri" panose="020F0502020204030204" pitchFamily="34" charset="0"/>
                <a:ea typeface="Calibri" panose="020F0502020204030204" pitchFamily="34" charset="0"/>
                <a:cs typeface="Calibri" panose="020F0502020204030204" pitchFamily="34" charset="0"/>
              </a:rPr>
              <a:t>This continues, checking each position, leading to many comparisons.</a:t>
            </a:r>
          </a:p>
        </p:txBody>
      </p:sp>
    </p:spTree>
    <p:extLst>
      <p:ext uri="{BB962C8B-B14F-4D97-AF65-F5344CB8AC3E}">
        <p14:creationId xmlns:p14="http://schemas.microsoft.com/office/powerpoint/2010/main" val="3131743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pPr marL="742950" indent="-742950">
              <a:buFont typeface="+mj-lt"/>
              <a:buAutoNum type="arabicPeriod" startAt="2"/>
            </a:pPr>
            <a:r>
              <a:rPr lang="en-US" sz="3600" dirty="0">
                <a:latin typeface="Calibri" panose="020F0502020204030204" pitchFamily="34" charset="0"/>
                <a:ea typeface="Calibri" panose="020F0502020204030204" pitchFamily="34" charset="0"/>
                <a:cs typeface="Calibri" panose="020F0502020204030204" pitchFamily="34" charset="0"/>
              </a:rPr>
              <a:t>Knuth-Morris-Pratt (KMP)</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KMP algorithm improves on Brute Force by avoiding unnecessary comparisons.</a:t>
            </a:r>
          </a:p>
          <a:p>
            <a:r>
              <a:rPr lang="en-US" sz="2600" dirty="0">
                <a:latin typeface="Calibri" panose="020F0502020204030204" pitchFamily="34" charset="0"/>
                <a:ea typeface="Calibri" panose="020F0502020204030204" pitchFamily="34" charset="0"/>
                <a:cs typeface="Calibri" panose="020F0502020204030204" pitchFamily="34" charset="0"/>
              </a:rPr>
              <a:t> When a mismatch occurs, </a:t>
            </a:r>
            <a:r>
              <a:rPr lang="en-US" sz="2600" b="1" dirty="0">
                <a:latin typeface="Calibri" panose="020F0502020204030204" pitchFamily="34" charset="0"/>
                <a:ea typeface="Calibri" panose="020F0502020204030204" pitchFamily="34" charset="0"/>
                <a:cs typeface="Calibri" panose="020F0502020204030204" pitchFamily="34" charset="0"/>
              </a:rPr>
              <a:t>KMP uses information from previously matched characters </a:t>
            </a:r>
            <a:r>
              <a:rPr lang="en-US" sz="2600" dirty="0">
                <a:latin typeface="Calibri" panose="020F0502020204030204" pitchFamily="34" charset="0"/>
                <a:ea typeface="Calibri" panose="020F0502020204030204" pitchFamily="34" charset="0"/>
                <a:cs typeface="Calibri" panose="020F0502020204030204" pitchFamily="34" charset="0"/>
              </a:rPr>
              <a:t>to determine how far to shift the pattern, </a:t>
            </a:r>
            <a:r>
              <a:rPr lang="en-US" sz="2600" b="1" dirty="0">
                <a:latin typeface="Calibri" panose="020F0502020204030204" pitchFamily="34" charset="0"/>
                <a:ea typeface="Calibri" panose="020F0502020204030204" pitchFamily="34" charset="0"/>
                <a:cs typeface="Calibri" panose="020F0502020204030204" pitchFamily="34" charset="0"/>
              </a:rPr>
              <a:t>rather than shifting one position at a time</a:t>
            </a:r>
            <a:r>
              <a:rPr lang="en-US" sz="2600" dirty="0">
                <a:latin typeface="Calibri" panose="020F0502020204030204" pitchFamily="34" charset="0"/>
                <a:ea typeface="Calibri" panose="020F0502020204030204" pitchFamily="34" charset="0"/>
                <a:cs typeface="Calibri" panose="020F0502020204030204" pitchFamily="34" charset="0"/>
              </a:rPr>
              <a:t>. </a:t>
            </a:r>
          </a:p>
          <a:p>
            <a:r>
              <a:rPr lang="en-US" sz="2600" dirty="0">
                <a:latin typeface="Calibri" panose="020F0502020204030204" pitchFamily="34" charset="0"/>
                <a:ea typeface="Calibri" panose="020F0502020204030204" pitchFamily="34" charset="0"/>
                <a:cs typeface="Calibri" panose="020F0502020204030204" pitchFamily="34" charset="0"/>
              </a:rPr>
              <a:t>This is achieved by preprocessing the pattern to create a </a:t>
            </a:r>
            <a:r>
              <a:rPr lang="en-US" sz="2600" b="1" dirty="0">
                <a:latin typeface="Calibri" panose="020F0502020204030204" pitchFamily="34" charset="0"/>
                <a:ea typeface="Calibri" panose="020F0502020204030204" pitchFamily="34" charset="0"/>
                <a:cs typeface="Calibri" panose="020F0502020204030204" pitchFamily="34" charset="0"/>
              </a:rPr>
              <a:t>Shift Table (also called a failure function or prefix function), </a:t>
            </a:r>
            <a:r>
              <a:rPr lang="en-US" sz="2600" dirty="0">
                <a:latin typeface="Calibri" panose="020F0502020204030204" pitchFamily="34" charset="0"/>
                <a:ea typeface="Calibri" panose="020F0502020204030204" pitchFamily="34" charset="0"/>
                <a:cs typeface="Calibri" panose="020F0502020204030204" pitchFamily="34" charset="0"/>
              </a:rPr>
              <a:t>which indicates </a:t>
            </a:r>
            <a:r>
              <a:rPr lang="en-US" sz="2600" b="1" dirty="0">
                <a:latin typeface="Calibri" panose="020F0502020204030204" pitchFamily="34" charset="0"/>
                <a:ea typeface="Calibri" panose="020F0502020204030204" pitchFamily="34" charset="0"/>
                <a:cs typeface="Calibri" panose="020F0502020204030204" pitchFamily="34" charset="0"/>
              </a:rPr>
              <a:t>how many positions to skip based on the mismatch</a:t>
            </a:r>
            <a:r>
              <a:rPr lang="en-US" sz="26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207770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a:xfrm>
            <a:off x="609600" y="215372"/>
            <a:ext cx="10881360" cy="1097279"/>
          </a:xfrm>
        </p:spPr>
        <p:txBody>
          <a:bodyPr/>
          <a:lstStyle/>
          <a:p>
            <a:pPr marL="742950" indent="-742950">
              <a:buFont typeface="+mj-lt"/>
              <a:buAutoNum type="arabicPeriod" startAt="2"/>
            </a:pPr>
            <a:r>
              <a:rPr lang="en-US" sz="3600" dirty="0">
                <a:latin typeface="Calibri" panose="020F0502020204030204" pitchFamily="34" charset="0"/>
                <a:ea typeface="Calibri" panose="020F0502020204030204" pitchFamily="34" charset="0"/>
                <a:cs typeface="Calibri" panose="020F0502020204030204" pitchFamily="34" charset="0"/>
              </a:rPr>
              <a:t>Knuth-Morris-Pratt (KMP) - Example</a:t>
            </a:r>
            <a:endParaRPr lang="en-US" dirty="0"/>
          </a:p>
        </p:txBody>
      </p:sp>
      <p:pic>
        <p:nvPicPr>
          <p:cNvPr id="13" name="Picture 12">
            <a:extLst>
              <a:ext uri="{FF2B5EF4-FFF2-40B4-BE49-F238E27FC236}">
                <a16:creationId xmlns:a16="http://schemas.microsoft.com/office/drawing/2014/main" id="{E8517919-F667-37DF-4544-A95BB13B0967}"/>
              </a:ext>
            </a:extLst>
          </p:cNvPr>
          <p:cNvPicPr>
            <a:picLocks noChangeAspect="1"/>
          </p:cNvPicPr>
          <p:nvPr/>
        </p:nvPicPr>
        <p:blipFill>
          <a:blip r:embed="rId2"/>
          <a:stretch>
            <a:fillRect/>
          </a:stretch>
        </p:blipFill>
        <p:spPr>
          <a:xfrm>
            <a:off x="3566160" y="1169439"/>
            <a:ext cx="6512583" cy="5030470"/>
          </a:xfrm>
          <a:prstGeom prst="rect">
            <a:avLst/>
          </a:prstGeom>
        </p:spPr>
      </p:pic>
    </p:spTree>
    <p:extLst>
      <p:ext uri="{BB962C8B-B14F-4D97-AF65-F5344CB8AC3E}">
        <p14:creationId xmlns:p14="http://schemas.microsoft.com/office/powerpoint/2010/main" val="3868436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a:xfrm rot="16200000">
            <a:off x="-2835729" y="2835728"/>
            <a:ext cx="6858000" cy="1186543"/>
          </a:xfrm>
        </p:spPr>
        <p:txBody>
          <a:bodyPr/>
          <a:lstStyle/>
          <a:p>
            <a:pPr marL="742950" indent="-742950" algn="ctr">
              <a:buFont typeface="+mj-lt"/>
              <a:buAutoNum type="arabicPeriod" startAt="2"/>
            </a:pPr>
            <a:r>
              <a:rPr lang="en-US" sz="3600" dirty="0">
                <a:latin typeface="Calibri" panose="020F0502020204030204" pitchFamily="34" charset="0"/>
                <a:ea typeface="Calibri" panose="020F0502020204030204" pitchFamily="34" charset="0"/>
                <a:cs typeface="Calibri" panose="020F0502020204030204" pitchFamily="34" charset="0"/>
              </a:rPr>
              <a:t>Knuth-Morris-Pratt (KMP) - Example</a:t>
            </a:r>
            <a:endParaRPr lang="en-US" dirty="0"/>
          </a:p>
        </p:txBody>
      </p:sp>
      <p:pic>
        <p:nvPicPr>
          <p:cNvPr id="3" name="Picture 2">
            <a:extLst>
              <a:ext uri="{FF2B5EF4-FFF2-40B4-BE49-F238E27FC236}">
                <a16:creationId xmlns:a16="http://schemas.microsoft.com/office/drawing/2014/main" id="{02D864F6-3553-254D-0607-191B6AC7A549}"/>
              </a:ext>
            </a:extLst>
          </p:cNvPr>
          <p:cNvPicPr>
            <a:picLocks noChangeAspect="1"/>
          </p:cNvPicPr>
          <p:nvPr/>
        </p:nvPicPr>
        <p:blipFill>
          <a:blip r:embed="rId2"/>
          <a:stretch>
            <a:fillRect/>
          </a:stretch>
        </p:blipFill>
        <p:spPr>
          <a:xfrm>
            <a:off x="4267201" y="0"/>
            <a:ext cx="6553200" cy="6832004"/>
          </a:xfrm>
          <a:prstGeom prst="rect">
            <a:avLst/>
          </a:prstGeom>
        </p:spPr>
      </p:pic>
    </p:spTree>
    <p:extLst>
      <p:ext uri="{BB962C8B-B14F-4D97-AF65-F5344CB8AC3E}">
        <p14:creationId xmlns:p14="http://schemas.microsoft.com/office/powerpoint/2010/main" val="1811115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2"/>
            <a:ext cx="10972800" cy="884085"/>
          </a:xfrm>
        </p:spPr>
        <p:txBody>
          <a:bodyPr/>
          <a:lstStyle/>
          <a:p>
            <a:pPr marL="742950" indent="-742950">
              <a:buFont typeface="+mj-lt"/>
              <a:buAutoNum type="arabicPeriod" startAt="2"/>
            </a:pPr>
            <a:r>
              <a:rPr lang="en-US" sz="3600" dirty="0">
                <a:latin typeface="Calibri" panose="020F0502020204030204" pitchFamily="34" charset="0"/>
                <a:ea typeface="Calibri" panose="020F0502020204030204" pitchFamily="34" charset="0"/>
                <a:cs typeface="Calibri" panose="020F0502020204030204" pitchFamily="34" charset="0"/>
              </a:rPr>
              <a:t>Knuth-Morris-Pratt (KMP) - Steps</a:t>
            </a:r>
            <a:endParaRPr lang="en-US" dirty="0"/>
          </a:p>
        </p:txBody>
      </p:sp>
      <p:pic>
        <p:nvPicPr>
          <p:cNvPr id="3" name="Picture 2">
            <a:extLst>
              <a:ext uri="{FF2B5EF4-FFF2-40B4-BE49-F238E27FC236}">
                <a16:creationId xmlns:a16="http://schemas.microsoft.com/office/drawing/2014/main" id="{33F9C137-A3B9-871B-798C-94590C87A9D6}"/>
              </a:ext>
            </a:extLst>
          </p:cNvPr>
          <p:cNvPicPr>
            <a:picLocks noChangeAspect="1"/>
          </p:cNvPicPr>
          <p:nvPr/>
        </p:nvPicPr>
        <p:blipFill>
          <a:blip r:embed="rId2"/>
          <a:stretch>
            <a:fillRect/>
          </a:stretch>
        </p:blipFill>
        <p:spPr>
          <a:xfrm>
            <a:off x="1172773" y="1312652"/>
            <a:ext cx="10278997" cy="4636926"/>
          </a:xfrm>
          <a:prstGeom prst="rect">
            <a:avLst/>
          </a:prstGeom>
        </p:spPr>
      </p:pic>
    </p:spTree>
    <p:extLst>
      <p:ext uri="{BB962C8B-B14F-4D97-AF65-F5344CB8AC3E}">
        <p14:creationId xmlns:p14="http://schemas.microsoft.com/office/powerpoint/2010/main" val="38527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2"/>
            <a:ext cx="10972800" cy="884085"/>
          </a:xfrm>
        </p:spPr>
        <p:txBody>
          <a:bodyPr/>
          <a:lstStyle/>
          <a:p>
            <a:pPr marL="742950" indent="-742950">
              <a:buFont typeface="+mj-lt"/>
              <a:buAutoNum type="arabicPeriod" startAt="2"/>
            </a:pPr>
            <a:r>
              <a:rPr lang="en-US" sz="3600" dirty="0">
                <a:latin typeface="Calibri" panose="020F0502020204030204" pitchFamily="34" charset="0"/>
                <a:ea typeface="Calibri" panose="020F0502020204030204" pitchFamily="34" charset="0"/>
                <a:cs typeface="Calibri" panose="020F0502020204030204" pitchFamily="34" charset="0"/>
              </a:rPr>
              <a:t>Knuth-Morris-Pratt (KMP) - Steps</a:t>
            </a:r>
            <a:endParaRPr lang="en-US" dirty="0"/>
          </a:p>
        </p:txBody>
      </p:sp>
      <p:pic>
        <p:nvPicPr>
          <p:cNvPr id="5" name="Picture 4">
            <a:extLst>
              <a:ext uri="{FF2B5EF4-FFF2-40B4-BE49-F238E27FC236}">
                <a16:creationId xmlns:a16="http://schemas.microsoft.com/office/drawing/2014/main" id="{C7885A07-237C-8063-C181-83F70AB948F2}"/>
              </a:ext>
            </a:extLst>
          </p:cNvPr>
          <p:cNvPicPr>
            <a:picLocks noChangeAspect="1"/>
          </p:cNvPicPr>
          <p:nvPr/>
        </p:nvPicPr>
        <p:blipFill>
          <a:blip r:embed="rId2"/>
          <a:stretch>
            <a:fillRect/>
          </a:stretch>
        </p:blipFill>
        <p:spPr>
          <a:xfrm>
            <a:off x="772886" y="1208379"/>
            <a:ext cx="10668000" cy="4450323"/>
          </a:xfrm>
          <a:prstGeom prst="rect">
            <a:avLst/>
          </a:prstGeom>
        </p:spPr>
      </p:pic>
    </p:spTree>
    <p:extLst>
      <p:ext uri="{BB962C8B-B14F-4D97-AF65-F5344CB8AC3E}">
        <p14:creationId xmlns:p14="http://schemas.microsoft.com/office/powerpoint/2010/main" val="3725136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pPr marL="742950" indent="-742950">
              <a:buFont typeface="+mj-lt"/>
              <a:buAutoNum type="arabicPeriod" startAt="3"/>
            </a:pPr>
            <a:r>
              <a:rPr lang="en-US" dirty="0">
                <a:effectLst/>
              </a:rPr>
              <a:t>Boyer-Moore Algorithm</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Boyer-Moore enhances efficiency by comparing the pattern from right to left </a:t>
            </a:r>
            <a:r>
              <a:rPr lang="en-US" sz="2600" b="1" dirty="0">
                <a:latin typeface="Calibri" panose="020F0502020204030204" pitchFamily="34" charset="0"/>
                <a:ea typeface="Calibri" panose="020F0502020204030204" pitchFamily="34" charset="0"/>
                <a:cs typeface="Calibri" panose="020F0502020204030204" pitchFamily="34" charset="0"/>
              </a:rPr>
              <a:t>(unlike Brute Force and KMP, which go left to right).</a:t>
            </a:r>
          </a:p>
          <a:p>
            <a:r>
              <a:rPr lang="en-US" sz="2600" dirty="0">
                <a:latin typeface="Calibri" panose="020F0502020204030204" pitchFamily="34" charset="0"/>
                <a:ea typeface="Calibri" panose="020F0502020204030204" pitchFamily="34" charset="0"/>
                <a:cs typeface="Calibri" panose="020F0502020204030204" pitchFamily="34" charset="0"/>
              </a:rPr>
              <a:t> When a mismatch occurs, it uses two rules to determine the shift:</a:t>
            </a:r>
          </a:p>
          <a:p>
            <a:pPr lvl="1"/>
            <a:r>
              <a:rPr lang="en-US" sz="2600" b="1" dirty="0">
                <a:latin typeface="Calibri" panose="020F0502020204030204" pitchFamily="34" charset="0"/>
                <a:ea typeface="Calibri" panose="020F0502020204030204" pitchFamily="34" charset="0"/>
                <a:cs typeface="Calibri" panose="020F0502020204030204" pitchFamily="34" charset="0"/>
              </a:rPr>
              <a:t>Bad Character Rule</a:t>
            </a:r>
            <a:r>
              <a:rPr lang="en-US" sz="2600" dirty="0">
                <a:latin typeface="Calibri" panose="020F0502020204030204" pitchFamily="34" charset="0"/>
                <a:ea typeface="Calibri" panose="020F0502020204030204" pitchFamily="34" charset="0"/>
                <a:cs typeface="Calibri" panose="020F0502020204030204" pitchFamily="34" charset="0"/>
              </a:rPr>
              <a:t>: Shift the pattern to align the mismatched character in the input stream with its next occurrence in the pattern (or skip the pattern entirely if the character doesn’t exist in the pattern).</a:t>
            </a:r>
          </a:p>
          <a:p>
            <a:pPr lvl="1"/>
            <a:r>
              <a:rPr lang="en-US" sz="2600" b="1" dirty="0">
                <a:latin typeface="Calibri" panose="020F0502020204030204" pitchFamily="34" charset="0"/>
                <a:ea typeface="Calibri" panose="020F0502020204030204" pitchFamily="34" charset="0"/>
                <a:cs typeface="Calibri" panose="020F0502020204030204" pitchFamily="34" charset="0"/>
              </a:rPr>
              <a:t>Good Suffix Rule</a:t>
            </a:r>
            <a:r>
              <a:rPr lang="en-US" sz="2600" dirty="0">
                <a:latin typeface="Calibri" panose="020F0502020204030204" pitchFamily="34" charset="0"/>
                <a:ea typeface="Calibri" panose="020F0502020204030204" pitchFamily="34" charset="0"/>
                <a:cs typeface="Calibri" panose="020F0502020204030204" pitchFamily="34" charset="0"/>
              </a:rPr>
              <a:t>: If a </a:t>
            </a:r>
            <a:r>
              <a:rPr lang="en-US" sz="2600" b="1" dirty="0">
                <a:latin typeface="Calibri" panose="020F0502020204030204" pitchFamily="34" charset="0"/>
                <a:ea typeface="Calibri" panose="020F0502020204030204" pitchFamily="34" charset="0"/>
                <a:cs typeface="Calibri" panose="020F0502020204030204" pitchFamily="34" charset="0"/>
              </a:rPr>
              <a:t>suffix of the pattern matches</a:t>
            </a:r>
            <a:r>
              <a:rPr lang="en-US" sz="2600" dirty="0">
                <a:latin typeface="Calibri" panose="020F0502020204030204" pitchFamily="34" charset="0"/>
                <a:ea typeface="Calibri" panose="020F0502020204030204" pitchFamily="34" charset="0"/>
                <a:cs typeface="Calibri" panose="020F0502020204030204" pitchFamily="34" charset="0"/>
              </a:rPr>
              <a:t>, shift to align the next occurrence of that suffix in the pattern.</a:t>
            </a:r>
          </a:p>
        </p:txBody>
      </p:sp>
    </p:spTree>
    <p:extLst>
      <p:ext uri="{BB962C8B-B14F-4D97-AF65-F5344CB8AC3E}">
        <p14:creationId xmlns:p14="http://schemas.microsoft.com/office/powerpoint/2010/main" val="588264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pPr marL="742950" indent="-742950">
              <a:buFont typeface="+mj-lt"/>
              <a:buAutoNum type="arabicPeriod" startAt="3"/>
            </a:pPr>
            <a:r>
              <a:rPr lang="en-US" dirty="0">
                <a:effectLst/>
              </a:rPr>
              <a:t>Boyer-Moore Algorithm</a:t>
            </a:r>
            <a:endParaRPr lang="en-US" dirty="0"/>
          </a:p>
        </p:txBody>
      </p:sp>
      <p:pic>
        <p:nvPicPr>
          <p:cNvPr id="7" name="Picture 6">
            <a:extLst>
              <a:ext uri="{FF2B5EF4-FFF2-40B4-BE49-F238E27FC236}">
                <a16:creationId xmlns:a16="http://schemas.microsoft.com/office/drawing/2014/main" id="{E032CD44-FE1B-7DE3-A7C0-D5AA2A5FDA19}"/>
              </a:ext>
            </a:extLst>
          </p:cNvPr>
          <p:cNvPicPr>
            <a:picLocks noChangeAspect="1"/>
          </p:cNvPicPr>
          <p:nvPr/>
        </p:nvPicPr>
        <p:blipFill>
          <a:blip r:embed="rId2"/>
          <a:stretch>
            <a:fillRect/>
          </a:stretch>
        </p:blipFill>
        <p:spPr>
          <a:xfrm>
            <a:off x="1901750" y="3890674"/>
            <a:ext cx="8526764" cy="2267528"/>
          </a:xfrm>
          <a:prstGeom prst="rect">
            <a:avLst/>
          </a:prstGeom>
        </p:spPr>
      </p:pic>
      <p:pic>
        <p:nvPicPr>
          <p:cNvPr id="9" name="Picture 8">
            <a:extLst>
              <a:ext uri="{FF2B5EF4-FFF2-40B4-BE49-F238E27FC236}">
                <a16:creationId xmlns:a16="http://schemas.microsoft.com/office/drawing/2014/main" id="{D4C11B41-565E-EC7E-CEEB-85DBD49E1136}"/>
              </a:ext>
            </a:extLst>
          </p:cNvPr>
          <p:cNvPicPr>
            <a:picLocks noChangeAspect="1"/>
          </p:cNvPicPr>
          <p:nvPr/>
        </p:nvPicPr>
        <p:blipFill>
          <a:blip r:embed="rId3"/>
          <a:stretch>
            <a:fillRect/>
          </a:stretch>
        </p:blipFill>
        <p:spPr>
          <a:xfrm>
            <a:off x="1094803" y="1467898"/>
            <a:ext cx="10117483" cy="2267528"/>
          </a:xfrm>
          <a:prstGeom prst="rect">
            <a:avLst/>
          </a:prstGeom>
        </p:spPr>
      </p:pic>
    </p:spTree>
    <p:extLst>
      <p:ext uri="{BB962C8B-B14F-4D97-AF65-F5344CB8AC3E}">
        <p14:creationId xmlns:p14="http://schemas.microsoft.com/office/powerpoint/2010/main" val="3292850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pPr marL="742950" indent="-742950">
              <a:buFont typeface="+mj-lt"/>
              <a:buAutoNum type="arabicPeriod" startAt="3"/>
            </a:pPr>
            <a:r>
              <a:rPr lang="en-US" dirty="0">
                <a:effectLst/>
              </a:rPr>
              <a:t>Boyer-Moore Algorithm</a:t>
            </a:r>
            <a:endParaRPr lang="en-US" dirty="0"/>
          </a:p>
        </p:txBody>
      </p:sp>
      <p:pic>
        <p:nvPicPr>
          <p:cNvPr id="9" name="Content Placeholder 8">
            <a:extLst>
              <a:ext uri="{FF2B5EF4-FFF2-40B4-BE49-F238E27FC236}">
                <a16:creationId xmlns:a16="http://schemas.microsoft.com/office/drawing/2014/main" id="{3B0EC01C-2D7F-4CB1-8ED5-539703D032DA}"/>
              </a:ext>
            </a:extLst>
          </p:cNvPr>
          <p:cNvPicPr>
            <a:picLocks noGrp="1" noChangeAspect="1"/>
          </p:cNvPicPr>
          <p:nvPr>
            <p:ph sz="quarter" idx="13"/>
          </p:nvPr>
        </p:nvPicPr>
        <p:blipFill>
          <a:blip r:embed="rId2"/>
          <a:stretch>
            <a:fillRect/>
          </a:stretch>
        </p:blipFill>
        <p:spPr>
          <a:xfrm>
            <a:off x="1376891" y="1526670"/>
            <a:ext cx="9857166" cy="1902330"/>
          </a:xfrm>
        </p:spPr>
      </p:pic>
      <p:pic>
        <p:nvPicPr>
          <p:cNvPr id="7" name="Content Placeholder 6">
            <a:extLst>
              <a:ext uri="{FF2B5EF4-FFF2-40B4-BE49-F238E27FC236}">
                <a16:creationId xmlns:a16="http://schemas.microsoft.com/office/drawing/2014/main" id="{4966C804-F6D3-DEFF-E74A-AD795E5CFF45}"/>
              </a:ext>
            </a:extLst>
          </p:cNvPr>
          <p:cNvPicPr>
            <a:picLocks noGrp="1" noChangeAspect="1"/>
          </p:cNvPicPr>
          <p:nvPr>
            <p:ph sz="quarter" idx="14"/>
          </p:nvPr>
        </p:nvPicPr>
        <p:blipFill>
          <a:blip r:embed="rId3"/>
          <a:stretch>
            <a:fillRect/>
          </a:stretch>
        </p:blipFill>
        <p:spPr>
          <a:xfrm>
            <a:off x="2329543" y="3962399"/>
            <a:ext cx="7946571" cy="1883230"/>
          </a:xfrm>
        </p:spPr>
      </p:pic>
    </p:spTree>
    <p:extLst>
      <p:ext uri="{BB962C8B-B14F-4D97-AF65-F5344CB8AC3E}">
        <p14:creationId xmlns:p14="http://schemas.microsoft.com/office/powerpoint/2010/main" val="1854210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pPr marL="742950" indent="-742950">
              <a:buFont typeface="+mj-lt"/>
              <a:buAutoNum type="arabicPeriod" startAt="3"/>
            </a:pPr>
            <a:r>
              <a:rPr lang="en-US" dirty="0">
                <a:effectLst/>
              </a:rPr>
              <a:t>Boyer-Moore Algorithm</a:t>
            </a:r>
            <a:endParaRPr lang="en-US" dirty="0"/>
          </a:p>
        </p:txBody>
      </p:sp>
      <p:pic>
        <p:nvPicPr>
          <p:cNvPr id="9" name="Content Placeholder 8">
            <a:extLst>
              <a:ext uri="{FF2B5EF4-FFF2-40B4-BE49-F238E27FC236}">
                <a16:creationId xmlns:a16="http://schemas.microsoft.com/office/drawing/2014/main" id="{899FF473-0635-694A-5BEE-6F30D40E844E}"/>
              </a:ext>
            </a:extLst>
          </p:cNvPr>
          <p:cNvPicPr>
            <a:picLocks noGrp="1" noChangeAspect="1"/>
          </p:cNvPicPr>
          <p:nvPr>
            <p:ph sz="quarter" idx="13"/>
          </p:nvPr>
        </p:nvPicPr>
        <p:blipFill>
          <a:blip r:embed="rId2"/>
          <a:stretch>
            <a:fillRect/>
          </a:stretch>
        </p:blipFill>
        <p:spPr>
          <a:xfrm>
            <a:off x="1707093" y="4119245"/>
            <a:ext cx="9592278" cy="1818013"/>
          </a:xfrm>
        </p:spPr>
      </p:pic>
      <p:pic>
        <p:nvPicPr>
          <p:cNvPr id="7" name="Content Placeholder 6">
            <a:extLst>
              <a:ext uri="{FF2B5EF4-FFF2-40B4-BE49-F238E27FC236}">
                <a16:creationId xmlns:a16="http://schemas.microsoft.com/office/drawing/2014/main" id="{6474FE44-8E83-F9C7-3EB1-736FA5DDAC39}"/>
              </a:ext>
            </a:extLst>
          </p:cNvPr>
          <p:cNvPicPr>
            <a:picLocks noGrp="1" noChangeAspect="1"/>
          </p:cNvPicPr>
          <p:nvPr>
            <p:ph sz="quarter" idx="14"/>
          </p:nvPr>
        </p:nvPicPr>
        <p:blipFill>
          <a:blip r:embed="rId3"/>
          <a:stretch>
            <a:fillRect/>
          </a:stretch>
        </p:blipFill>
        <p:spPr>
          <a:xfrm>
            <a:off x="2721430" y="1401155"/>
            <a:ext cx="7039343" cy="1754890"/>
          </a:xfrm>
        </p:spPr>
      </p:pic>
      <p:pic>
        <p:nvPicPr>
          <p:cNvPr id="11" name="Picture 10">
            <a:extLst>
              <a:ext uri="{FF2B5EF4-FFF2-40B4-BE49-F238E27FC236}">
                <a16:creationId xmlns:a16="http://schemas.microsoft.com/office/drawing/2014/main" id="{C9E993B0-EE9C-4C1F-2DC2-A7F5972B2EFB}"/>
              </a:ext>
            </a:extLst>
          </p:cNvPr>
          <p:cNvPicPr>
            <a:picLocks noChangeAspect="1"/>
          </p:cNvPicPr>
          <p:nvPr/>
        </p:nvPicPr>
        <p:blipFill>
          <a:blip r:embed="rId4"/>
          <a:stretch>
            <a:fillRect/>
          </a:stretch>
        </p:blipFill>
        <p:spPr>
          <a:xfrm>
            <a:off x="1707093" y="3463461"/>
            <a:ext cx="9385450" cy="348368"/>
          </a:xfrm>
          <a:prstGeom prst="rect">
            <a:avLst/>
          </a:prstGeom>
        </p:spPr>
      </p:pic>
    </p:spTree>
    <p:extLst>
      <p:ext uri="{BB962C8B-B14F-4D97-AF65-F5344CB8AC3E}">
        <p14:creationId xmlns:p14="http://schemas.microsoft.com/office/powerpoint/2010/main" val="928600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4"/>
            </a:pPr>
            <a:r>
              <a:rPr lang="en-US" sz="3600" dirty="0" err="1">
                <a:ea typeface="Calibri" panose="020F0502020204030204" pitchFamily="34" charset="0"/>
                <a:cs typeface="Calibri" panose="020F0502020204030204" pitchFamily="34" charset="0"/>
              </a:rPr>
              <a:t>Aho-Corasick</a:t>
            </a:r>
            <a:r>
              <a:rPr lang="en-US" sz="3600" dirty="0">
                <a:ea typeface="Calibri" panose="020F0502020204030204" pitchFamily="34" charset="0"/>
                <a:cs typeface="Calibri" panose="020F0502020204030204" pitchFamily="34" charset="0"/>
              </a:rPr>
              <a:t> </a:t>
            </a:r>
            <a:r>
              <a:rPr lang="en-US" dirty="0">
                <a:effectLst/>
              </a:rPr>
              <a:t>Algorithm</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a:t>
            </a:r>
            <a:r>
              <a:rPr lang="en-US" sz="2600" dirty="0" err="1">
                <a:latin typeface="Calibri" panose="020F0502020204030204" pitchFamily="34" charset="0"/>
                <a:ea typeface="Calibri" panose="020F0502020204030204" pitchFamily="34" charset="0"/>
                <a:cs typeface="Calibri" panose="020F0502020204030204" pitchFamily="34" charset="0"/>
              </a:rPr>
              <a:t>Aho-Corasick</a:t>
            </a:r>
            <a:r>
              <a:rPr lang="en-US" sz="2600" dirty="0">
                <a:latin typeface="Calibri" panose="020F0502020204030204" pitchFamily="34" charset="0"/>
                <a:ea typeface="Calibri" panose="020F0502020204030204" pitchFamily="34" charset="0"/>
                <a:cs typeface="Calibri" panose="020F0502020204030204" pitchFamily="34" charset="0"/>
              </a:rPr>
              <a:t> algorithm is designed for </a:t>
            </a:r>
            <a:r>
              <a:rPr lang="en-US" sz="2600" b="1" dirty="0">
                <a:latin typeface="Calibri" panose="020F0502020204030204" pitchFamily="34" charset="0"/>
                <a:ea typeface="Calibri" panose="020F0502020204030204" pitchFamily="34" charset="0"/>
                <a:cs typeface="Calibri" panose="020F0502020204030204" pitchFamily="34" charset="0"/>
              </a:rPr>
              <a:t>multiple pattern matching</a:t>
            </a:r>
            <a:r>
              <a:rPr lang="en-US" sz="2600" dirty="0">
                <a:latin typeface="Calibri" panose="020F0502020204030204" pitchFamily="34" charset="0"/>
                <a:ea typeface="Calibri" panose="020F0502020204030204" pitchFamily="34" charset="0"/>
                <a:cs typeface="Calibri" panose="020F0502020204030204" pitchFamily="34" charset="0"/>
              </a:rPr>
              <a:t>. </a:t>
            </a:r>
          </a:p>
          <a:p>
            <a:r>
              <a:rPr lang="en-US" sz="2600" dirty="0">
                <a:latin typeface="Calibri" panose="020F0502020204030204" pitchFamily="34" charset="0"/>
                <a:ea typeface="Calibri" panose="020F0502020204030204" pitchFamily="34" charset="0"/>
                <a:cs typeface="Calibri" panose="020F0502020204030204" pitchFamily="34" charset="0"/>
              </a:rPr>
              <a:t>It uses a </a:t>
            </a:r>
            <a:r>
              <a:rPr lang="en-US" sz="2600" b="1" dirty="0">
                <a:latin typeface="Calibri" panose="020F0502020204030204" pitchFamily="34" charset="0"/>
                <a:ea typeface="Calibri" panose="020F0502020204030204" pitchFamily="34" charset="0"/>
                <a:cs typeface="Calibri" panose="020F0502020204030204" pitchFamily="34" charset="0"/>
              </a:rPr>
              <a:t>finite state machine (FSM) </a:t>
            </a:r>
            <a:r>
              <a:rPr lang="en-US" sz="2600" dirty="0">
                <a:latin typeface="Calibri" panose="020F0502020204030204" pitchFamily="34" charset="0"/>
                <a:ea typeface="Calibri" panose="020F0502020204030204" pitchFamily="34" charset="0"/>
                <a:cs typeface="Calibri" panose="020F0502020204030204" pitchFamily="34" charset="0"/>
              </a:rPr>
              <a:t>to process the input text and match multiple patterns in one pass. </a:t>
            </a:r>
          </a:p>
          <a:p>
            <a:r>
              <a:rPr lang="en-US" sz="2600" dirty="0">
                <a:latin typeface="Calibri" panose="020F0502020204030204" pitchFamily="34" charset="0"/>
                <a:ea typeface="Calibri" panose="020F0502020204030204" pitchFamily="34" charset="0"/>
                <a:cs typeface="Calibri" panose="020F0502020204030204" pitchFamily="34" charset="0"/>
              </a:rPr>
              <a:t>The FSM is defined by three functions:</a:t>
            </a:r>
          </a:p>
          <a:p>
            <a:pPr lvl="1"/>
            <a:r>
              <a:rPr lang="en-US" sz="2600" b="1" dirty="0">
                <a:latin typeface="Calibri" panose="020F0502020204030204" pitchFamily="34" charset="0"/>
                <a:ea typeface="Calibri" panose="020F0502020204030204" pitchFamily="34" charset="0"/>
                <a:cs typeface="Calibri" panose="020F0502020204030204" pitchFamily="34" charset="0"/>
              </a:rPr>
              <a:t>GOTO Function</a:t>
            </a:r>
            <a:r>
              <a:rPr lang="en-US" sz="2600" dirty="0">
                <a:latin typeface="Calibri" panose="020F0502020204030204" pitchFamily="34" charset="0"/>
                <a:ea typeface="Calibri" panose="020F0502020204030204" pitchFamily="34" charset="0"/>
                <a:cs typeface="Calibri" panose="020F0502020204030204" pitchFamily="34" charset="0"/>
              </a:rPr>
              <a:t>: A state transition graph (Figure 9.6a) that defines the next state based on the current state and input character.</a:t>
            </a:r>
          </a:p>
          <a:p>
            <a:pPr lvl="1"/>
            <a:r>
              <a:rPr lang="en-US" sz="2600" b="1" dirty="0">
                <a:latin typeface="Calibri" panose="020F0502020204030204" pitchFamily="34" charset="0"/>
                <a:ea typeface="Calibri" panose="020F0502020204030204" pitchFamily="34" charset="0"/>
                <a:cs typeface="Calibri" panose="020F0502020204030204" pitchFamily="34" charset="0"/>
              </a:rPr>
              <a:t>Failure Function</a:t>
            </a:r>
            <a:r>
              <a:rPr lang="en-US" sz="2600" dirty="0">
                <a:latin typeface="Calibri" panose="020F0502020204030204" pitchFamily="34" charset="0"/>
                <a:ea typeface="Calibri" panose="020F0502020204030204" pitchFamily="34" charset="0"/>
                <a:cs typeface="Calibri" panose="020F0502020204030204" pitchFamily="34" charset="0"/>
              </a:rPr>
              <a:t>: When a mismatch occurs, this function (Figure 9.6b) specifies the state to fall back to.</a:t>
            </a:r>
          </a:p>
          <a:p>
            <a:pPr lvl="1"/>
            <a:r>
              <a:rPr lang="en-US" sz="2600" b="1" dirty="0">
                <a:latin typeface="Calibri" panose="020F0502020204030204" pitchFamily="34" charset="0"/>
                <a:ea typeface="Calibri" panose="020F0502020204030204" pitchFamily="34" charset="0"/>
                <a:cs typeface="Calibri" panose="020F0502020204030204" pitchFamily="34" charset="0"/>
              </a:rPr>
              <a:t>Output Function</a:t>
            </a:r>
            <a:r>
              <a:rPr lang="en-US" sz="2600" dirty="0">
                <a:latin typeface="Calibri" panose="020F0502020204030204" pitchFamily="34" charset="0"/>
                <a:ea typeface="Calibri" panose="020F0502020204030204" pitchFamily="34" charset="0"/>
                <a:cs typeface="Calibri" panose="020F0502020204030204" pitchFamily="34" charset="0"/>
              </a:rPr>
              <a:t>: Specifies which patterns are matched at each state (Figure 9.6c).</a:t>
            </a:r>
          </a:p>
        </p:txBody>
      </p:sp>
    </p:spTree>
    <p:extLst>
      <p:ext uri="{BB962C8B-B14F-4D97-AF65-F5344CB8AC3E}">
        <p14:creationId xmlns:p14="http://schemas.microsoft.com/office/powerpoint/2010/main" val="2795149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4"/>
            </a:pPr>
            <a:r>
              <a:rPr lang="en-US" sz="3600" dirty="0" err="1">
                <a:ea typeface="Calibri" panose="020F0502020204030204" pitchFamily="34" charset="0"/>
                <a:cs typeface="Calibri" panose="020F0502020204030204" pitchFamily="34" charset="0"/>
              </a:rPr>
              <a:t>Aho-Corasick</a:t>
            </a:r>
            <a:r>
              <a:rPr lang="en-US" sz="3600" dirty="0">
                <a:ea typeface="Calibri" panose="020F0502020204030204" pitchFamily="34" charset="0"/>
                <a:cs typeface="Calibri" panose="020F0502020204030204" pitchFamily="34" charset="0"/>
              </a:rPr>
              <a:t> </a:t>
            </a:r>
            <a:r>
              <a:rPr lang="en-US" dirty="0">
                <a:effectLst/>
              </a:rPr>
              <a:t>Algorithm - </a:t>
            </a:r>
            <a:r>
              <a:rPr lang="en-US" sz="3600" b="1" dirty="0">
                <a:ea typeface="Calibri" panose="020F0502020204030204" pitchFamily="34" charset="0"/>
                <a:cs typeface="Calibri" panose="020F0502020204030204" pitchFamily="34" charset="0"/>
              </a:rPr>
              <a:t>GOTO Function</a:t>
            </a:r>
            <a:endParaRPr lang="en-US" dirty="0"/>
          </a:p>
        </p:txBody>
      </p:sp>
      <p:pic>
        <p:nvPicPr>
          <p:cNvPr id="9" name="Content Placeholder 8">
            <a:extLst>
              <a:ext uri="{FF2B5EF4-FFF2-40B4-BE49-F238E27FC236}">
                <a16:creationId xmlns:a16="http://schemas.microsoft.com/office/drawing/2014/main" id="{EA9FC17F-5409-B9CB-96A8-ECC42F652B7C}"/>
              </a:ext>
            </a:extLst>
          </p:cNvPr>
          <p:cNvPicPr>
            <a:picLocks noGrp="1" noChangeAspect="1"/>
          </p:cNvPicPr>
          <p:nvPr>
            <p:ph sz="quarter" idx="13"/>
          </p:nvPr>
        </p:nvPicPr>
        <p:blipFill>
          <a:blip r:embed="rId2"/>
          <a:stretch>
            <a:fillRect/>
          </a:stretch>
        </p:blipFill>
        <p:spPr>
          <a:xfrm>
            <a:off x="1801635" y="5178792"/>
            <a:ext cx="10237965" cy="1045814"/>
          </a:xfrm>
        </p:spPr>
      </p:pic>
      <p:pic>
        <p:nvPicPr>
          <p:cNvPr id="7" name="Content Placeholder 6">
            <a:extLst>
              <a:ext uri="{FF2B5EF4-FFF2-40B4-BE49-F238E27FC236}">
                <a16:creationId xmlns:a16="http://schemas.microsoft.com/office/drawing/2014/main" id="{3CF25FE8-E4E1-D026-16E6-F04EBED18AAC}"/>
              </a:ext>
            </a:extLst>
          </p:cNvPr>
          <p:cNvPicPr>
            <a:picLocks noGrp="1" noChangeAspect="1"/>
          </p:cNvPicPr>
          <p:nvPr>
            <p:ph sz="quarter" idx="14"/>
          </p:nvPr>
        </p:nvPicPr>
        <p:blipFill>
          <a:blip r:embed="rId3"/>
          <a:stretch>
            <a:fillRect/>
          </a:stretch>
        </p:blipFill>
        <p:spPr>
          <a:xfrm>
            <a:off x="3156857" y="1312651"/>
            <a:ext cx="5344886" cy="3945149"/>
          </a:xfrm>
        </p:spPr>
      </p:pic>
    </p:spTree>
    <p:extLst>
      <p:ext uri="{BB962C8B-B14F-4D97-AF65-F5344CB8AC3E}">
        <p14:creationId xmlns:p14="http://schemas.microsoft.com/office/powerpoint/2010/main" val="2580926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4"/>
            </a:pPr>
            <a:r>
              <a:rPr lang="en-US" sz="3600" dirty="0" err="1">
                <a:ea typeface="Calibri" panose="020F0502020204030204" pitchFamily="34" charset="0"/>
                <a:cs typeface="Calibri" panose="020F0502020204030204" pitchFamily="34" charset="0"/>
              </a:rPr>
              <a:t>Aho-Corasick</a:t>
            </a:r>
            <a:r>
              <a:rPr lang="en-US" sz="3600" dirty="0">
                <a:ea typeface="Calibri" panose="020F0502020204030204" pitchFamily="34" charset="0"/>
                <a:cs typeface="Calibri" panose="020F0502020204030204" pitchFamily="34" charset="0"/>
              </a:rPr>
              <a:t> </a:t>
            </a:r>
            <a:r>
              <a:rPr lang="en-US" dirty="0">
                <a:effectLst/>
              </a:rPr>
              <a:t>Algorithm - </a:t>
            </a:r>
            <a:r>
              <a:rPr lang="en-US" sz="3600" b="1" dirty="0">
                <a:ea typeface="Calibri" panose="020F0502020204030204" pitchFamily="34" charset="0"/>
                <a:cs typeface="Calibri" panose="020F0502020204030204" pitchFamily="34" charset="0"/>
              </a:rPr>
              <a:t>Failure Function</a:t>
            </a:r>
            <a:endParaRPr lang="en-US" dirty="0"/>
          </a:p>
        </p:txBody>
      </p:sp>
      <p:pic>
        <p:nvPicPr>
          <p:cNvPr id="9" name="Content Placeholder 8">
            <a:extLst>
              <a:ext uri="{FF2B5EF4-FFF2-40B4-BE49-F238E27FC236}">
                <a16:creationId xmlns:a16="http://schemas.microsoft.com/office/drawing/2014/main" id="{68C3DBDC-258F-AE9D-71F8-A592CE8C5609}"/>
              </a:ext>
            </a:extLst>
          </p:cNvPr>
          <p:cNvPicPr>
            <a:picLocks noGrp="1" noChangeAspect="1"/>
          </p:cNvPicPr>
          <p:nvPr>
            <p:ph sz="quarter" idx="13"/>
          </p:nvPr>
        </p:nvPicPr>
        <p:blipFill>
          <a:blip r:embed="rId2"/>
          <a:stretch>
            <a:fillRect/>
          </a:stretch>
        </p:blipFill>
        <p:spPr>
          <a:xfrm>
            <a:off x="2887375" y="1700389"/>
            <a:ext cx="6818403" cy="1304067"/>
          </a:xfrm>
        </p:spPr>
      </p:pic>
      <p:pic>
        <p:nvPicPr>
          <p:cNvPr id="11" name="Content Placeholder 10">
            <a:extLst>
              <a:ext uri="{FF2B5EF4-FFF2-40B4-BE49-F238E27FC236}">
                <a16:creationId xmlns:a16="http://schemas.microsoft.com/office/drawing/2014/main" id="{56D8B75C-E0C5-1995-9DF4-A1FA5744F17D}"/>
              </a:ext>
            </a:extLst>
          </p:cNvPr>
          <p:cNvPicPr>
            <a:picLocks noGrp="1" noChangeAspect="1"/>
          </p:cNvPicPr>
          <p:nvPr>
            <p:ph sz="quarter" idx="14"/>
          </p:nvPr>
        </p:nvPicPr>
        <p:blipFill>
          <a:blip r:embed="rId3"/>
          <a:stretch>
            <a:fillRect/>
          </a:stretch>
        </p:blipFill>
        <p:spPr>
          <a:xfrm>
            <a:off x="1869513" y="3853545"/>
            <a:ext cx="8912042" cy="1097279"/>
          </a:xfrm>
        </p:spPr>
      </p:pic>
    </p:spTree>
    <p:extLst>
      <p:ext uri="{BB962C8B-B14F-4D97-AF65-F5344CB8AC3E}">
        <p14:creationId xmlns:p14="http://schemas.microsoft.com/office/powerpoint/2010/main" val="3943229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4"/>
            </a:pPr>
            <a:r>
              <a:rPr lang="en-US" sz="3600" dirty="0" err="1">
                <a:ea typeface="Calibri" panose="020F0502020204030204" pitchFamily="34" charset="0"/>
                <a:cs typeface="Calibri" panose="020F0502020204030204" pitchFamily="34" charset="0"/>
              </a:rPr>
              <a:t>Aho-Corasick</a:t>
            </a:r>
            <a:r>
              <a:rPr lang="en-US" sz="3600" dirty="0">
                <a:ea typeface="Calibri" panose="020F0502020204030204" pitchFamily="34" charset="0"/>
                <a:cs typeface="Calibri" panose="020F0502020204030204" pitchFamily="34" charset="0"/>
              </a:rPr>
              <a:t> </a:t>
            </a:r>
            <a:r>
              <a:rPr lang="en-US" dirty="0">
                <a:effectLst/>
              </a:rPr>
              <a:t>Algorithm - </a:t>
            </a:r>
            <a:r>
              <a:rPr lang="en-US" sz="3600" b="1" dirty="0">
                <a:ea typeface="Calibri" panose="020F0502020204030204" pitchFamily="34" charset="0"/>
                <a:cs typeface="Calibri" panose="020F0502020204030204" pitchFamily="34" charset="0"/>
              </a:rPr>
              <a:t>Output Function</a:t>
            </a:r>
            <a:endParaRPr lang="en-US" dirty="0"/>
          </a:p>
        </p:txBody>
      </p:sp>
      <p:pic>
        <p:nvPicPr>
          <p:cNvPr id="9" name="Content Placeholder 8">
            <a:extLst>
              <a:ext uri="{FF2B5EF4-FFF2-40B4-BE49-F238E27FC236}">
                <a16:creationId xmlns:a16="http://schemas.microsoft.com/office/drawing/2014/main" id="{0BCE5142-DB87-24EC-36DD-9107CDEFFB6A}"/>
              </a:ext>
            </a:extLst>
          </p:cNvPr>
          <p:cNvPicPr>
            <a:picLocks noGrp="1" noChangeAspect="1"/>
          </p:cNvPicPr>
          <p:nvPr>
            <p:ph sz="quarter" idx="13"/>
          </p:nvPr>
        </p:nvPicPr>
        <p:blipFill>
          <a:blip r:embed="rId2"/>
          <a:stretch>
            <a:fillRect/>
          </a:stretch>
        </p:blipFill>
        <p:spPr>
          <a:xfrm>
            <a:off x="1059484" y="1760185"/>
            <a:ext cx="5657001" cy="1320472"/>
          </a:xfrm>
        </p:spPr>
      </p:pic>
      <p:pic>
        <p:nvPicPr>
          <p:cNvPr id="7" name="Content Placeholder 6">
            <a:extLst>
              <a:ext uri="{FF2B5EF4-FFF2-40B4-BE49-F238E27FC236}">
                <a16:creationId xmlns:a16="http://schemas.microsoft.com/office/drawing/2014/main" id="{EF9AEBED-DF7C-22B4-A92D-0CE78AB6B1BC}"/>
              </a:ext>
            </a:extLst>
          </p:cNvPr>
          <p:cNvPicPr>
            <a:picLocks noGrp="1" noChangeAspect="1"/>
          </p:cNvPicPr>
          <p:nvPr>
            <p:ph sz="quarter" idx="14"/>
          </p:nvPr>
        </p:nvPicPr>
        <p:blipFill>
          <a:blip r:embed="rId3"/>
          <a:stretch>
            <a:fillRect/>
          </a:stretch>
        </p:blipFill>
        <p:spPr>
          <a:xfrm>
            <a:off x="7341906" y="1648478"/>
            <a:ext cx="3935693" cy="1961902"/>
          </a:xfrm>
        </p:spPr>
      </p:pic>
      <p:pic>
        <p:nvPicPr>
          <p:cNvPr id="11" name="Picture 10">
            <a:extLst>
              <a:ext uri="{FF2B5EF4-FFF2-40B4-BE49-F238E27FC236}">
                <a16:creationId xmlns:a16="http://schemas.microsoft.com/office/drawing/2014/main" id="{69129AC8-B950-8BBF-6B5B-8B7B59C7E326}"/>
              </a:ext>
            </a:extLst>
          </p:cNvPr>
          <p:cNvPicPr>
            <a:picLocks noChangeAspect="1"/>
          </p:cNvPicPr>
          <p:nvPr/>
        </p:nvPicPr>
        <p:blipFill>
          <a:blip r:embed="rId4"/>
          <a:stretch>
            <a:fillRect/>
          </a:stretch>
        </p:blipFill>
        <p:spPr>
          <a:xfrm>
            <a:off x="765450" y="3613681"/>
            <a:ext cx="10816950" cy="2482319"/>
          </a:xfrm>
          <a:prstGeom prst="rect">
            <a:avLst/>
          </a:prstGeom>
        </p:spPr>
      </p:pic>
    </p:spTree>
    <p:extLst>
      <p:ext uri="{BB962C8B-B14F-4D97-AF65-F5344CB8AC3E}">
        <p14:creationId xmlns:p14="http://schemas.microsoft.com/office/powerpoint/2010/main" val="2777315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5"/>
            </a:pPr>
            <a:r>
              <a:rPr lang="en-US" dirty="0">
                <a:ea typeface="Calibri" panose="020F0502020204030204" pitchFamily="34" charset="0"/>
                <a:cs typeface="Calibri" panose="020F0502020204030204" pitchFamily="34" charset="0"/>
              </a:rPr>
              <a:t>Shift-Add </a:t>
            </a:r>
            <a:r>
              <a:rPr lang="en-US" dirty="0">
                <a:effectLst/>
              </a:rPr>
              <a:t>Algorithm</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The Shift-Add algorithm, developed by </a:t>
            </a:r>
            <a:r>
              <a:rPr lang="en-US" sz="2600" dirty="0" err="1">
                <a:effectLst/>
                <a:latin typeface="Calibri" panose="020F0502020204030204" pitchFamily="34" charset="0"/>
                <a:ea typeface="Calibri" panose="020F0502020204030204" pitchFamily="34" charset="0"/>
                <a:cs typeface="Calibri" panose="020F0502020204030204" pitchFamily="34" charset="0"/>
              </a:rPr>
              <a:t>Baeza</a:t>
            </a:r>
            <a:r>
              <a:rPr lang="en-US" sz="2600" dirty="0">
                <a:effectLst/>
                <a:latin typeface="Calibri" panose="020F0502020204030204" pitchFamily="34" charset="0"/>
                <a:ea typeface="Calibri" panose="020F0502020204030204" pitchFamily="34" charset="0"/>
                <a:cs typeface="Calibri" panose="020F0502020204030204" pitchFamily="34" charset="0"/>
              </a:rPr>
              <a:t>-Yates and </a:t>
            </a:r>
            <a:r>
              <a:rPr lang="en-US" sz="2600" dirty="0" err="1">
                <a:effectLst/>
                <a:latin typeface="Calibri" panose="020F0502020204030204" pitchFamily="34" charset="0"/>
                <a:ea typeface="Calibri" panose="020F0502020204030204" pitchFamily="34" charset="0"/>
                <a:cs typeface="Calibri" panose="020F0502020204030204" pitchFamily="34" charset="0"/>
              </a:rPr>
              <a:t>Gonnet</a:t>
            </a:r>
            <a:r>
              <a:rPr lang="en-US" sz="2600" dirty="0">
                <a:effectLst/>
                <a:latin typeface="Calibri" panose="020F0502020204030204" pitchFamily="34" charset="0"/>
                <a:ea typeface="Calibri" panose="020F0502020204030204" pitchFamily="34" charset="0"/>
                <a:cs typeface="Calibri" panose="020F0502020204030204" pitchFamily="34" charset="0"/>
              </a:rPr>
              <a:t>, </a:t>
            </a:r>
            <a:r>
              <a:rPr lang="en-US" sz="2600" b="1" dirty="0">
                <a:effectLst/>
                <a:latin typeface="Calibri" panose="020F0502020204030204" pitchFamily="34" charset="0"/>
                <a:ea typeface="Calibri" panose="020F0502020204030204" pitchFamily="34" charset="0"/>
                <a:cs typeface="Calibri" panose="020F0502020204030204" pitchFamily="34" charset="0"/>
              </a:rPr>
              <a:t>handles fuzzy matching (allowing mismatches, "don’t care" symbols, and complements). </a:t>
            </a:r>
          </a:p>
          <a:p>
            <a:r>
              <a:rPr lang="en-US" sz="2600" dirty="0">
                <a:effectLst/>
                <a:latin typeface="Calibri" panose="020F0502020204030204" pitchFamily="34" charset="0"/>
                <a:ea typeface="Calibri" panose="020F0502020204030204" pitchFamily="34" charset="0"/>
                <a:cs typeface="Calibri" panose="020F0502020204030204" pitchFamily="34" charset="0"/>
              </a:rPr>
              <a:t>It uses a vector </a:t>
            </a:r>
            <a:r>
              <a:rPr lang="en-US" sz="3600" b="1" i="1" dirty="0">
                <a:effectLst/>
                <a:latin typeface="Calibri" panose="020F0502020204030204" pitchFamily="34" charset="0"/>
                <a:ea typeface="Calibri" panose="020F0502020204030204" pitchFamily="34" charset="0"/>
                <a:cs typeface="Calibri" panose="020F0502020204030204" pitchFamily="34" charset="0"/>
              </a:rPr>
              <a:t>s(j)</a:t>
            </a:r>
            <a:r>
              <a:rPr lang="en-US" sz="2600" dirty="0">
                <a:effectLst/>
                <a:latin typeface="Calibri" panose="020F0502020204030204" pitchFamily="34" charset="0"/>
                <a:ea typeface="Calibri" panose="020F0502020204030204" pitchFamily="34" charset="0"/>
                <a:cs typeface="Calibri" panose="020F0502020204030204" pitchFamily="34" charset="0"/>
              </a:rPr>
              <a:t> to track the number of mismatches between the pattern and the text at position </a:t>
            </a:r>
            <a:r>
              <a:rPr lang="en-US" sz="3600" b="1" i="1" dirty="0">
                <a:effectLst/>
                <a:latin typeface="Calibri" panose="020F0502020204030204" pitchFamily="34" charset="0"/>
                <a:ea typeface="Calibri" panose="020F0502020204030204" pitchFamily="34" charset="0"/>
                <a:cs typeface="Calibri" panose="020F0502020204030204" pitchFamily="34" charset="0"/>
              </a:rPr>
              <a:t>j</a:t>
            </a:r>
            <a:r>
              <a:rPr lang="en-US" sz="2600" dirty="0">
                <a:effectLst/>
                <a:latin typeface="Calibri" panose="020F0502020204030204" pitchFamily="34" charset="0"/>
                <a:ea typeface="Calibri" panose="020F0502020204030204" pitchFamily="34" charset="0"/>
                <a:cs typeface="Calibri" panose="020F0502020204030204" pitchFamily="34" charset="0"/>
              </a:rPr>
              <a:t>. The vector is updated as the text is processed:</a:t>
            </a:r>
          </a:p>
          <a:p>
            <a:endParaRPr lang="en-US" sz="2600" dirty="0">
              <a:effectLst/>
              <a:latin typeface="Calibri" panose="020F0502020204030204" pitchFamily="34" charset="0"/>
              <a:ea typeface="Calibri" panose="020F0502020204030204" pitchFamily="34" charset="0"/>
              <a:cs typeface="Calibri" panose="020F0502020204030204" pitchFamily="34" charset="0"/>
            </a:endParaRPr>
          </a:p>
          <a:p>
            <a:endParaRPr lang="en-US" sz="2600" dirty="0">
              <a:effectLst/>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78A4737F-D3EB-91A6-5FCA-08E8C83088FA}"/>
              </a:ext>
            </a:extLst>
          </p:cNvPr>
          <p:cNvPicPr>
            <a:picLocks noChangeAspect="1"/>
          </p:cNvPicPr>
          <p:nvPr/>
        </p:nvPicPr>
        <p:blipFill>
          <a:blip r:embed="rId2"/>
          <a:stretch>
            <a:fillRect/>
          </a:stretch>
        </p:blipFill>
        <p:spPr>
          <a:xfrm>
            <a:off x="878430" y="3962401"/>
            <a:ext cx="10703969" cy="1600498"/>
          </a:xfrm>
          <a:prstGeom prst="rect">
            <a:avLst/>
          </a:prstGeom>
        </p:spPr>
      </p:pic>
    </p:spTree>
    <p:extLst>
      <p:ext uri="{BB962C8B-B14F-4D97-AF65-F5344CB8AC3E}">
        <p14:creationId xmlns:p14="http://schemas.microsoft.com/office/powerpoint/2010/main" val="469068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5"/>
            </a:pPr>
            <a:r>
              <a:rPr lang="en-US" dirty="0">
                <a:ea typeface="Calibri" panose="020F0502020204030204" pitchFamily="34" charset="0"/>
                <a:cs typeface="Calibri" panose="020F0502020204030204" pitchFamily="34" charset="0"/>
              </a:rPr>
              <a:t>Shift-Add </a:t>
            </a:r>
            <a:r>
              <a:rPr lang="en-US" dirty="0">
                <a:effectLst/>
              </a:rPr>
              <a:t>Algorithm - Example</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a:xfrm>
            <a:off x="202959" y="1441450"/>
            <a:ext cx="11623160" cy="4709968"/>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search pattern be </a:t>
            </a:r>
            <a:r>
              <a:rPr lang="en-US" sz="2600" b="1" dirty="0" err="1">
                <a:latin typeface="Calibri" panose="020F0502020204030204" pitchFamily="34" charset="0"/>
                <a:ea typeface="Calibri" panose="020F0502020204030204" pitchFamily="34" charset="0"/>
                <a:cs typeface="Calibri" panose="020F0502020204030204" pitchFamily="34" charset="0"/>
              </a:rPr>
              <a:t>ababc</a:t>
            </a:r>
            <a:r>
              <a:rPr lang="en-US" sz="2600" b="1" dirty="0">
                <a:latin typeface="Calibri" panose="020F0502020204030204" pitchFamily="34" charset="0"/>
                <a:ea typeface="Calibri" panose="020F0502020204030204" pitchFamily="34" charset="0"/>
                <a:cs typeface="Calibri" panose="020F0502020204030204" pitchFamily="34" charset="0"/>
              </a:rPr>
              <a:t> (m = 5) </a:t>
            </a:r>
          </a:p>
          <a:p>
            <a:r>
              <a:rPr lang="en-US" sz="2600" dirty="0">
                <a:latin typeface="Calibri" panose="020F0502020204030204" pitchFamily="34" charset="0"/>
                <a:ea typeface="Calibri" panose="020F0502020204030204" pitchFamily="34" charset="0"/>
                <a:cs typeface="Calibri" panose="020F0502020204030204" pitchFamily="34" charset="0"/>
              </a:rPr>
              <a:t>A segment of input text to be </a:t>
            </a:r>
            <a:r>
              <a:rPr lang="en-US" sz="2600" b="1" dirty="0" err="1">
                <a:latin typeface="Calibri" panose="020F0502020204030204" pitchFamily="34" charset="0"/>
                <a:ea typeface="Calibri" panose="020F0502020204030204" pitchFamily="34" charset="0"/>
                <a:cs typeface="Calibri" panose="020F0502020204030204" pitchFamily="34" charset="0"/>
              </a:rPr>
              <a:t>cbbabababcaba</a:t>
            </a:r>
            <a:endParaRPr lang="en-US" sz="2600" b="1"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57E6F668-B732-7964-300A-F8D3ACBA1F07}"/>
              </a:ext>
            </a:extLst>
          </p:cNvPr>
          <p:cNvPicPr>
            <a:picLocks noChangeAspect="1"/>
          </p:cNvPicPr>
          <p:nvPr/>
        </p:nvPicPr>
        <p:blipFill>
          <a:blip r:embed="rId2"/>
          <a:stretch>
            <a:fillRect/>
          </a:stretch>
        </p:blipFill>
        <p:spPr>
          <a:xfrm>
            <a:off x="6705600" y="2667433"/>
            <a:ext cx="4963885" cy="3330596"/>
          </a:xfrm>
          <a:prstGeom prst="rect">
            <a:avLst/>
          </a:prstGeom>
        </p:spPr>
      </p:pic>
      <p:pic>
        <p:nvPicPr>
          <p:cNvPr id="7" name="Picture 6">
            <a:extLst>
              <a:ext uri="{FF2B5EF4-FFF2-40B4-BE49-F238E27FC236}">
                <a16:creationId xmlns:a16="http://schemas.microsoft.com/office/drawing/2014/main" id="{82D21DC8-293A-92BF-D27D-4747A30F0188}"/>
              </a:ext>
            </a:extLst>
          </p:cNvPr>
          <p:cNvPicPr>
            <a:picLocks noChangeAspect="1"/>
          </p:cNvPicPr>
          <p:nvPr/>
        </p:nvPicPr>
        <p:blipFill>
          <a:blip r:embed="rId3"/>
          <a:stretch>
            <a:fillRect/>
          </a:stretch>
        </p:blipFill>
        <p:spPr>
          <a:xfrm>
            <a:off x="365881" y="2939144"/>
            <a:ext cx="7069040" cy="2166752"/>
          </a:xfrm>
          <a:prstGeom prst="rect">
            <a:avLst/>
          </a:prstGeom>
        </p:spPr>
      </p:pic>
      <p:pic>
        <p:nvPicPr>
          <p:cNvPr id="9" name="Picture 8">
            <a:extLst>
              <a:ext uri="{FF2B5EF4-FFF2-40B4-BE49-F238E27FC236}">
                <a16:creationId xmlns:a16="http://schemas.microsoft.com/office/drawing/2014/main" id="{AC523096-50CA-B16F-12F9-D020887D9959}"/>
              </a:ext>
            </a:extLst>
          </p:cNvPr>
          <p:cNvPicPr>
            <a:picLocks noChangeAspect="1"/>
          </p:cNvPicPr>
          <p:nvPr/>
        </p:nvPicPr>
        <p:blipFill>
          <a:blip r:embed="rId4"/>
          <a:stretch>
            <a:fillRect/>
          </a:stretch>
        </p:blipFill>
        <p:spPr>
          <a:xfrm>
            <a:off x="202959" y="5234696"/>
            <a:ext cx="6611498" cy="599682"/>
          </a:xfrm>
          <a:prstGeom prst="rect">
            <a:avLst/>
          </a:prstGeom>
        </p:spPr>
      </p:pic>
      <p:pic>
        <p:nvPicPr>
          <p:cNvPr id="11" name="Picture 10">
            <a:extLst>
              <a:ext uri="{FF2B5EF4-FFF2-40B4-BE49-F238E27FC236}">
                <a16:creationId xmlns:a16="http://schemas.microsoft.com/office/drawing/2014/main" id="{A320F64D-2F6F-88BE-BA79-E1794CE9BE97}"/>
              </a:ext>
            </a:extLst>
          </p:cNvPr>
          <p:cNvPicPr>
            <a:picLocks noChangeAspect="1"/>
          </p:cNvPicPr>
          <p:nvPr/>
        </p:nvPicPr>
        <p:blipFill>
          <a:blip r:embed="rId5"/>
          <a:stretch>
            <a:fillRect/>
          </a:stretch>
        </p:blipFill>
        <p:spPr>
          <a:xfrm>
            <a:off x="7335963" y="1639719"/>
            <a:ext cx="4246437" cy="456458"/>
          </a:xfrm>
          <a:prstGeom prst="rect">
            <a:avLst/>
          </a:prstGeom>
        </p:spPr>
      </p:pic>
    </p:spTree>
    <p:extLst>
      <p:ext uri="{BB962C8B-B14F-4D97-AF65-F5344CB8AC3E}">
        <p14:creationId xmlns:p14="http://schemas.microsoft.com/office/powerpoint/2010/main" val="2075883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5"/>
            </a:pPr>
            <a:r>
              <a:rPr lang="en-US" dirty="0">
                <a:ea typeface="Calibri" panose="020F0502020204030204" pitchFamily="34" charset="0"/>
                <a:cs typeface="Calibri" panose="020F0502020204030204" pitchFamily="34" charset="0"/>
              </a:rPr>
              <a:t>Shift-Add </a:t>
            </a:r>
            <a:r>
              <a:rPr lang="en-US" dirty="0">
                <a:effectLst/>
              </a:rPr>
              <a:t>Algorithm</a:t>
            </a:r>
            <a:endParaRPr lang="en-US" dirty="0"/>
          </a:p>
        </p:txBody>
      </p:sp>
      <p:pic>
        <p:nvPicPr>
          <p:cNvPr id="9" name="Content Placeholder 8">
            <a:extLst>
              <a:ext uri="{FF2B5EF4-FFF2-40B4-BE49-F238E27FC236}">
                <a16:creationId xmlns:a16="http://schemas.microsoft.com/office/drawing/2014/main" id="{0A92D962-95FC-E7E7-B45B-DD329AF00EE5}"/>
              </a:ext>
            </a:extLst>
          </p:cNvPr>
          <p:cNvPicPr>
            <a:picLocks noGrp="1" noChangeAspect="1"/>
          </p:cNvPicPr>
          <p:nvPr>
            <p:ph sz="quarter" idx="13"/>
          </p:nvPr>
        </p:nvPicPr>
        <p:blipFill>
          <a:blip r:embed="rId2"/>
          <a:stretch>
            <a:fillRect/>
          </a:stretch>
        </p:blipFill>
        <p:spPr>
          <a:xfrm>
            <a:off x="368318" y="2079211"/>
            <a:ext cx="5858310" cy="2699577"/>
          </a:xfrm>
        </p:spPr>
      </p:pic>
      <p:pic>
        <p:nvPicPr>
          <p:cNvPr id="3" name="Picture 2">
            <a:extLst>
              <a:ext uri="{FF2B5EF4-FFF2-40B4-BE49-F238E27FC236}">
                <a16:creationId xmlns:a16="http://schemas.microsoft.com/office/drawing/2014/main" id="{E4149533-EA34-FEFD-5B45-8CD118F38B4A}"/>
              </a:ext>
            </a:extLst>
          </p:cNvPr>
          <p:cNvPicPr>
            <a:picLocks noChangeAspect="1"/>
          </p:cNvPicPr>
          <p:nvPr/>
        </p:nvPicPr>
        <p:blipFill>
          <a:blip r:embed="rId3"/>
          <a:stretch>
            <a:fillRect/>
          </a:stretch>
        </p:blipFill>
        <p:spPr>
          <a:xfrm>
            <a:off x="5889172" y="1441449"/>
            <a:ext cx="5693228" cy="4447721"/>
          </a:xfrm>
          <a:prstGeom prst="rect">
            <a:avLst/>
          </a:prstGeom>
        </p:spPr>
      </p:pic>
      <p:pic>
        <p:nvPicPr>
          <p:cNvPr id="7" name="Picture 6">
            <a:extLst>
              <a:ext uri="{FF2B5EF4-FFF2-40B4-BE49-F238E27FC236}">
                <a16:creationId xmlns:a16="http://schemas.microsoft.com/office/drawing/2014/main" id="{4D3D8524-138A-3416-4F13-8E32ACAECF15}"/>
              </a:ext>
            </a:extLst>
          </p:cNvPr>
          <p:cNvPicPr>
            <a:picLocks noChangeAspect="1"/>
          </p:cNvPicPr>
          <p:nvPr/>
        </p:nvPicPr>
        <p:blipFill>
          <a:blip r:embed="rId4"/>
          <a:stretch>
            <a:fillRect/>
          </a:stretch>
        </p:blipFill>
        <p:spPr>
          <a:xfrm>
            <a:off x="368318" y="1569574"/>
            <a:ext cx="5443395" cy="298268"/>
          </a:xfrm>
          <a:prstGeom prst="rect">
            <a:avLst/>
          </a:prstGeom>
        </p:spPr>
      </p:pic>
      <p:pic>
        <p:nvPicPr>
          <p:cNvPr id="11" name="Picture 10">
            <a:extLst>
              <a:ext uri="{FF2B5EF4-FFF2-40B4-BE49-F238E27FC236}">
                <a16:creationId xmlns:a16="http://schemas.microsoft.com/office/drawing/2014/main" id="{9FCE89CE-927E-DC55-03E3-CE50FE712A13}"/>
              </a:ext>
            </a:extLst>
          </p:cNvPr>
          <p:cNvPicPr>
            <a:picLocks noChangeAspect="1"/>
          </p:cNvPicPr>
          <p:nvPr/>
        </p:nvPicPr>
        <p:blipFill>
          <a:blip r:embed="rId5"/>
          <a:stretch>
            <a:fillRect/>
          </a:stretch>
        </p:blipFill>
        <p:spPr>
          <a:xfrm>
            <a:off x="393051" y="5545348"/>
            <a:ext cx="5702949" cy="324984"/>
          </a:xfrm>
          <a:prstGeom prst="rect">
            <a:avLst/>
          </a:prstGeom>
        </p:spPr>
      </p:pic>
    </p:spTree>
    <p:extLst>
      <p:ext uri="{BB962C8B-B14F-4D97-AF65-F5344CB8AC3E}">
        <p14:creationId xmlns:p14="http://schemas.microsoft.com/office/powerpoint/2010/main" val="2664133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5"/>
            </a:pPr>
            <a:r>
              <a:rPr lang="en-US" dirty="0">
                <a:ea typeface="Calibri" panose="020F0502020204030204" pitchFamily="34" charset="0"/>
                <a:cs typeface="Calibri" panose="020F0502020204030204" pitchFamily="34" charset="0"/>
              </a:rPr>
              <a:t>Shift-Add </a:t>
            </a:r>
            <a:r>
              <a:rPr lang="en-US" dirty="0">
                <a:effectLst/>
              </a:rPr>
              <a:t>Algorithm</a:t>
            </a:r>
            <a:endParaRPr lang="en-US" dirty="0"/>
          </a:p>
        </p:txBody>
      </p:sp>
      <p:pic>
        <p:nvPicPr>
          <p:cNvPr id="9" name="Picture 8">
            <a:extLst>
              <a:ext uri="{FF2B5EF4-FFF2-40B4-BE49-F238E27FC236}">
                <a16:creationId xmlns:a16="http://schemas.microsoft.com/office/drawing/2014/main" id="{83DBF173-F5B9-AB0E-602D-3B4A5074FFC6}"/>
              </a:ext>
            </a:extLst>
          </p:cNvPr>
          <p:cNvPicPr>
            <a:picLocks noChangeAspect="1"/>
          </p:cNvPicPr>
          <p:nvPr/>
        </p:nvPicPr>
        <p:blipFill>
          <a:blip r:embed="rId2"/>
          <a:stretch>
            <a:fillRect/>
          </a:stretch>
        </p:blipFill>
        <p:spPr>
          <a:xfrm>
            <a:off x="1456830" y="1390635"/>
            <a:ext cx="7676283" cy="2952765"/>
          </a:xfrm>
          <a:prstGeom prst="rect">
            <a:avLst/>
          </a:prstGeom>
        </p:spPr>
      </p:pic>
    </p:spTree>
    <p:extLst>
      <p:ext uri="{BB962C8B-B14F-4D97-AF65-F5344CB8AC3E}">
        <p14:creationId xmlns:p14="http://schemas.microsoft.com/office/powerpoint/2010/main" val="2164193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pPr marL="742950" indent="-742950">
              <a:buFont typeface="+mj-lt"/>
              <a:buAutoNum type="arabicPeriod" startAt="5"/>
            </a:pPr>
            <a:r>
              <a:rPr lang="en-US" dirty="0">
                <a:ea typeface="Calibri" panose="020F0502020204030204" pitchFamily="34" charset="0"/>
                <a:cs typeface="Calibri" panose="020F0502020204030204" pitchFamily="34" charset="0"/>
              </a:rPr>
              <a:t>Shift-Add </a:t>
            </a:r>
            <a:r>
              <a:rPr lang="en-US" dirty="0">
                <a:effectLst/>
              </a:rPr>
              <a:t>Algorithm</a:t>
            </a:r>
            <a:endParaRPr lang="en-US" dirty="0"/>
          </a:p>
        </p:txBody>
      </p:sp>
      <p:pic>
        <p:nvPicPr>
          <p:cNvPr id="5" name="Picture 4">
            <a:extLst>
              <a:ext uri="{FF2B5EF4-FFF2-40B4-BE49-F238E27FC236}">
                <a16:creationId xmlns:a16="http://schemas.microsoft.com/office/drawing/2014/main" id="{AAEBE1E2-5523-E4F9-228A-FB49316CF2A9}"/>
              </a:ext>
            </a:extLst>
          </p:cNvPr>
          <p:cNvPicPr>
            <a:picLocks noChangeAspect="1"/>
          </p:cNvPicPr>
          <p:nvPr/>
        </p:nvPicPr>
        <p:blipFill>
          <a:blip r:embed="rId2"/>
          <a:stretch>
            <a:fillRect/>
          </a:stretch>
        </p:blipFill>
        <p:spPr>
          <a:xfrm>
            <a:off x="1286647" y="1513115"/>
            <a:ext cx="9958296" cy="3967052"/>
          </a:xfrm>
          <a:prstGeom prst="rect">
            <a:avLst/>
          </a:prstGeom>
        </p:spPr>
      </p:pic>
    </p:spTree>
    <p:extLst>
      <p:ext uri="{BB962C8B-B14F-4D97-AF65-F5344CB8AC3E}">
        <p14:creationId xmlns:p14="http://schemas.microsoft.com/office/powerpoint/2010/main" val="1786380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609600" y="215373"/>
            <a:ext cx="10972800" cy="862314"/>
          </a:xfrm>
        </p:spPr>
        <p:txBody>
          <a:bodyPr/>
          <a:lstStyle/>
          <a:p>
            <a:r>
              <a:rPr lang="en-US" dirty="0">
                <a:effectLst/>
              </a:rPr>
              <a:t>Hardware Text Search Systems - Introduction</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a:xfrm>
            <a:off x="609601" y="957943"/>
            <a:ext cx="10977033" cy="5193475"/>
          </a:xfrm>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Hardware text search systems were developed to </a:t>
            </a:r>
            <a:r>
              <a:rPr lang="en-US" sz="2400" b="1" dirty="0">
                <a:latin typeface="Calibri" panose="020F0502020204030204" pitchFamily="34" charset="0"/>
                <a:ea typeface="Calibri" panose="020F0502020204030204" pitchFamily="34" charset="0"/>
                <a:cs typeface="Calibri" panose="020F0502020204030204" pitchFamily="34" charset="0"/>
              </a:rPr>
              <a:t>offload</a:t>
            </a:r>
            <a:r>
              <a:rPr lang="en-US" sz="2400" dirty="0">
                <a:latin typeface="Calibri" panose="020F0502020204030204" pitchFamily="34" charset="0"/>
                <a:ea typeface="Calibri" panose="020F0502020204030204" pitchFamily="34" charset="0"/>
                <a:cs typeface="Calibri" panose="020F0502020204030204" pitchFamily="34" charset="0"/>
              </a:rPr>
              <a:t> the computationally intensive task of searching large text databases from general-purpose computers to specialized hardware. </a:t>
            </a:r>
          </a:p>
          <a:p>
            <a:r>
              <a:rPr lang="en-US" sz="2400" dirty="0">
                <a:latin typeface="Calibri" panose="020F0502020204030204" pitchFamily="34" charset="0"/>
                <a:ea typeface="Calibri" panose="020F0502020204030204" pitchFamily="34" charset="0"/>
                <a:cs typeface="Calibri" panose="020F0502020204030204" pitchFamily="34" charset="0"/>
              </a:rPr>
              <a:t>This approach emerged in the 1970s due to limitations in software-based search systems, such as:</a:t>
            </a:r>
          </a:p>
          <a:p>
            <a:pPr lvl="1"/>
            <a:r>
              <a:rPr lang="en-US" sz="2400" b="1" dirty="0">
                <a:latin typeface="Calibri" panose="020F0502020204030204" pitchFamily="34" charset="0"/>
                <a:ea typeface="Calibri" panose="020F0502020204030204" pitchFamily="34" charset="0"/>
                <a:cs typeface="Calibri" panose="020F0502020204030204" pitchFamily="34" charset="0"/>
              </a:rPr>
              <a:t>Scalability Issues</a:t>
            </a:r>
            <a:r>
              <a:rPr lang="en-US" sz="2400" dirty="0">
                <a:latin typeface="Calibri" panose="020F0502020204030204" pitchFamily="34" charset="0"/>
                <a:ea typeface="Calibri" panose="020F0502020204030204" pitchFamily="34" charset="0"/>
                <a:cs typeface="Calibri" panose="020F0502020204030204" pitchFamily="34" charset="0"/>
              </a:rPr>
              <a:t>: Software systems struggled to handle many search terms simultaneously against the same text.</a:t>
            </a:r>
          </a:p>
          <a:p>
            <a:pPr lvl="1"/>
            <a:r>
              <a:rPr lang="en-US" sz="2400" b="1" dirty="0">
                <a:latin typeface="Calibri" panose="020F0502020204030204" pitchFamily="34" charset="0"/>
                <a:ea typeface="Calibri" panose="020F0502020204030204" pitchFamily="34" charset="0"/>
                <a:cs typeface="Calibri" panose="020F0502020204030204" pitchFamily="34" charset="0"/>
              </a:rPr>
              <a:t>I/O Bottlenecks</a:t>
            </a:r>
            <a:r>
              <a:rPr lang="en-US" sz="2400" dirty="0">
                <a:latin typeface="Calibri" panose="020F0502020204030204" pitchFamily="34" charset="0"/>
                <a:ea typeface="Calibri" panose="020F0502020204030204" pitchFamily="34" charset="0"/>
                <a:cs typeface="Calibri" panose="020F0502020204030204" pitchFamily="34" charset="0"/>
              </a:rPr>
              <a:t>: The speed of transferring data from secondary storage (like disk drives) to the processor limited search performance.</a:t>
            </a:r>
          </a:p>
          <a:p>
            <a:pPr lvl="1"/>
            <a:r>
              <a:rPr lang="en-US" sz="2400" b="1" dirty="0">
                <a:latin typeface="Calibri" panose="020F0502020204030204" pitchFamily="34" charset="0"/>
                <a:ea typeface="Calibri" panose="020F0502020204030204" pitchFamily="34" charset="0"/>
                <a:cs typeface="Calibri" panose="020F0502020204030204" pitchFamily="34" charset="0"/>
              </a:rPr>
              <a:t>Indexing Overhead</a:t>
            </a:r>
            <a:r>
              <a:rPr lang="en-US" sz="2400" dirty="0">
                <a:latin typeface="Calibri" panose="020F0502020204030204" pitchFamily="34" charset="0"/>
                <a:ea typeface="Calibri" panose="020F0502020204030204" pitchFamily="34" charset="0"/>
                <a:cs typeface="Calibri" panose="020F0502020204030204" pitchFamily="34" charset="0"/>
              </a:rPr>
              <a:t>: Traditional software search systems rely on indexes, which can be 70% the size of the actual data, requiring significant storage and time to build or update.</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1730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effectLst/>
              </a:rPr>
              <a:t>Hardware Text Search Systems - issues</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400" dirty="0">
                <a:latin typeface="Calibri" panose="020F0502020204030204" pitchFamily="34" charset="0"/>
                <a:ea typeface="Calibri" panose="020F0502020204030204" pitchFamily="34" charset="0"/>
                <a:cs typeface="Calibri" panose="020F0502020204030204" pitchFamily="34" charset="0"/>
              </a:rPr>
              <a:t>Hardware text search systems </a:t>
            </a:r>
            <a:r>
              <a:rPr lang="en-US" sz="2400" b="1" dirty="0">
                <a:latin typeface="Calibri" panose="020F0502020204030204" pitchFamily="34" charset="0"/>
                <a:ea typeface="Calibri" panose="020F0502020204030204" pitchFamily="34" charset="0"/>
                <a:cs typeface="Calibri" panose="020F0502020204030204" pitchFamily="34" charset="0"/>
              </a:rPr>
              <a:t>address these issues </a:t>
            </a:r>
            <a:r>
              <a:rPr lang="en-US" sz="2400" dirty="0">
                <a:latin typeface="Calibri" panose="020F0502020204030204" pitchFamily="34" charset="0"/>
                <a:ea typeface="Calibri" panose="020F0502020204030204" pitchFamily="34" charset="0"/>
                <a:cs typeface="Calibri" panose="020F0502020204030204" pitchFamily="34" charset="0"/>
              </a:rPr>
              <a:t>by:</a:t>
            </a:r>
          </a:p>
          <a:p>
            <a:pPr lvl="1"/>
            <a:r>
              <a:rPr lang="en-US" sz="2400" dirty="0">
                <a:latin typeface="Calibri" panose="020F0502020204030204" pitchFamily="34" charset="0"/>
                <a:ea typeface="Calibri" panose="020F0502020204030204" pitchFamily="34" charset="0"/>
                <a:cs typeface="Calibri" panose="020F0502020204030204" pitchFamily="34" charset="0"/>
              </a:rPr>
              <a:t>Using </a:t>
            </a:r>
            <a:r>
              <a:rPr lang="en-US" sz="2400" b="1" dirty="0">
                <a:latin typeface="Calibri" panose="020F0502020204030204" pitchFamily="34" charset="0"/>
                <a:ea typeface="Calibri" panose="020F0502020204030204" pitchFamily="34" charset="0"/>
                <a:cs typeface="Calibri" panose="020F0502020204030204" pitchFamily="34" charset="0"/>
              </a:rPr>
              <a:t>dedicated hardware </a:t>
            </a:r>
            <a:r>
              <a:rPr lang="en-US" sz="2400" dirty="0">
                <a:latin typeface="Calibri" panose="020F0502020204030204" pitchFamily="34" charset="0"/>
                <a:ea typeface="Calibri" panose="020F0502020204030204" pitchFamily="34" charset="0"/>
                <a:cs typeface="Calibri" panose="020F0502020204030204" pitchFamily="34" charset="0"/>
              </a:rPr>
              <a:t>to perform searches, freeing up the main computer for user interface and result retrieval.</a:t>
            </a:r>
          </a:p>
          <a:p>
            <a:pPr lvl="1"/>
            <a:r>
              <a:rPr lang="en-US" sz="2400" b="1" dirty="0">
                <a:latin typeface="Calibri" panose="020F0502020204030204" pitchFamily="34" charset="0"/>
                <a:ea typeface="Calibri" panose="020F0502020204030204" pitchFamily="34" charset="0"/>
                <a:cs typeface="Calibri" panose="020F0502020204030204" pitchFamily="34" charset="0"/>
              </a:rPr>
              <a:t>Eliminating the need for an index</a:t>
            </a:r>
            <a:r>
              <a:rPr lang="en-US" sz="2400" dirty="0">
                <a:latin typeface="Calibri" panose="020F0502020204030204" pitchFamily="34" charset="0"/>
                <a:ea typeface="Calibri" panose="020F0502020204030204" pitchFamily="34" charset="0"/>
                <a:cs typeface="Calibri" panose="020F0502020204030204" pitchFamily="34" charset="0"/>
              </a:rPr>
              <a:t>, allowing new data to be searched immediately upon receipt.</a:t>
            </a:r>
          </a:p>
          <a:p>
            <a:pPr lvl="1"/>
            <a:r>
              <a:rPr lang="en-US" sz="2400" dirty="0">
                <a:latin typeface="Calibri" panose="020F0502020204030204" pitchFamily="34" charset="0"/>
                <a:ea typeface="Calibri" panose="020F0502020204030204" pitchFamily="34" charset="0"/>
                <a:cs typeface="Calibri" panose="020F0502020204030204" pitchFamily="34" charset="0"/>
              </a:rPr>
              <a:t>Providing </a:t>
            </a:r>
            <a:r>
              <a:rPr lang="en-US" sz="2400" b="1" dirty="0">
                <a:latin typeface="Calibri" panose="020F0502020204030204" pitchFamily="34" charset="0"/>
                <a:ea typeface="Calibri" panose="020F0502020204030204" pitchFamily="34" charset="0"/>
                <a:cs typeface="Calibri" panose="020F0502020204030204" pitchFamily="34" charset="0"/>
              </a:rPr>
              <a:t>deterministic search times</a:t>
            </a:r>
            <a:r>
              <a:rPr lang="en-US" sz="2400" dirty="0">
                <a:latin typeface="Calibri" panose="020F0502020204030204" pitchFamily="34" charset="0"/>
                <a:ea typeface="Calibri" panose="020F0502020204030204" pitchFamily="34" charset="0"/>
                <a:cs typeface="Calibri" panose="020F0502020204030204" pitchFamily="34" charset="0"/>
              </a:rPr>
              <a:t>, as the speed depends only on the time to stream data from storage, not on the </a:t>
            </a:r>
            <a:r>
              <a:rPr lang="en-US" sz="2400" b="1" dirty="0">
                <a:latin typeface="Calibri" panose="020F0502020204030204" pitchFamily="34" charset="0"/>
                <a:ea typeface="Calibri" panose="020F0502020204030204" pitchFamily="34" charset="0"/>
                <a:cs typeface="Calibri" panose="020F0502020204030204" pitchFamily="34" charset="0"/>
              </a:rPr>
              <a:t>complexity of the query or database size</a:t>
            </a:r>
            <a:r>
              <a:rPr lang="en-US" sz="2400" dirty="0">
                <a:latin typeface="Calibri" panose="020F0502020204030204" pitchFamily="34" charset="0"/>
                <a:ea typeface="Calibri" panose="020F0502020204030204" pitchFamily="34" charset="0"/>
                <a:cs typeface="Calibri" panose="020F0502020204030204" pitchFamily="34" charset="0"/>
              </a:rPr>
              <a:t>.</a:t>
            </a:r>
          </a:p>
          <a:p>
            <a:r>
              <a:rPr lang="en-US" sz="2400" dirty="0">
                <a:latin typeface="Calibri" panose="020F0502020204030204" pitchFamily="34" charset="0"/>
                <a:ea typeface="Calibri" panose="020F0502020204030204" pitchFamily="34" charset="0"/>
                <a:cs typeface="Calibri" panose="020F0502020204030204" pitchFamily="34" charset="0"/>
              </a:rPr>
              <a:t>The </a:t>
            </a:r>
            <a:r>
              <a:rPr lang="en-US" sz="2400" b="1" dirty="0">
                <a:latin typeface="Calibri" panose="020F0502020204030204" pitchFamily="34" charset="0"/>
                <a:ea typeface="Calibri" panose="020F0502020204030204" pitchFamily="34" charset="0"/>
                <a:cs typeface="Calibri" panose="020F0502020204030204" pitchFamily="34" charset="0"/>
              </a:rPr>
              <a:t>maximum search time </a:t>
            </a:r>
            <a:r>
              <a:rPr lang="en-US" sz="2400" dirty="0">
                <a:latin typeface="Calibri" panose="020F0502020204030204" pitchFamily="34" charset="0"/>
                <a:ea typeface="Calibri" panose="020F0502020204030204" pitchFamily="34" charset="0"/>
                <a:cs typeface="Calibri" panose="020F0502020204030204" pitchFamily="34" charset="0"/>
              </a:rPr>
              <a:t>in such systems is the time to search one disk, achieved by assigning one hardware search unit per disk. This makes the system highly scalable—adding more </a:t>
            </a:r>
            <a:r>
              <a:rPr lang="en-US" sz="2400" b="1" dirty="0">
                <a:latin typeface="Calibri" panose="020F0502020204030204" pitchFamily="34" charset="0"/>
                <a:ea typeface="Calibri" panose="020F0502020204030204" pitchFamily="34" charset="0"/>
                <a:cs typeface="Calibri" panose="020F0502020204030204" pitchFamily="34" charset="0"/>
              </a:rPr>
              <a:t>hardware units allows larger databases </a:t>
            </a:r>
            <a:r>
              <a:rPr lang="en-US" sz="2400" dirty="0">
                <a:latin typeface="Calibri" panose="020F0502020204030204" pitchFamily="34" charset="0"/>
                <a:ea typeface="Calibri" panose="020F0502020204030204" pitchFamily="34" charset="0"/>
                <a:cs typeface="Calibri" panose="020F0502020204030204" pitchFamily="34" charset="0"/>
              </a:rPr>
              <a:t>to be searched without increasing search time.</a:t>
            </a:r>
          </a:p>
        </p:txBody>
      </p:sp>
    </p:spTree>
    <p:extLst>
      <p:ext uri="{BB962C8B-B14F-4D97-AF65-F5344CB8AC3E}">
        <p14:creationId xmlns:p14="http://schemas.microsoft.com/office/powerpoint/2010/main" val="953007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a:xfrm>
            <a:off x="609600" y="215372"/>
            <a:ext cx="10972800" cy="655485"/>
          </a:xfrm>
        </p:spPr>
        <p:txBody>
          <a:bodyPr/>
          <a:lstStyle/>
          <a:p>
            <a:r>
              <a:rPr lang="en-US" dirty="0">
                <a:effectLst/>
              </a:rPr>
              <a:t>Hardware Text Search Systems - Architecture</a:t>
            </a:r>
            <a:endParaRPr lang="en-US" dirty="0"/>
          </a:p>
        </p:txBody>
      </p:sp>
      <p:sp>
        <p:nvSpPr>
          <p:cNvPr id="7" name="Content Placeholder 6">
            <a:extLst>
              <a:ext uri="{FF2B5EF4-FFF2-40B4-BE49-F238E27FC236}">
                <a16:creationId xmlns:a16="http://schemas.microsoft.com/office/drawing/2014/main" id="{CACFD119-227C-53C7-B004-27AC2F5FC12F}"/>
              </a:ext>
            </a:extLst>
          </p:cNvPr>
          <p:cNvSpPr>
            <a:spLocks noGrp="1"/>
          </p:cNvSpPr>
          <p:nvPr>
            <p:ph sz="quarter" idx="15"/>
          </p:nvPr>
        </p:nvSpPr>
        <p:spPr>
          <a:xfrm>
            <a:off x="609601" y="870857"/>
            <a:ext cx="5036455" cy="5355771"/>
          </a:xfrm>
        </p:spPr>
        <p:txBody>
          <a:bodyPr/>
          <a:lstStyle/>
          <a:p>
            <a:r>
              <a:rPr lang="en-US" sz="2200" dirty="0">
                <a:latin typeface="Calibri" panose="020F0502020204030204" pitchFamily="34" charset="0"/>
                <a:ea typeface="Calibri" panose="020F0502020204030204" pitchFamily="34" charset="0"/>
                <a:cs typeface="Calibri" panose="020F0502020204030204" pitchFamily="34" charset="0"/>
              </a:rPr>
              <a:t>Database: Stores the text data on secondary storage (e.g., disk drives).</a:t>
            </a:r>
          </a:p>
          <a:p>
            <a:r>
              <a:rPr lang="en-US" sz="2200" dirty="0">
                <a:latin typeface="Calibri" panose="020F0502020204030204" pitchFamily="34" charset="0"/>
                <a:ea typeface="Calibri" panose="020F0502020204030204" pitchFamily="34" charset="0"/>
                <a:cs typeface="Calibri" panose="020F0502020204030204" pitchFamily="34" charset="0"/>
              </a:rPr>
              <a:t>Term Detector: A hardware component that identifies matches between the query terms and the text stream.</a:t>
            </a:r>
          </a:p>
          <a:p>
            <a:r>
              <a:rPr lang="en-US" sz="2200" dirty="0">
                <a:latin typeface="Calibri" panose="020F0502020204030204" pitchFamily="34" charset="0"/>
                <a:ea typeface="Calibri" panose="020F0502020204030204" pitchFamily="34" charset="0"/>
                <a:cs typeface="Calibri" panose="020F0502020204030204" pitchFamily="34" charset="0"/>
              </a:rPr>
              <a:t>Query Resolver: Processes the matches (e.g., applying Boolean logic) and determines if the text satisfies the query.</a:t>
            </a:r>
          </a:p>
          <a:p>
            <a:r>
              <a:rPr lang="en-US" sz="2200" dirty="0">
                <a:latin typeface="Calibri" panose="020F0502020204030204" pitchFamily="34" charset="0"/>
                <a:ea typeface="Calibri" panose="020F0502020204030204" pitchFamily="34" charset="0"/>
                <a:cs typeface="Calibri" panose="020F0502020204030204" pitchFamily="34" charset="0"/>
              </a:rPr>
              <a:t>User Interface: The main computer that interacts with the user, receiving queries and displaying results.</a:t>
            </a:r>
          </a:p>
        </p:txBody>
      </p:sp>
      <p:pic>
        <p:nvPicPr>
          <p:cNvPr id="3" name="Content Placeholder 2">
            <a:extLst>
              <a:ext uri="{FF2B5EF4-FFF2-40B4-BE49-F238E27FC236}">
                <a16:creationId xmlns:a16="http://schemas.microsoft.com/office/drawing/2014/main" id="{219FAECF-0338-0D57-6B08-53EFDC221642}"/>
              </a:ext>
            </a:extLst>
          </p:cNvPr>
          <p:cNvPicPr>
            <a:picLocks noGrp="1" noChangeAspect="1"/>
          </p:cNvPicPr>
          <p:nvPr>
            <p:ph sz="quarter" idx="13"/>
          </p:nvPr>
        </p:nvPicPr>
        <p:blipFill>
          <a:blip r:embed="rId2"/>
          <a:stretch>
            <a:fillRect/>
          </a:stretch>
        </p:blipFill>
        <p:spPr>
          <a:xfrm>
            <a:off x="5646056" y="1513796"/>
            <a:ext cx="5936343" cy="2435053"/>
          </a:xfrm>
        </p:spPr>
      </p:pic>
    </p:spTree>
    <p:extLst>
      <p:ext uri="{BB962C8B-B14F-4D97-AF65-F5344CB8AC3E}">
        <p14:creationId xmlns:p14="http://schemas.microsoft.com/office/powerpoint/2010/main" val="3283131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effectLst/>
              </a:rPr>
              <a:t>Hardware Text Search Systems - Architecture</a:t>
            </a:r>
            <a:endParaRPr lang="en-US" dirty="0"/>
          </a:p>
        </p:txBody>
      </p:sp>
      <p:pic>
        <p:nvPicPr>
          <p:cNvPr id="3" name="Content Placeholder 2">
            <a:extLst>
              <a:ext uri="{FF2B5EF4-FFF2-40B4-BE49-F238E27FC236}">
                <a16:creationId xmlns:a16="http://schemas.microsoft.com/office/drawing/2014/main" id="{219FAECF-0338-0D57-6B08-53EFDC221642}"/>
              </a:ext>
            </a:extLst>
          </p:cNvPr>
          <p:cNvPicPr>
            <a:picLocks noGrp="1" noChangeAspect="1"/>
          </p:cNvPicPr>
          <p:nvPr>
            <p:ph sz="quarter" idx="13"/>
          </p:nvPr>
        </p:nvPicPr>
        <p:blipFill>
          <a:blip r:embed="rId2"/>
          <a:stretch>
            <a:fillRect/>
          </a:stretch>
        </p:blipFill>
        <p:spPr>
          <a:xfrm>
            <a:off x="261743" y="1917534"/>
            <a:ext cx="5303575" cy="2393209"/>
          </a:xfrm>
        </p:spPr>
      </p:pic>
      <p:sp>
        <p:nvSpPr>
          <p:cNvPr id="2" name="Content Placeholder 1">
            <a:extLst>
              <a:ext uri="{FF2B5EF4-FFF2-40B4-BE49-F238E27FC236}">
                <a16:creationId xmlns:a16="http://schemas.microsoft.com/office/drawing/2014/main" id="{0C80873F-0D92-FF34-FE12-15F98F20D60B}"/>
              </a:ext>
            </a:extLst>
          </p:cNvPr>
          <p:cNvSpPr>
            <a:spLocks noGrp="1"/>
          </p:cNvSpPr>
          <p:nvPr>
            <p:ph sz="quarter" idx="14"/>
          </p:nvPr>
        </p:nvSpPr>
        <p:spPr>
          <a:xfrm>
            <a:off x="5565319" y="1312650"/>
            <a:ext cx="6136824" cy="5011950"/>
          </a:xfrm>
        </p:spPr>
        <p:txBody>
          <a:bodyPr/>
          <a:lstStyle/>
          <a:p>
            <a:pPr marL="444500" indent="-3429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 user submits a query via the user interface.</a:t>
            </a:r>
          </a:p>
          <a:p>
            <a:pPr marL="444500" indent="-3429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 query is sent to the hardware text search unit.</a:t>
            </a:r>
          </a:p>
          <a:p>
            <a:pPr marL="444500" indent="-3429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 term detector scans the text stream from the database, identifying matches.</a:t>
            </a:r>
          </a:p>
          <a:p>
            <a:pPr marL="444500" indent="-3429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The query resolver evaluates the matches against the query conditions (e.g., Boolean logic, proximity).</a:t>
            </a:r>
          </a:p>
          <a:p>
            <a:pPr marL="444500" indent="-342900">
              <a:buFont typeface="+mj-lt"/>
              <a:buAutoNum type="arabicPeriod"/>
            </a:pPr>
            <a:r>
              <a:rPr lang="en-US" sz="2400" dirty="0">
                <a:latin typeface="Calibri" panose="020F0502020204030204" pitchFamily="34" charset="0"/>
                <a:ea typeface="Calibri" panose="020F0502020204030204" pitchFamily="34" charset="0"/>
                <a:cs typeface="Calibri" panose="020F0502020204030204" pitchFamily="34" charset="0"/>
              </a:rPr>
              <a:t>Results (hits) are sent back to the user interface for display.</a:t>
            </a:r>
          </a:p>
        </p:txBody>
      </p:sp>
    </p:spTree>
    <p:extLst>
      <p:ext uri="{BB962C8B-B14F-4D97-AF65-F5344CB8AC3E}">
        <p14:creationId xmlns:p14="http://schemas.microsoft.com/office/powerpoint/2010/main" val="984925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113091" y="402771"/>
            <a:ext cx="11959166" cy="852450"/>
          </a:xfrm>
        </p:spPr>
        <p:txBody>
          <a:bodyPr/>
          <a:lstStyle/>
          <a:p>
            <a:r>
              <a:rPr lang="en-US" sz="3000" dirty="0">
                <a:effectLst/>
              </a:rPr>
              <a:t>Hardware Text Search Systems - Term Detector Implementations</a:t>
            </a:r>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term detector is the core of the </a:t>
            </a:r>
            <a:r>
              <a:rPr lang="en-US" sz="2600" b="1" dirty="0">
                <a:latin typeface="Calibri" panose="020F0502020204030204" pitchFamily="34" charset="0"/>
                <a:ea typeface="Calibri" panose="020F0502020204030204" pitchFamily="34" charset="0"/>
                <a:cs typeface="Calibri" panose="020F0502020204030204" pitchFamily="34" charset="0"/>
              </a:rPr>
              <a:t>hardware text search unit</a:t>
            </a:r>
            <a:r>
              <a:rPr lang="en-US" sz="2600" dirty="0">
                <a:latin typeface="Calibri" panose="020F0502020204030204" pitchFamily="34" charset="0"/>
                <a:ea typeface="Calibri" panose="020F0502020204030204" pitchFamily="34" charset="0"/>
                <a:cs typeface="Calibri" panose="020F0502020204030204" pitchFamily="34" charset="0"/>
              </a:rPr>
              <a:t>, responsible for </a:t>
            </a:r>
            <a:r>
              <a:rPr lang="en-US" sz="2600" b="1" dirty="0">
                <a:latin typeface="Calibri" panose="020F0502020204030204" pitchFamily="34" charset="0"/>
                <a:ea typeface="Calibri" panose="020F0502020204030204" pitchFamily="34" charset="0"/>
                <a:cs typeface="Calibri" panose="020F0502020204030204" pitchFamily="34" charset="0"/>
              </a:rPr>
              <a:t>matching query terms against the text stream</a:t>
            </a:r>
            <a:r>
              <a:rPr lang="en-US" sz="2600" dirty="0">
                <a:latin typeface="Calibri" panose="020F0502020204030204" pitchFamily="34" charset="0"/>
                <a:ea typeface="Calibri" panose="020F0502020204030204" pitchFamily="34" charset="0"/>
                <a:cs typeface="Calibri" panose="020F0502020204030204" pitchFamily="34" charset="0"/>
              </a:rPr>
              <a:t>. </a:t>
            </a:r>
          </a:p>
          <a:p>
            <a:r>
              <a:rPr lang="en-US" sz="2600" b="1" dirty="0">
                <a:latin typeface="Calibri" panose="020F0502020204030204" pitchFamily="34" charset="0"/>
                <a:ea typeface="Calibri" panose="020F0502020204030204" pitchFamily="34" charset="0"/>
                <a:cs typeface="Calibri" panose="020F0502020204030204" pitchFamily="34" charset="0"/>
              </a:rPr>
              <a:t>Three main approaches </a:t>
            </a:r>
            <a:r>
              <a:rPr lang="en-US" sz="2600" dirty="0">
                <a:latin typeface="Calibri" panose="020F0502020204030204" pitchFamily="34" charset="0"/>
                <a:ea typeface="Calibri" panose="020F0502020204030204" pitchFamily="34" charset="0"/>
                <a:cs typeface="Calibri" panose="020F0502020204030204" pitchFamily="34" charset="0"/>
              </a:rPr>
              <a:t>to implementing term detectors are mentioned:</a:t>
            </a:r>
          </a:p>
          <a:p>
            <a:pPr lvl="1"/>
            <a:r>
              <a:rPr lang="en-US" sz="2600" b="1" dirty="0">
                <a:effectLst/>
                <a:latin typeface="Calibri" panose="020F0502020204030204" pitchFamily="34" charset="0"/>
                <a:ea typeface="Calibri" panose="020F0502020204030204" pitchFamily="34" charset="0"/>
                <a:cs typeface="Calibri" panose="020F0502020204030204" pitchFamily="34" charset="0"/>
              </a:rPr>
              <a:t>Parallel Comparators or Associative Memory</a:t>
            </a:r>
          </a:p>
          <a:p>
            <a:pPr lvl="1"/>
            <a:r>
              <a:rPr lang="en-US" sz="2600" b="1" dirty="0">
                <a:effectLst/>
                <a:latin typeface="Calibri" panose="020F0502020204030204" pitchFamily="34" charset="0"/>
                <a:ea typeface="Calibri" panose="020F0502020204030204" pitchFamily="34" charset="0"/>
                <a:cs typeface="Calibri" panose="020F0502020204030204" pitchFamily="34" charset="0"/>
              </a:rPr>
              <a:t>Cellular Structure</a:t>
            </a:r>
          </a:p>
          <a:p>
            <a:pPr lvl="1"/>
            <a:r>
              <a:rPr lang="it-IT" sz="2600" b="1" dirty="0">
                <a:effectLst/>
                <a:latin typeface="Calibri" panose="020F0502020204030204" pitchFamily="34" charset="0"/>
                <a:ea typeface="Calibri" panose="020F0502020204030204" pitchFamily="34" charset="0"/>
                <a:cs typeface="Calibri" panose="020F0502020204030204" pitchFamily="34" charset="0"/>
              </a:rPr>
              <a:t>Universal Finite State Automata (FSA)</a:t>
            </a:r>
          </a:p>
          <a:p>
            <a:pPr lvl="1"/>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105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609600" y="108858"/>
            <a:ext cx="10972800" cy="1203794"/>
          </a:xfrm>
        </p:spPr>
        <p:txBody>
          <a:bodyPr/>
          <a:lstStyle/>
          <a:p>
            <a:r>
              <a:rPr lang="en-US" sz="3600" dirty="0">
                <a:effectLst/>
              </a:rPr>
              <a:t>Term Detector -  </a:t>
            </a:r>
            <a:r>
              <a:rPr lang="en-US" sz="3600" b="1" dirty="0">
                <a:effectLst/>
                <a:latin typeface="Calibri" panose="020F0502020204030204" pitchFamily="34" charset="0"/>
                <a:ea typeface="Calibri" panose="020F0502020204030204" pitchFamily="34" charset="0"/>
                <a:cs typeface="Calibri" panose="020F0502020204030204" pitchFamily="34" charset="0"/>
              </a:rPr>
              <a:t>Parallel Comparators or Associative Memory</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500" b="1" dirty="0">
                <a:latin typeface="Calibri" panose="020F0502020204030204" pitchFamily="34" charset="0"/>
                <a:ea typeface="Calibri" panose="020F0502020204030204" pitchFamily="34" charset="0"/>
                <a:cs typeface="Calibri" panose="020F0502020204030204" pitchFamily="34" charset="0"/>
              </a:rPr>
              <a:t>How It Works</a:t>
            </a:r>
            <a:r>
              <a:rPr lang="en-US" sz="2500" dirty="0">
                <a:latin typeface="Calibri" panose="020F0502020204030204" pitchFamily="34" charset="0"/>
                <a:ea typeface="Calibri" panose="020F0502020204030204" pitchFamily="34" charset="0"/>
                <a:cs typeface="Calibri" panose="020F0502020204030204" pitchFamily="34" charset="0"/>
              </a:rPr>
              <a:t>:</a:t>
            </a:r>
          </a:p>
          <a:p>
            <a:pPr lvl="1"/>
            <a:r>
              <a:rPr lang="en-US" sz="2500" dirty="0">
                <a:latin typeface="Calibri" panose="020F0502020204030204" pitchFamily="34" charset="0"/>
                <a:ea typeface="Calibri" panose="020F0502020204030204" pitchFamily="34" charset="0"/>
                <a:cs typeface="Calibri" panose="020F0502020204030204" pitchFamily="34" charset="0"/>
              </a:rPr>
              <a:t>Each query term is </a:t>
            </a:r>
            <a:r>
              <a:rPr lang="en-US" sz="2500" b="1" dirty="0">
                <a:latin typeface="Calibri" panose="020F0502020204030204" pitchFamily="34" charset="0"/>
                <a:ea typeface="Calibri" panose="020F0502020204030204" pitchFamily="34" charset="0"/>
                <a:cs typeface="Calibri" panose="020F0502020204030204" pitchFamily="34" charset="0"/>
              </a:rPr>
              <a:t>assigned</a:t>
            </a:r>
            <a:r>
              <a:rPr lang="en-US" sz="2500" dirty="0">
                <a:latin typeface="Calibri" panose="020F0502020204030204" pitchFamily="34" charset="0"/>
                <a:ea typeface="Calibri" panose="020F0502020204030204" pitchFamily="34" charset="0"/>
                <a:cs typeface="Calibri" panose="020F0502020204030204" pitchFamily="34" charset="0"/>
              </a:rPr>
              <a:t> to a separate comparison element (comparator).</a:t>
            </a:r>
          </a:p>
          <a:p>
            <a:pPr lvl="1"/>
            <a:r>
              <a:rPr lang="en-US" sz="2500" dirty="0">
                <a:latin typeface="Calibri" panose="020F0502020204030204" pitchFamily="34" charset="0"/>
                <a:ea typeface="Calibri" panose="020F0502020204030204" pitchFamily="34" charset="0"/>
                <a:cs typeface="Calibri" panose="020F0502020204030204" pitchFamily="34" charset="0"/>
              </a:rPr>
              <a:t>The text stream is serially fed into the detector, and each comparator checks for its assigned term in parallel.</a:t>
            </a:r>
          </a:p>
          <a:p>
            <a:pPr lvl="1"/>
            <a:r>
              <a:rPr lang="en-US" sz="2500" dirty="0">
                <a:latin typeface="Calibri" panose="020F0502020204030204" pitchFamily="34" charset="0"/>
                <a:ea typeface="Calibri" panose="020F0502020204030204" pitchFamily="34" charset="0"/>
                <a:cs typeface="Calibri" panose="020F0502020204030204" pitchFamily="34" charset="0"/>
              </a:rPr>
              <a:t>When a </a:t>
            </a:r>
            <a:r>
              <a:rPr lang="en-US" sz="2500" b="1" dirty="0">
                <a:latin typeface="Calibri" panose="020F0502020204030204" pitchFamily="34" charset="0"/>
                <a:ea typeface="Calibri" panose="020F0502020204030204" pitchFamily="34" charset="0"/>
                <a:cs typeface="Calibri" panose="020F0502020204030204" pitchFamily="34" charset="0"/>
              </a:rPr>
              <a:t>match is found</a:t>
            </a:r>
            <a:r>
              <a:rPr lang="en-US" sz="2500" dirty="0">
                <a:latin typeface="Calibri" panose="020F0502020204030204" pitchFamily="34" charset="0"/>
                <a:ea typeface="Calibri" panose="020F0502020204030204" pitchFamily="34" charset="0"/>
                <a:cs typeface="Calibri" panose="020F0502020204030204" pitchFamily="34" charset="0"/>
              </a:rPr>
              <a:t>, the comparator sets a </a:t>
            </a:r>
            <a:r>
              <a:rPr lang="en-US" sz="2500" b="1" dirty="0">
                <a:latin typeface="Calibri" panose="020F0502020204030204" pitchFamily="34" charset="0"/>
                <a:ea typeface="Calibri" panose="020F0502020204030204" pitchFamily="34" charset="0"/>
                <a:cs typeface="Calibri" panose="020F0502020204030204" pitchFamily="34" charset="0"/>
              </a:rPr>
              <a:t>status flag</a:t>
            </a:r>
            <a:r>
              <a:rPr lang="en-US" sz="2500" dirty="0">
                <a:latin typeface="Calibri" panose="020F0502020204030204" pitchFamily="34" charset="0"/>
                <a:ea typeface="Calibri" panose="020F0502020204030204" pitchFamily="34" charset="0"/>
                <a:cs typeface="Calibri" panose="020F0502020204030204" pitchFamily="34" charset="0"/>
              </a:rPr>
              <a:t>, which is sent to the query resolver (typically on the main computer).</a:t>
            </a:r>
          </a:p>
          <a:p>
            <a:r>
              <a:rPr lang="en-US" sz="2500" b="1" dirty="0">
                <a:latin typeface="Calibri" panose="020F0502020204030204" pitchFamily="34" charset="0"/>
                <a:ea typeface="Calibri" panose="020F0502020204030204" pitchFamily="34" charset="0"/>
                <a:cs typeface="Calibri" panose="020F0502020204030204" pitchFamily="34" charset="0"/>
              </a:rPr>
              <a:t>Example</a:t>
            </a:r>
            <a:r>
              <a:rPr lang="en-US" sz="2500" dirty="0">
                <a:latin typeface="Calibri" panose="020F0502020204030204" pitchFamily="34" charset="0"/>
                <a:ea typeface="Calibri" panose="020F0502020204030204" pitchFamily="34" charset="0"/>
                <a:cs typeface="Calibri" panose="020F0502020204030204" pitchFamily="34" charset="0"/>
              </a:rPr>
              <a:t>:</a:t>
            </a:r>
          </a:p>
          <a:p>
            <a:pPr lvl="1"/>
            <a:r>
              <a:rPr lang="en-US" sz="2500" dirty="0">
                <a:latin typeface="Calibri" panose="020F0502020204030204" pitchFamily="34" charset="0"/>
                <a:ea typeface="Calibri" panose="020F0502020204030204" pitchFamily="34" charset="0"/>
                <a:cs typeface="Calibri" panose="020F0502020204030204" pitchFamily="34" charset="0"/>
              </a:rPr>
              <a:t>In the </a:t>
            </a:r>
            <a:r>
              <a:rPr lang="en-US" sz="2500" b="1" dirty="0">
                <a:latin typeface="Calibri" panose="020F0502020204030204" pitchFamily="34" charset="0"/>
                <a:ea typeface="Calibri" panose="020F0502020204030204" pitchFamily="34" charset="0"/>
                <a:cs typeface="Calibri" panose="020F0502020204030204" pitchFamily="34" charset="0"/>
              </a:rPr>
              <a:t>GESCAN</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b="1" dirty="0">
                <a:latin typeface="Calibri" panose="020F0502020204030204" pitchFamily="34" charset="0"/>
                <a:ea typeface="Calibri" panose="020F0502020204030204" pitchFamily="34" charset="0"/>
                <a:cs typeface="Calibri" panose="020F0502020204030204" pitchFamily="34" charset="0"/>
              </a:rPr>
              <a:t>system</a:t>
            </a:r>
            <a:r>
              <a:rPr lang="en-US" sz="2500" dirty="0">
                <a:latin typeface="Calibri" panose="020F0502020204030204" pitchFamily="34" charset="0"/>
                <a:ea typeface="Calibri" panose="020F0502020204030204" pitchFamily="34" charset="0"/>
                <a:cs typeface="Calibri" panose="020F0502020204030204" pitchFamily="34" charset="0"/>
              </a:rPr>
              <a:t>, some Boolean logic (e.g., AND, OR between terms) is resolved directly in the term detector hardware, reducing the load on the main computer.</a:t>
            </a:r>
          </a:p>
        </p:txBody>
      </p:sp>
    </p:spTree>
    <p:extLst>
      <p:ext uri="{BB962C8B-B14F-4D97-AF65-F5344CB8AC3E}">
        <p14:creationId xmlns:p14="http://schemas.microsoft.com/office/powerpoint/2010/main" val="1503421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sz="3600" dirty="0">
                <a:effectLst/>
              </a:rPr>
              <a:t>Term Detector -  </a:t>
            </a:r>
            <a:r>
              <a:rPr lang="en-US" dirty="0">
                <a:effectLst/>
              </a:rPr>
              <a:t>Cellular Structure</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This approach uses a series of interconnected cells, each responsible for matching a single character or small part of a query term.</a:t>
            </a:r>
          </a:p>
          <a:p>
            <a:r>
              <a:rPr lang="en-US" sz="2600" dirty="0">
                <a:latin typeface="Calibri" panose="020F0502020204030204" pitchFamily="34" charset="0"/>
                <a:ea typeface="Calibri" panose="020F0502020204030204" pitchFamily="34" charset="0"/>
                <a:cs typeface="Calibri" panose="020F0502020204030204" pitchFamily="34" charset="0"/>
              </a:rPr>
              <a:t>Cells are typically implemented on LSI (Large-Scale Integration) chips, which can be chained together to handle longer query terms.</a:t>
            </a:r>
          </a:p>
          <a:p>
            <a:r>
              <a:rPr lang="en-US" sz="2600" dirty="0">
                <a:latin typeface="Calibri" panose="020F0502020204030204" pitchFamily="34" charset="0"/>
                <a:ea typeface="Calibri" panose="020F0502020204030204" pitchFamily="34" charset="0"/>
                <a:cs typeface="Calibri" panose="020F0502020204030204" pitchFamily="34" charset="0"/>
              </a:rPr>
              <a:t>Example:</a:t>
            </a:r>
          </a:p>
          <a:p>
            <a:pPr lvl="1"/>
            <a:r>
              <a:rPr lang="en-US" sz="2600" dirty="0">
                <a:latin typeface="Calibri" panose="020F0502020204030204" pitchFamily="34" charset="0"/>
                <a:ea typeface="Calibri" panose="020F0502020204030204" pitchFamily="34" charset="0"/>
                <a:cs typeface="Calibri" panose="020F0502020204030204" pitchFamily="34" charset="0"/>
              </a:rPr>
              <a:t>In the GESCAN Text Array Processor (TAP), a string of character cells on an LSI chip matches query terms, while a separate resolution chip handles Boolean logic and proximity requirements.</a:t>
            </a:r>
          </a:p>
        </p:txBody>
      </p:sp>
    </p:spTree>
    <p:extLst>
      <p:ext uri="{BB962C8B-B14F-4D97-AF65-F5344CB8AC3E}">
        <p14:creationId xmlns:p14="http://schemas.microsoft.com/office/powerpoint/2010/main" val="2154129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p:txBody>
          <a:bodyPr/>
          <a:lstStyle/>
          <a:p>
            <a:r>
              <a:rPr lang="en-US" sz="3600" dirty="0">
                <a:effectLst/>
              </a:rPr>
              <a:t>Term Detector - </a:t>
            </a:r>
            <a:r>
              <a:rPr lang="it-IT" dirty="0">
                <a:effectLst/>
              </a:rPr>
              <a:t>Universal Finite State Automata (FSA)</a:t>
            </a:r>
            <a:endParaRPr lang="en-US" dirty="0"/>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p:txBody>
          <a:bodyPr/>
          <a:lstStyle/>
          <a:p>
            <a:r>
              <a:rPr lang="en-US" sz="2500" dirty="0">
                <a:latin typeface="Calibri" panose="020F0502020204030204" pitchFamily="34" charset="0"/>
                <a:ea typeface="Calibri" panose="020F0502020204030204" pitchFamily="34" charset="0"/>
                <a:cs typeface="Calibri" panose="020F0502020204030204" pitchFamily="34" charset="0"/>
              </a:rPr>
              <a:t>The system uses a </a:t>
            </a:r>
            <a:r>
              <a:rPr lang="en-US" sz="2500" b="1" dirty="0">
                <a:latin typeface="Calibri" panose="020F0502020204030204" pitchFamily="34" charset="0"/>
                <a:ea typeface="Calibri" panose="020F0502020204030204" pitchFamily="34" charset="0"/>
                <a:cs typeface="Calibri" panose="020F0502020204030204" pitchFamily="34" charset="0"/>
              </a:rPr>
              <a:t>finite state machine (FSM) </a:t>
            </a:r>
            <a:r>
              <a:rPr lang="en-US" sz="2500" dirty="0">
                <a:latin typeface="Calibri" panose="020F0502020204030204" pitchFamily="34" charset="0"/>
                <a:ea typeface="Calibri" panose="020F0502020204030204" pitchFamily="34" charset="0"/>
                <a:cs typeface="Calibri" panose="020F0502020204030204" pitchFamily="34" charset="0"/>
              </a:rPr>
              <a:t>to represent the query terms as states and transitions.</a:t>
            </a:r>
          </a:p>
          <a:p>
            <a:r>
              <a:rPr lang="en-US" sz="2500" dirty="0">
                <a:latin typeface="Calibri" panose="020F0502020204030204" pitchFamily="34" charset="0"/>
                <a:ea typeface="Calibri" panose="020F0502020204030204" pitchFamily="34" charset="0"/>
                <a:cs typeface="Calibri" panose="020F0502020204030204" pitchFamily="34" charset="0"/>
              </a:rPr>
              <a:t>The text stream is processed by the FSM, which transitions between states as characters are matched.</a:t>
            </a:r>
          </a:p>
        </p:txBody>
      </p:sp>
    </p:spTree>
    <p:extLst>
      <p:ext uri="{BB962C8B-B14F-4D97-AF65-F5344CB8AC3E}">
        <p14:creationId xmlns:p14="http://schemas.microsoft.com/office/powerpoint/2010/main" val="1075428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sz="3600" dirty="0">
                <a:effectLst/>
              </a:rPr>
              <a:t>Term Detector - </a:t>
            </a:r>
            <a:r>
              <a:rPr lang="it-IT" dirty="0">
                <a:effectLst/>
              </a:rPr>
              <a:t>Universal Finite State Automata (FSA)</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Example</a:t>
            </a:r>
            <a:r>
              <a:rPr lang="en-US" sz="2600" dirty="0">
                <a:latin typeface="Calibri" panose="020F0502020204030204" pitchFamily="34" charset="0"/>
                <a:ea typeface="Calibri" panose="020F0502020204030204" pitchFamily="34" charset="0"/>
                <a:cs typeface="Calibri" panose="020F0502020204030204" pitchFamily="34" charset="0"/>
              </a:rPr>
              <a:t>: The High Speed Text Search (HSTS) machine by Operating Systems Inc. (OSI) uses an algorithm similar to the </a:t>
            </a:r>
            <a:r>
              <a:rPr lang="en-US" sz="2600" dirty="0" err="1">
                <a:latin typeface="Calibri" panose="020F0502020204030204" pitchFamily="34" charset="0"/>
                <a:ea typeface="Calibri" panose="020F0502020204030204" pitchFamily="34" charset="0"/>
                <a:cs typeface="Calibri" panose="020F0502020204030204" pitchFamily="34" charset="0"/>
              </a:rPr>
              <a:t>Aho-Corasick</a:t>
            </a:r>
            <a:r>
              <a:rPr lang="en-US" sz="2600" dirty="0">
                <a:latin typeface="Calibri" panose="020F0502020204030204" pitchFamily="34" charset="0"/>
                <a:ea typeface="Calibri" panose="020F0502020204030204" pitchFamily="34" charset="0"/>
                <a:cs typeface="Calibri" panose="020F0502020204030204" pitchFamily="34" charset="0"/>
              </a:rPr>
              <a:t> software FSM but runs </a:t>
            </a:r>
            <a:r>
              <a:rPr lang="en-US" sz="2600" b="1" dirty="0">
                <a:latin typeface="Calibri" panose="020F0502020204030204" pitchFamily="34" charset="0"/>
                <a:ea typeface="Calibri" panose="020F0502020204030204" pitchFamily="34" charset="0"/>
                <a:cs typeface="Calibri" panose="020F0502020204030204" pitchFamily="34" charset="0"/>
              </a:rPr>
              <a:t>three parallel state machines</a:t>
            </a:r>
            <a:r>
              <a:rPr lang="en-US" sz="2600" dirty="0">
                <a:latin typeface="Calibri" panose="020F0502020204030204" pitchFamily="34" charset="0"/>
                <a:ea typeface="Calibri" panose="020F0502020204030204" pitchFamily="34" charset="0"/>
                <a:cs typeface="Calibri" panose="020F0502020204030204" pitchFamily="34" charset="0"/>
              </a:rPr>
              <a:t>:</a:t>
            </a:r>
          </a:p>
          <a:p>
            <a:pPr marL="901700" lvl="1"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One for contiguous word phrases.</a:t>
            </a:r>
          </a:p>
          <a:p>
            <a:pPr marL="901700" lvl="1"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One for embedded term matches.</a:t>
            </a:r>
          </a:p>
          <a:p>
            <a:pPr marL="901700" lvl="1"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One for exact word matches.</a:t>
            </a:r>
          </a:p>
          <a:p>
            <a:pPr marL="529082" indent="-457200"/>
            <a:r>
              <a:rPr lang="en-US" sz="2600" b="1" dirty="0">
                <a:latin typeface="Calibri" panose="020F0502020204030204" pitchFamily="34" charset="0"/>
                <a:ea typeface="Calibri" panose="020F0502020204030204" pitchFamily="34" charset="0"/>
                <a:cs typeface="Calibri" panose="020F0502020204030204" pitchFamily="34" charset="0"/>
              </a:rPr>
              <a:t>Advantages</a:t>
            </a:r>
            <a:r>
              <a:rPr lang="en-US" sz="2600" dirty="0">
                <a:latin typeface="Calibri" panose="020F0502020204030204" pitchFamily="34" charset="0"/>
                <a:ea typeface="Calibri" panose="020F0502020204030204" pitchFamily="34" charset="0"/>
                <a:cs typeface="Calibri" panose="020F0502020204030204" pitchFamily="34" charset="0"/>
              </a:rPr>
              <a:t>:</a:t>
            </a:r>
          </a:p>
          <a:p>
            <a:pPr marL="1016000" lvl="1" indent="-457200"/>
            <a:r>
              <a:rPr lang="en-US" sz="2600" dirty="0">
                <a:latin typeface="Calibri" panose="020F0502020204030204" pitchFamily="34" charset="0"/>
                <a:ea typeface="Calibri" panose="020F0502020204030204" pitchFamily="34" charset="0"/>
                <a:cs typeface="Calibri" panose="020F0502020204030204" pitchFamily="34" charset="0"/>
              </a:rPr>
              <a:t>Efficient for complex pattern matching, including phrases and partial matches.</a:t>
            </a:r>
          </a:p>
          <a:p>
            <a:pPr marL="1016000" lvl="1" indent="-457200"/>
            <a:r>
              <a:rPr lang="en-US" sz="2600" dirty="0">
                <a:latin typeface="Calibri" panose="020F0502020204030204" pitchFamily="34" charset="0"/>
                <a:ea typeface="Calibri" panose="020F0502020204030204" pitchFamily="34" charset="0"/>
                <a:cs typeface="Calibri" panose="020F0502020204030204" pitchFamily="34" charset="0"/>
              </a:rPr>
              <a:t>Can handle multiple queries simultaneously by running parallel FSMs.</a:t>
            </a:r>
          </a:p>
        </p:txBody>
      </p:sp>
    </p:spTree>
    <p:extLst>
      <p:ext uri="{BB962C8B-B14F-4D97-AF65-F5344CB8AC3E}">
        <p14:creationId xmlns:p14="http://schemas.microsoft.com/office/powerpoint/2010/main" val="3064104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effectLst/>
              </a:rPr>
              <a:t>Historical Development of Hardware Text Search Systems</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Rapid Search Machine (General Electric, 1970s)</a:t>
            </a:r>
          </a:p>
          <a:p>
            <a:r>
              <a:rPr lang="en-US" sz="2600" b="1" dirty="0">
                <a:latin typeface="Calibri" panose="020F0502020204030204" pitchFamily="34" charset="0"/>
                <a:ea typeface="Calibri" panose="020F0502020204030204" pitchFamily="34" charset="0"/>
                <a:cs typeface="Calibri" panose="020F0502020204030204" pitchFamily="34" charset="0"/>
              </a:rPr>
              <a:t>Associative File Processor (AFP) by Operating Systems Inc. (OSI)</a:t>
            </a:r>
          </a:p>
          <a:p>
            <a:r>
              <a:rPr lang="en-US" sz="2600" b="1" dirty="0">
                <a:latin typeface="Calibri" panose="020F0502020204030204" pitchFamily="34" charset="0"/>
                <a:ea typeface="Calibri" panose="020F0502020204030204" pitchFamily="34" charset="0"/>
                <a:cs typeface="Calibri" panose="020F0502020204030204" pitchFamily="34" charset="0"/>
              </a:rPr>
              <a:t>High Speed Text Search (HSTS) by OSI</a:t>
            </a:r>
          </a:p>
          <a:p>
            <a:r>
              <a:rPr lang="en-US" sz="2600" b="1" dirty="0">
                <a:latin typeface="Calibri" panose="020F0502020204030204" pitchFamily="34" charset="0"/>
                <a:ea typeface="Calibri" panose="020F0502020204030204" pitchFamily="34" charset="0"/>
                <a:cs typeface="Calibri" panose="020F0502020204030204" pitchFamily="34" charset="0"/>
              </a:rPr>
              <a:t>GESCAN (General Electric)</a:t>
            </a:r>
          </a:p>
          <a:p>
            <a:r>
              <a:rPr lang="en-US" sz="2600" dirty="0">
                <a:effectLst/>
                <a:latin typeface="Calibri" panose="020F0502020204030204" pitchFamily="34" charset="0"/>
                <a:ea typeface="Calibri" panose="020F0502020204030204" pitchFamily="34" charset="0"/>
                <a:cs typeface="Calibri" panose="020F0502020204030204" pitchFamily="34" charset="0"/>
              </a:rPr>
              <a:t>Fast Data Finder (FDF) by TRW (Later Paracel)</a:t>
            </a:r>
          </a:p>
          <a:p>
            <a:r>
              <a:rPr lang="en-US" sz="2600" dirty="0">
                <a:effectLst/>
                <a:latin typeface="Calibri" panose="020F0502020204030204" pitchFamily="34" charset="0"/>
                <a:ea typeface="Calibri" panose="020F0502020204030204" pitchFamily="34" charset="0"/>
                <a:cs typeface="Calibri" panose="020F0502020204030204" pitchFamily="34" charset="0"/>
              </a:rPr>
              <a:t>Other Systems</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0345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effectLst/>
              </a:rPr>
              <a:t>Historical Development of Hardware Text Search Systems</a:t>
            </a:r>
            <a:endParaRPr lang="en-US" dirty="0"/>
          </a:p>
        </p:txBody>
      </p:sp>
      <p:pic>
        <p:nvPicPr>
          <p:cNvPr id="6" name="Content Placeholder 5">
            <a:extLst>
              <a:ext uri="{FF2B5EF4-FFF2-40B4-BE49-F238E27FC236}">
                <a16:creationId xmlns:a16="http://schemas.microsoft.com/office/drawing/2014/main" id="{A97210DF-2C9A-D54F-A6DA-8CAD44EEEA7A}"/>
              </a:ext>
            </a:extLst>
          </p:cNvPr>
          <p:cNvPicPr>
            <a:picLocks noGrp="1" noChangeAspect="1"/>
          </p:cNvPicPr>
          <p:nvPr>
            <p:ph sz="quarter" idx="13"/>
          </p:nvPr>
        </p:nvPicPr>
        <p:blipFill>
          <a:blip r:embed="rId2"/>
          <a:stretch>
            <a:fillRect/>
          </a:stretch>
        </p:blipFill>
        <p:spPr>
          <a:xfrm>
            <a:off x="142820" y="1698172"/>
            <a:ext cx="5696437" cy="3679371"/>
          </a:xfrm>
        </p:spPr>
      </p:pic>
      <p:pic>
        <p:nvPicPr>
          <p:cNvPr id="8" name="Content Placeholder 7">
            <a:extLst>
              <a:ext uri="{FF2B5EF4-FFF2-40B4-BE49-F238E27FC236}">
                <a16:creationId xmlns:a16="http://schemas.microsoft.com/office/drawing/2014/main" id="{7FE2AD5C-0163-F08A-7640-8A9DA7100C35}"/>
              </a:ext>
            </a:extLst>
          </p:cNvPr>
          <p:cNvPicPr>
            <a:picLocks noGrp="1" noChangeAspect="1"/>
          </p:cNvPicPr>
          <p:nvPr>
            <p:ph sz="quarter" idx="14"/>
          </p:nvPr>
        </p:nvPicPr>
        <p:blipFill>
          <a:blip r:embed="rId3"/>
          <a:stretch>
            <a:fillRect/>
          </a:stretch>
        </p:blipFill>
        <p:spPr>
          <a:xfrm>
            <a:off x="6096000" y="876458"/>
            <a:ext cx="5296831" cy="5415485"/>
          </a:xfrm>
        </p:spPr>
      </p:pic>
    </p:spTree>
    <p:extLst>
      <p:ext uri="{BB962C8B-B14F-4D97-AF65-F5344CB8AC3E}">
        <p14:creationId xmlns:p14="http://schemas.microsoft.com/office/powerpoint/2010/main" val="290467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a:xfrm>
            <a:off x="609600" y="215373"/>
            <a:ext cx="10972800" cy="786114"/>
          </a:xfrm>
        </p:spPr>
        <p:txBody>
          <a:bodyPr/>
          <a:lstStyle/>
          <a:p>
            <a:r>
              <a:rPr lang="en-US" dirty="0">
                <a:effectLst/>
              </a:rPr>
              <a:t>Advantages of Hardware Text Search Systems</a:t>
            </a:r>
            <a:endParaRPr lang="en-US" dirty="0"/>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a:xfrm>
            <a:off x="609601" y="1001487"/>
            <a:ext cx="11179628" cy="5355770"/>
          </a:xfrm>
        </p:spPr>
        <p:txBody>
          <a:bodyPr/>
          <a:lstStyle/>
          <a:p>
            <a:r>
              <a:rPr lang="en-US" sz="2400" b="1" dirty="0">
                <a:latin typeface="Calibri" panose="020F0502020204030204" pitchFamily="34" charset="0"/>
                <a:ea typeface="Calibri" panose="020F0502020204030204" pitchFamily="34" charset="0"/>
                <a:cs typeface="Calibri" panose="020F0502020204030204" pitchFamily="34" charset="0"/>
              </a:rPr>
              <a:t>No Indexing Required</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400" dirty="0">
                <a:latin typeface="Calibri" panose="020F0502020204030204" pitchFamily="34" charset="0"/>
                <a:ea typeface="Calibri" panose="020F0502020204030204" pitchFamily="34" charset="0"/>
                <a:cs typeface="Calibri" panose="020F0502020204030204" pitchFamily="34" charset="0"/>
              </a:rPr>
              <a:t>Eliminates the need for an index (which can be 70% the size of the data), saving storage and allowing immediate searching of new data.</a:t>
            </a:r>
          </a:p>
          <a:p>
            <a:r>
              <a:rPr lang="en-US" sz="2400" b="1" dirty="0">
                <a:latin typeface="Calibri" panose="020F0502020204030204" pitchFamily="34" charset="0"/>
                <a:ea typeface="Calibri" panose="020F0502020204030204" pitchFamily="34" charset="0"/>
                <a:cs typeface="Calibri" panose="020F0502020204030204" pitchFamily="34" charset="0"/>
              </a:rPr>
              <a:t>Deterministic Search Times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400" dirty="0">
                <a:latin typeface="Calibri" panose="020F0502020204030204" pitchFamily="34" charset="0"/>
                <a:ea typeface="Calibri" panose="020F0502020204030204" pitchFamily="34" charset="0"/>
                <a:cs typeface="Calibri" panose="020F0502020204030204" pitchFamily="34" charset="0"/>
              </a:rPr>
              <a:t>Search speed depends only on the time to stream data from the disk, making performance predictable.</a:t>
            </a:r>
          </a:p>
          <a:p>
            <a:r>
              <a:rPr lang="en-US" sz="2400" b="1" dirty="0">
                <a:latin typeface="Calibri" panose="020F0502020204030204" pitchFamily="34" charset="0"/>
                <a:ea typeface="Calibri" panose="020F0502020204030204" pitchFamily="34" charset="0"/>
                <a:cs typeface="Calibri" panose="020F0502020204030204" pitchFamily="34" charset="0"/>
              </a:rPr>
              <a:t>Real-Time Results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400" dirty="0">
                <a:latin typeface="Calibri" panose="020F0502020204030204" pitchFamily="34" charset="0"/>
                <a:ea typeface="Calibri" panose="020F0502020204030204" pitchFamily="34" charset="0"/>
                <a:cs typeface="Calibri" panose="020F0502020204030204" pitchFamily="34" charset="0"/>
              </a:rPr>
              <a:t>Hits are delivered to the user as they are found, rather than waiting for the entire search to complete.</a:t>
            </a:r>
          </a:p>
          <a:p>
            <a:r>
              <a:rPr lang="en-US" sz="2400" b="1" dirty="0">
                <a:latin typeface="Calibri" panose="020F0502020204030204" pitchFamily="34" charset="0"/>
                <a:ea typeface="Calibri" panose="020F0502020204030204" pitchFamily="34" charset="0"/>
                <a:cs typeface="Calibri" panose="020F0502020204030204" pitchFamily="34" charset="0"/>
              </a:rPr>
              <a:t>Scalability</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400" dirty="0">
                <a:latin typeface="Calibri" panose="020F0502020204030204" pitchFamily="34" charset="0"/>
                <a:ea typeface="Calibri" panose="020F0502020204030204" pitchFamily="34" charset="0"/>
                <a:cs typeface="Calibri" panose="020F0502020204030204" pitchFamily="34" charset="0"/>
              </a:rPr>
              <a:t>Adding more hardware units (one per disk) allows the system to handle larger databases without increasing search time.</a:t>
            </a:r>
          </a:p>
        </p:txBody>
      </p:sp>
    </p:spTree>
    <p:extLst>
      <p:ext uri="{BB962C8B-B14F-4D97-AF65-F5344CB8AC3E}">
        <p14:creationId xmlns:p14="http://schemas.microsoft.com/office/powerpoint/2010/main" val="1744135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a:xfrm>
            <a:off x="609600" y="215373"/>
            <a:ext cx="10972800" cy="840542"/>
          </a:xfrm>
        </p:spPr>
        <p:txBody>
          <a:bodyPr/>
          <a:lstStyle/>
          <a:p>
            <a:r>
              <a:rPr lang="en-US" dirty="0"/>
              <a:t>Limitations</a:t>
            </a:r>
          </a:p>
        </p:txBody>
      </p:sp>
      <p:sp>
        <p:nvSpPr>
          <p:cNvPr id="5" name="Content Placeholder 4">
            <a:extLst>
              <a:ext uri="{FF2B5EF4-FFF2-40B4-BE49-F238E27FC236}">
                <a16:creationId xmlns:a16="http://schemas.microsoft.com/office/drawing/2014/main" id="{DA7A58E5-AFDB-7B68-E7CE-7B3C0D329E47}"/>
              </a:ext>
            </a:extLst>
          </p:cNvPr>
          <p:cNvSpPr>
            <a:spLocks noGrp="1"/>
          </p:cNvSpPr>
          <p:nvPr>
            <p:ph sz="quarter" idx="13"/>
          </p:nvPr>
        </p:nvSpPr>
        <p:spPr>
          <a:xfrm>
            <a:off x="609601" y="979714"/>
            <a:ext cx="10977033" cy="5171704"/>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Cost:</a:t>
            </a:r>
          </a:p>
          <a:p>
            <a:pPr lvl="1"/>
            <a:r>
              <a:rPr lang="en-US" sz="2600" dirty="0">
                <a:latin typeface="Calibri" panose="020F0502020204030204" pitchFamily="34" charset="0"/>
                <a:ea typeface="Calibri" panose="020F0502020204030204" pitchFamily="34" charset="0"/>
                <a:cs typeface="Calibri" panose="020F0502020204030204" pitchFamily="34" charset="0"/>
              </a:rPr>
              <a:t>Hardware text search units are expensive to build and maintain.</a:t>
            </a:r>
          </a:p>
          <a:p>
            <a:r>
              <a:rPr lang="en-US" sz="2600" dirty="0">
                <a:latin typeface="Calibri" panose="020F0502020204030204" pitchFamily="34" charset="0"/>
                <a:ea typeface="Calibri" panose="020F0502020204030204" pitchFamily="34" charset="0"/>
                <a:cs typeface="Calibri" panose="020F0502020204030204" pitchFamily="34" charset="0"/>
              </a:rPr>
              <a:t>Full Database Streaming:</a:t>
            </a:r>
          </a:p>
          <a:p>
            <a:pPr lvl="1"/>
            <a:r>
              <a:rPr lang="en-US" sz="2600" dirty="0">
                <a:latin typeface="Calibri" panose="020F0502020204030204" pitchFamily="34" charset="0"/>
                <a:ea typeface="Calibri" panose="020F0502020204030204" pitchFamily="34" charset="0"/>
                <a:cs typeface="Calibri" panose="020F0502020204030204" pitchFamily="34" charset="0"/>
              </a:rPr>
              <a:t>The entire database must be streamed through the hardware for each search, which can be slower than index-based searches for small queries or datasets.</a:t>
            </a:r>
          </a:p>
          <a:p>
            <a:r>
              <a:rPr lang="en-US" sz="2600" dirty="0">
                <a:latin typeface="Calibri" panose="020F0502020204030204" pitchFamily="34" charset="0"/>
                <a:ea typeface="Calibri" panose="020F0502020204030204" pitchFamily="34" charset="0"/>
                <a:cs typeface="Calibri" panose="020F0502020204030204" pitchFamily="34" charset="0"/>
              </a:rPr>
              <a:t>Declining Use:</a:t>
            </a:r>
          </a:p>
          <a:p>
            <a:pPr lvl="1"/>
            <a:r>
              <a:rPr lang="en-US" sz="2600" dirty="0">
                <a:latin typeface="Calibri" panose="020F0502020204030204" pitchFamily="34" charset="0"/>
                <a:ea typeface="Calibri" panose="020F0502020204030204" pitchFamily="34" charset="0"/>
                <a:cs typeface="Calibri" panose="020F0502020204030204" pitchFamily="34" charset="0"/>
              </a:rPr>
              <a:t>Due to the cost and the need to stream the entire database, general use of hardware text search units has declined.</a:t>
            </a:r>
          </a:p>
          <a:p>
            <a:pPr lvl="1"/>
            <a:r>
              <a:rPr lang="en-US" sz="2600" dirty="0">
                <a:latin typeface="Calibri" panose="020F0502020204030204" pitchFamily="34" charset="0"/>
                <a:ea typeface="Calibri" panose="020F0502020204030204" pitchFamily="34" charset="0"/>
                <a:cs typeface="Calibri" panose="020F0502020204030204" pitchFamily="34" charset="0"/>
              </a:rPr>
              <a:t>Modern software solutions, with faster processors and better indexing techniques, have largely replaced these systems for general text search.</a:t>
            </a:r>
          </a:p>
        </p:txBody>
      </p:sp>
    </p:spTree>
    <p:extLst>
      <p:ext uri="{BB962C8B-B14F-4D97-AF65-F5344CB8AC3E}">
        <p14:creationId xmlns:p14="http://schemas.microsoft.com/office/powerpoint/2010/main" val="21555607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p:txBody>
          <a:bodyPr/>
          <a:lstStyle/>
          <a:p>
            <a:r>
              <a:rPr lang="en-US" dirty="0"/>
              <a:t>Modern Applications</a:t>
            </a:r>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Genetic Analysis</a:t>
            </a:r>
          </a:p>
          <a:p>
            <a:pPr lvl="1"/>
            <a:r>
              <a:rPr lang="en-US" sz="2600" dirty="0">
                <a:latin typeface="Calibri" panose="020F0502020204030204" pitchFamily="34" charset="0"/>
                <a:ea typeface="Calibri" panose="020F0502020204030204" pitchFamily="34" charset="0"/>
                <a:cs typeface="Calibri" panose="020F0502020204030204" pitchFamily="34" charset="0"/>
              </a:rPr>
              <a:t>The Fast Data Finder (FDF) has found a new application in genetic analysis, as marketed by Paracel:</a:t>
            </a:r>
          </a:p>
          <a:p>
            <a:r>
              <a:rPr lang="en-US" sz="2600" dirty="0">
                <a:latin typeface="Calibri" panose="020F0502020204030204" pitchFamily="34" charset="0"/>
                <a:ea typeface="Calibri" panose="020F0502020204030204" pitchFamily="34" charset="0"/>
                <a:cs typeface="Calibri" panose="020F0502020204030204" pitchFamily="34" charset="0"/>
              </a:rPr>
              <a:t>Sequence Homology:</a:t>
            </a:r>
          </a:p>
          <a:p>
            <a:pPr lvl="1"/>
            <a:r>
              <a:rPr lang="en-US" sz="2600" dirty="0">
                <a:latin typeface="Calibri" panose="020F0502020204030204" pitchFamily="34" charset="0"/>
                <a:ea typeface="Calibri" panose="020F0502020204030204" pitchFamily="34" charset="0"/>
                <a:cs typeface="Calibri" panose="020F0502020204030204" pitchFamily="34" charset="0"/>
              </a:rPr>
              <a:t>The FDF is used to compare genetic sequences (e.g., DNA or proteins) to known families, helping identify the functions of newly sequenced genes.</a:t>
            </a:r>
          </a:p>
          <a:p>
            <a:r>
              <a:rPr lang="en-US" sz="2600" dirty="0">
                <a:latin typeface="Calibri" panose="020F0502020204030204" pitchFamily="34" charset="0"/>
                <a:ea typeface="Calibri" panose="020F0502020204030204" pitchFamily="34" charset="0"/>
                <a:cs typeface="Calibri" panose="020F0502020204030204" pitchFamily="34" charset="0"/>
              </a:rPr>
              <a:t>Fuzzy Matching:</a:t>
            </a:r>
          </a:p>
          <a:p>
            <a:pPr lvl="1"/>
            <a:r>
              <a:rPr lang="en-US" sz="2600" dirty="0">
                <a:latin typeface="Calibri" panose="020F0502020204030204" pitchFamily="34" charset="0"/>
                <a:ea typeface="Calibri" panose="020F0502020204030204" pitchFamily="34" charset="0"/>
                <a:cs typeface="Calibri" panose="020F0502020204030204" pitchFamily="34" charset="0"/>
              </a:rPr>
              <a:t>The FDF’s fuzzy matching capability is particularly useful for genetic sequences, where approximate matches are often more relevant than exact matches.</a:t>
            </a:r>
          </a:p>
        </p:txBody>
      </p:sp>
    </p:spTree>
    <p:extLst>
      <p:ext uri="{BB962C8B-B14F-4D97-AF65-F5344CB8AC3E}">
        <p14:creationId xmlns:p14="http://schemas.microsoft.com/office/powerpoint/2010/main" val="13892869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609600" y="215372"/>
            <a:ext cx="10972800" cy="644599"/>
          </a:xfrm>
        </p:spPr>
        <p:txBody>
          <a:bodyPr/>
          <a:lstStyle/>
          <a:p>
            <a:r>
              <a:rPr lang="en-US" dirty="0"/>
              <a:t>Modern Applications</a:t>
            </a:r>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a:xfrm>
            <a:off x="609601" y="696686"/>
            <a:ext cx="10977033" cy="5454732"/>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Algorithms:</a:t>
            </a:r>
          </a:p>
          <a:p>
            <a:pPr lvl="1"/>
            <a:r>
              <a:rPr lang="en-US" sz="2600" dirty="0">
                <a:latin typeface="Calibri" panose="020F0502020204030204" pitchFamily="34" charset="0"/>
                <a:ea typeface="Calibri" panose="020F0502020204030204" pitchFamily="34" charset="0"/>
                <a:cs typeface="Calibri" panose="020F0502020204030204" pitchFamily="34" charset="0"/>
              </a:rPr>
              <a:t>Smith-Waterman Algorithm:</a:t>
            </a:r>
          </a:p>
          <a:p>
            <a:pPr lvl="2"/>
            <a:r>
              <a:rPr lang="en-US" sz="2600" dirty="0">
                <a:latin typeface="Calibri" panose="020F0502020204030204" pitchFamily="34" charset="0"/>
                <a:ea typeface="Calibri" panose="020F0502020204030204" pitchFamily="34" charset="0"/>
                <a:cs typeface="Calibri" panose="020F0502020204030204" pitchFamily="34" charset="0"/>
              </a:rPr>
              <a:t> Used for finding local sequence similarities, optimal for genetic analysis.</a:t>
            </a:r>
          </a:p>
          <a:p>
            <a:pPr lvl="1"/>
            <a:r>
              <a:rPr lang="en-US" sz="2600" dirty="0">
                <a:latin typeface="Calibri" panose="020F0502020204030204" pitchFamily="34" charset="0"/>
                <a:ea typeface="Calibri" panose="020F0502020204030204" pitchFamily="34" charset="0"/>
                <a:cs typeface="Calibri" panose="020F0502020204030204" pitchFamily="34" charset="0"/>
              </a:rPr>
              <a:t>General Profile Algorithm: </a:t>
            </a:r>
          </a:p>
          <a:p>
            <a:pPr lvl="2"/>
            <a:r>
              <a:rPr lang="en-US" sz="2600" dirty="0">
                <a:latin typeface="Calibri" panose="020F0502020204030204" pitchFamily="34" charset="0"/>
                <a:ea typeface="Calibri" panose="020F0502020204030204" pitchFamily="34" charset="0"/>
                <a:cs typeface="Calibri" panose="020F0502020204030204" pitchFamily="34" charset="0"/>
              </a:rPr>
              <a:t>Searches for conserved regions in nucleic acids or proteins across evolutionary changes.</a:t>
            </a:r>
          </a:p>
          <a:p>
            <a:pPr lvl="1"/>
            <a:r>
              <a:rPr lang="en-US" sz="2600" dirty="0">
                <a:latin typeface="Calibri" panose="020F0502020204030204" pitchFamily="34" charset="0"/>
                <a:ea typeface="Calibri" panose="020F0502020204030204" pitchFamily="34" charset="0"/>
                <a:cs typeface="Calibri" panose="020F0502020204030204" pitchFamily="34" charset="0"/>
              </a:rPr>
              <a:t>Biology Tool Kit (BTK):</a:t>
            </a:r>
          </a:p>
          <a:p>
            <a:pPr lvl="2"/>
            <a:r>
              <a:rPr lang="en-US" sz="2600" dirty="0">
                <a:latin typeface="Calibri" panose="020F0502020204030204" pitchFamily="34" charset="0"/>
                <a:ea typeface="Calibri" panose="020F0502020204030204" pitchFamily="34" charset="0"/>
                <a:cs typeface="Calibri" panose="020F0502020204030204" pitchFamily="34" charset="0"/>
              </a:rPr>
              <a:t>Paracel combines the FDF with BTK software to perform advanced genetic analysis.</a:t>
            </a:r>
          </a:p>
          <a:p>
            <a:pPr lvl="2"/>
            <a:r>
              <a:rPr lang="en-US" sz="2600" dirty="0">
                <a:latin typeface="Calibri" panose="020F0502020204030204" pitchFamily="34" charset="0"/>
                <a:ea typeface="Calibri" panose="020F0502020204030204" pitchFamily="34" charset="0"/>
                <a:cs typeface="Calibri" panose="020F0502020204030204" pitchFamily="34" charset="0"/>
              </a:rPr>
              <a:t>The FDF identifies sequences with high similarity to the query, and the BTK software completes the analysis (e.g., scoring, alignment).</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04056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Modern Applications</a:t>
            </a:r>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Supported Searches:</a:t>
            </a:r>
          </a:p>
          <a:p>
            <a:pPr lvl="1"/>
            <a:r>
              <a:rPr lang="en-US" sz="2600" dirty="0">
                <a:latin typeface="Calibri" panose="020F0502020204030204" pitchFamily="34" charset="0"/>
                <a:ea typeface="Calibri" panose="020F0502020204030204" pitchFamily="34" charset="0"/>
                <a:cs typeface="Calibri" panose="020F0502020204030204" pitchFamily="34" charset="0"/>
              </a:rPr>
              <a:t>DNA vs. DNA.</a:t>
            </a:r>
          </a:p>
          <a:p>
            <a:pPr lvl="1"/>
            <a:r>
              <a:rPr lang="en-US" sz="2600" dirty="0">
                <a:latin typeface="Calibri" panose="020F0502020204030204" pitchFamily="34" charset="0"/>
                <a:ea typeface="Calibri" panose="020F0502020204030204" pitchFamily="34" charset="0"/>
                <a:cs typeface="Calibri" panose="020F0502020204030204" pitchFamily="34" charset="0"/>
              </a:rPr>
              <a:t>Protein vs. protein.</a:t>
            </a:r>
          </a:p>
          <a:p>
            <a:pPr lvl="1"/>
            <a:r>
              <a:rPr lang="en-US" sz="2600" dirty="0">
                <a:latin typeface="Calibri" panose="020F0502020204030204" pitchFamily="34" charset="0"/>
                <a:ea typeface="Calibri" panose="020F0502020204030204" pitchFamily="34" charset="0"/>
                <a:cs typeface="Calibri" panose="020F0502020204030204" pitchFamily="34" charset="0"/>
              </a:rPr>
              <a:t>DNA vs. protein.</a:t>
            </a:r>
          </a:p>
          <a:p>
            <a:r>
              <a:rPr lang="en-US" sz="2600" dirty="0">
                <a:latin typeface="Calibri" panose="020F0502020204030204" pitchFamily="34" charset="0"/>
                <a:ea typeface="Calibri" panose="020F0502020204030204" pitchFamily="34" charset="0"/>
                <a:cs typeface="Calibri" panose="020F0502020204030204" pitchFamily="34" charset="0"/>
              </a:rPr>
              <a:t>Workflow:</a:t>
            </a:r>
          </a:p>
          <a:p>
            <a:pPr lvl="1"/>
            <a:r>
              <a:rPr lang="en-US" sz="2600" dirty="0">
                <a:latin typeface="Calibri" panose="020F0502020204030204" pitchFamily="34" charset="0"/>
                <a:ea typeface="Calibri" panose="020F0502020204030204" pitchFamily="34" charset="0"/>
                <a:cs typeface="Calibri" panose="020F0502020204030204" pitchFamily="34" charset="0"/>
              </a:rPr>
              <a:t>The FDF is loaded with a query sequence.</a:t>
            </a:r>
          </a:p>
          <a:p>
            <a:pPr lvl="1"/>
            <a:r>
              <a:rPr lang="en-US" sz="2600" dirty="0">
                <a:latin typeface="Calibri" panose="020F0502020204030204" pitchFamily="34" charset="0"/>
                <a:ea typeface="Calibri" panose="020F0502020204030204" pitchFamily="34" charset="0"/>
                <a:cs typeface="Calibri" panose="020F0502020204030204" pitchFamily="34" charset="0"/>
              </a:rPr>
              <a:t>It searches the database for sequences with local similarity scores above a threshold.</a:t>
            </a:r>
          </a:p>
          <a:p>
            <a:pPr lvl="1"/>
            <a:r>
              <a:rPr lang="en-US" sz="2600" dirty="0">
                <a:latin typeface="Calibri" panose="020F0502020204030204" pitchFamily="34" charset="0"/>
                <a:ea typeface="Calibri" panose="020F0502020204030204" pitchFamily="34" charset="0"/>
                <a:cs typeface="Calibri" panose="020F0502020204030204" pitchFamily="34" charset="0"/>
              </a:rPr>
              <a:t>Matching sequences are passed to the BTK software for further analysis.</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78672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t>Multimedia Information Retrieval</a:t>
            </a:r>
          </a:p>
        </p:txBody>
      </p:sp>
      <p:pic>
        <p:nvPicPr>
          <p:cNvPr id="7" name="Content Placeholder 6">
            <a:extLst>
              <a:ext uri="{FF2B5EF4-FFF2-40B4-BE49-F238E27FC236}">
                <a16:creationId xmlns:a16="http://schemas.microsoft.com/office/drawing/2014/main" id="{B0BC554B-6874-1A87-D021-695A7AA9DA9D}"/>
              </a:ext>
            </a:extLst>
          </p:cNvPr>
          <p:cNvPicPr>
            <a:picLocks noGrp="1" noChangeAspect="1"/>
          </p:cNvPicPr>
          <p:nvPr>
            <p:ph sz="quarter" idx="13"/>
          </p:nvPr>
        </p:nvPicPr>
        <p:blipFill>
          <a:blip r:embed="rId2"/>
          <a:stretch>
            <a:fillRect/>
          </a:stretch>
        </p:blipFill>
        <p:spPr>
          <a:xfrm>
            <a:off x="1665113" y="2012928"/>
            <a:ext cx="7909065" cy="2236242"/>
          </a:xfrm>
        </p:spPr>
      </p:pic>
    </p:spTree>
    <p:extLst>
      <p:ext uri="{BB962C8B-B14F-4D97-AF65-F5344CB8AC3E}">
        <p14:creationId xmlns:p14="http://schemas.microsoft.com/office/powerpoint/2010/main" val="830444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2"/>
            <a:ext cx="10972800" cy="651403"/>
          </a:xfrm>
        </p:spPr>
        <p:txBody>
          <a:bodyPr/>
          <a:lstStyle/>
          <a:p>
            <a:r>
              <a:rPr lang="en-US" dirty="0">
                <a:effectLst/>
              </a:rPr>
              <a:t>Spoken Language Audio Retrieval</a:t>
            </a:r>
          </a:p>
        </p:txBody>
      </p:sp>
      <p:pic>
        <p:nvPicPr>
          <p:cNvPr id="12" name="Content Placeholder 11">
            <a:extLst>
              <a:ext uri="{FF2B5EF4-FFF2-40B4-BE49-F238E27FC236}">
                <a16:creationId xmlns:a16="http://schemas.microsoft.com/office/drawing/2014/main" id="{2A45E9B9-C0FE-C5DE-DADC-3BC01659BC68}"/>
              </a:ext>
            </a:extLst>
          </p:cNvPr>
          <p:cNvPicPr>
            <a:picLocks noGrp="1" noChangeAspect="1"/>
          </p:cNvPicPr>
          <p:nvPr>
            <p:ph sz="quarter" idx="13"/>
          </p:nvPr>
        </p:nvPicPr>
        <p:blipFill>
          <a:blip r:embed="rId2"/>
          <a:stretch>
            <a:fillRect/>
          </a:stretch>
        </p:blipFill>
        <p:spPr>
          <a:xfrm>
            <a:off x="297315" y="950989"/>
            <a:ext cx="5962458" cy="5040235"/>
          </a:xfrm>
        </p:spPr>
      </p:pic>
      <p:sp>
        <p:nvSpPr>
          <p:cNvPr id="13" name="Content Placeholder 12">
            <a:extLst>
              <a:ext uri="{FF2B5EF4-FFF2-40B4-BE49-F238E27FC236}">
                <a16:creationId xmlns:a16="http://schemas.microsoft.com/office/drawing/2014/main" id="{40603CDD-E358-2447-9D60-2BD843744BE0}"/>
              </a:ext>
            </a:extLst>
          </p:cNvPr>
          <p:cNvSpPr>
            <a:spLocks noGrp="1"/>
          </p:cNvSpPr>
          <p:nvPr>
            <p:ph sz="quarter" idx="14"/>
          </p:nvPr>
        </p:nvSpPr>
        <p:spPr>
          <a:xfrm>
            <a:off x="6259773" y="866774"/>
            <a:ext cx="5322627" cy="5381625"/>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Left Column: </a:t>
            </a:r>
            <a:r>
              <a:rPr lang="en-US" sz="2600" dirty="0">
                <a:latin typeface="Calibri" panose="020F0502020204030204" pitchFamily="34" charset="0"/>
                <a:ea typeface="Calibri" panose="020F0502020204030204" pitchFamily="34" charset="0"/>
                <a:cs typeface="Calibri" panose="020F0502020204030204" pitchFamily="34" charset="0"/>
              </a:rPr>
              <a:t>Lists speakers (e.g., Elizabeth Vargas, William Cohen).</a:t>
            </a:r>
          </a:p>
          <a:p>
            <a:r>
              <a:rPr lang="en-US" sz="2600" b="1" dirty="0">
                <a:latin typeface="Calibri" panose="020F0502020204030204" pitchFamily="34" charset="0"/>
                <a:ea typeface="Calibri" panose="020F0502020204030204" pitchFamily="34" charset="0"/>
                <a:cs typeface="Calibri" panose="020F0502020204030204" pitchFamily="34" charset="0"/>
              </a:rPr>
              <a:t>Center Column</a:t>
            </a:r>
            <a:r>
              <a:rPr lang="en-US" sz="2600" dirty="0">
                <a:latin typeface="Calibri" panose="020F0502020204030204" pitchFamily="34" charset="0"/>
                <a:ea typeface="Calibri" panose="020F0502020204030204" pitchFamily="34" charset="0"/>
                <a:cs typeface="Calibri" panose="020F0502020204030204" pitchFamily="34" charset="0"/>
              </a:rPr>
              <a:t>: Shows transcribed speech with highlighted named entities (people, organizations, locations).</a:t>
            </a:r>
          </a:p>
          <a:p>
            <a:r>
              <a:rPr lang="en-US" sz="2600" b="1" dirty="0">
                <a:latin typeface="Calibri" panose="020F0502020204030204" pitchFamily="34" charset="0"/>
                <a:ea typeface="Calibri" panose="020F0502020204030204" pitchFamily="34" charset="0"/>
                <a:cs typeface="Calibri" panose="020F0502020204030204" pitchFamily="34" charset="0"/>
              </a:rPr>
              <a:t>Right Column</a:t>
            </a:r>
            <a:r>
              <a:rPr lang="en-US" sz="2600" dirty="0">
                <a:latin typeface="Calibri" panose="020F0502020204030204" pitchFamily="34" charset="0"/>
                <a:ea typeface="Calibri" panose="020F0502020204030204" pitchFamily="34" charset="0"/>
                <a:cs typeface="Calibri" panose="020F0502020204030204" pitchFamily="34" charset="0"/>
              </a:rPr>
              <a:t>: Indicates topics (e.g., "Foreign relations with the United Nations").</a:t>
            </a:r>
          </a:p>
        </p:txBody>
      </p:sp>
    </p:spTree>
    <p:extLst>
      <p:ext uri="{BB962C8B-B14F-4D97-AF65-F5344CB8AC3E}">
        <p14:creationId xmlns:p14="http://schemas.microsoft.com/office/powerpoint/2010/main" val="23580046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Non-Speech Audio Retrieval</a:t>
            </a:r>
          </a:p>
        </p:txBody>
      </p:sp>
      <p:pic>
        <p:nvPicPr>
          <p:cNvPr id="7" name="Content Placeholder 6">
            <a:extLst>
              <a:ext uri="{FF2B5EF4-FFF2-40B4-BE49-F238E27FC236}">
                <a16:creationId xmlns:a16="http://schemas.microsoft.com/office/drawing/2014/main" id="{B5AEDCD6-D8E2-B06C-44CD-1B566AEB5142}"/>
              </a:ext>
            </a:extLst>
          </p:cNvPr>
          <p:cNvPicPr>
            <a:picLocks noGrp="1" noChangeAspect="1"/>
          </p:cNvPicPr>
          <p:nvPr>
            <p:ph sz="quarter" idx="13"/>
          </p:nvPr>
        </p:nvPicPr>
        <p:blipFill>
          <a:blip r:embed="rId2"/>
          <a:stretch>
            <a:fillRect/>
          </a:stretch>
        </p:blipFill>
        <p:spPr>
          <a:xfrm>
            <a:off x="526112" y="1421945"/>
            <a:ext cx="5406116" cy="4569279"/>
          </a:xfrm>
        </p:spPr>
      </p:pic>
      <p:sp>
        <p:nvSpPr>
          <p:cNvPr id="3" name="Content Placeholder 2">
            <a:extLst>
              <a:ext uri="{FF2B5EF4-FFF2-40B4-BE49-F238E27FC236}">
                <a16:creationId xmlns:a16="http://schemas.microsoft.com/office/drawing/2014/main" id="{5597A615-0329-8843-E916-829BEF9A5448}"/>
              </a:ext>
            </a:extLst>
          </p:cNvPr>
          <p:cNvSpPr>
            <a:spLocks noGrp="1"/>
          </p:cNvSpPr>
          <p:nvPr>
            <p:ph sz="quarter" idx="14"/>
          </p:nvPr>
        </p:nvSpPr>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Non-speech audio retrieval, such as noises or sounds, which is crucial for fields like music and video production. </a:t>
            </a:r>
          </a:p>
          <a:p>
            <a:r>
              <a:rPr lang="en-US" sz="2600" dirty="0">
                <a:effectLst/>
                <a:latin typeface="Calibri" panose="020F0502020204030204" pitchFamily="34" charset="0"/>
                <a:ea typeface="Calibri" panose="020F0502020204030204" pitchFamily="34" charset="0"/>
                <a:cs typeface="Calibri" panose="020F0502020204030204" pitchFamily="34" charset="0"/>
              </a:rPr>
              <a:t>It focuses on the </a:t>
            </a:r>
            <a:r>
              <a:rPr lang="en-US" sz="2600" dirty="0" err="1">
                <a:effectLst/>
                <a:latin typeface="Calibri" panose="020F0502020204030204" pitchFamily="34" charset="0"/>
                <a:ea typeface="Calibri" panose="020F0502020204030204" pitchFamily="34" charset="0"/>
                <a:cs typeface="Calibri" panose="020F0502020204030204" pitchFamily="34" charset="0"/>
              </a:rPr>
              <a:t>soundfisher</a:t>
            </a:r>
            <a:r>
              <a:rPr lang="en-US" sz="2600" dirty="0">
                <a:effectLst/>
                <a:latin typeface="Calibri" panose="020F0502020204030204" pitchFamily="34" charset="0"/>
                <a:ea typeface="Calibri" panose="020F0502020204030204" pitchFamily="34" charset="0"/>
                <a:cs typeface="Calibri" panose="020F0502020204030204" pitchFamily="34" charset="0"/>
              </a:rPr>
              <a:t> system (developed by thorn </a:t>
            </a:r>
            <a:r>
              <a:rPr lang="en-US" sz="2600" dirty="0" err="1">
                <a:effectLst/>
                <a:latin typeface="Calibri" panose="020F0502020204030204" pitchFamily="34" charset="0"/>
                <a:ea typeface="Calibri" panose="020F0502020204030204" pitchFamily="34" charset="0"/>
                <a:cs typeface="Calibri" panose="020F0502020204030204" pitchFamily="34" charset="0"/>
              </a:rPr>
              <a:t>blum</a:t>
            </a:r>
            <a:r>
              <a:rPr lang="en-US" sz="2600" dirty="0">
                <a:effectLst/>
                <a:latin typeface="Calibri" panose="020F0502020204030204" pitchFamily="34" charset="0"/>
                <a:ea typeface="Calibri" panose="020F0502020204030204" pitchFamily="34" charset="0"/>
                <a:cs typeface="Calibri" panose="020F0502020204030204" pitchFamily="34" charset="0"/>
              </a:rPr>
              <a:t> et al., 1997, at www.Musclefish.Com), a user-extensible tool for sound classification and retrieval.</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21831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Non-Speech Audio Retrieval</a:t>
            </a:r>
          </a:p>
        </p:txBody>
      </p:sp>
      <p:sp>
        <p:nvSpPr>
          <p:cNvPr id="3" name="Content Placeholder 2">
            <a:extLst>
              <a:ext uri="{FF2B5EF4-FFF2-40B4-BE49-F238E27FC236}">
                <a16:creationId xmlns:a16="http://schemas.microsoft.com/office/drawing/2014/main" id="{5597A615-0329-8843-E916-829BEF9A5448}"/>
              </a:ext>
            </a:extLst>
          </p:cNvPr>
          <p:cNvSpPr>
            <a:spLocks noGrp="1"/>
          </p:cNvSpPr>
          <p:nvPr>
            <p:ph sz="quarter" idx="4294967295"/>
          </p:nvPr>
        </p:nvSpPr>
        <p:spPr>
          <a:xfrm>
            <a:off x="489858" y="1552575"/>
            <a:ext cx="11277600" cy="4438650"/>
          </a:xfrm>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Non-speech audio retrieval, such as noises or sounds, which is crucial for fields like music and video production. </a:t>
            </a:r>
          </a:p>
          <a:p>
            <a:r>
              <a:rPr lang="en-US" sz="2600" dirty="0">
                <a:effectLst/>
                <a:latin typeface="Calibri" panose="020F0502020204030204" pitchFamily="34" charset="0"/>
                <a:ea typeface="Calibri" panose="020F0502020204030204" pitchFamily="34" charset="0"/>
                <a:cs typeface="Calibri" panose="020F0502020204030204" pitchFamily="34" charset="0"/>
              </a:rPr>
              <a:t>It focuses on the </a:t>
            </a:r>
            <a:r>
              <a:rPr lang="en-US" sz="2600" dirty="0" err="1">
                <a:effectLst/>
                <a:latin typeface="Calibri" panose="020F0502020204030204" pitchFamily="34" charset="0"/>
                <a:ea typeface="Calibri" panose="020F0502020204030204" pitchFamily="34" charset="0"/>
                <a:cs typeface="Calibri" panose="020F0502020204030204" pitchFamily="34" charset="0"/>
              </a:rPr>
              <a:t>soundfisher</a:t>
            </a:r>
            <a:r>
              <a:rPr lang="en-US" sz="2600" dirty="0">
                <a:effectLst/>
                <a:latin typeface="Calibri" panose="020F0502020204030204" pitchFamily="34" charset="0"/>
                <a:ea typeface="Calibri" panose="020F0502020204030204" pitchFamily="34" charset="0"/>
                <a:cs typeface="Calibri" panose="020F0502020204030204" pitchFamily="34" charset="0"/>
              </a:rPr>
              <a:t> system (developed by thorn </a:t>
            </a:r>
            <a:r>
              <a:rPr lang="en-US" sz="2600" dirty="0" err="1">
                <a:effectLst/>
                <a:latin typeface="Calibri" panose="020F0502020204030204" pitchFamily="34" charset="0"/>
                <a:ea typeface="Calibri" panose="020F0502020204030204" pitchFamily="34" charset="0"/>
                <a:cs typeface="Calibri" panose="020F0502020204030204" pitchFamily="34" charset="0"/>
              </a:rPr>
              <a:t>blum</a:t>
            </a:r>
            <a:r>
              <a:rPr lang="en-US" sz="2600" dirty="0">
                <a:effectLst/>
                <a:latin typeface="Calibri" panose="020F0502020204030204" pitchFamily="34" charset="0"/>
                <a:ea typeface="Calibri" panose="020F0502020204030204" pitchFamily="34" charset="0"/>
                <a:cs typeface="Calibri" panose="020F0502020204030204" pitchFamily="34" charset="0"/>
              </a:rPr>
              <a:t> et al., 1997, at www.Musclefish.Com), a user-extensible tool for sound classification and retrieval.</a:t>
            </a:r>
          </a:p>
        </p:txBody>
      </p:sp>
    </p:spTree>
    <p:extLst>
      <p:ext uri="{BB962C8B-B14F-4D97-AF65-F5344CB8AC3E}">
        <p14:creationId xmlns:p14="http://schemas.microsoft.com/office/powerpoint/2010/main" val="1627285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Non-Speech Audio Retrieval</a:t>
            </a:r>
          </a:p>
        </p:txBody>
      </p:sp>
      <p:sp>
        <p:nvSpPr>
          <p:cNvPr id="3" name="Content Placeholder 2">
            <a:extLst>
              <a:ext uri="{FF2B5EF4-FFF2-40B4-BE49-F238E27FC236}">
                <a16:creationId xmlns:a16="http://schemas.microsoft.com/office/drawing/2014/main" id="{5597A615-0329-8843-E916-829BEF9A5448}"/>
              </a:ext>
            </a:extLst>
          </p:cNvPr>
          <p:cNvSpPr>
            <a:spLocks noGrp="1"/>
          </p:cNvSpPr>
          <p:nvPr>
            <p:ph sz="quarter" idx="4294967295"/>
          </p:nvPr>
        </p:nvSpPr>
        <p:spPr>
          <a:xfrm>
            <a:off x="489858" y="1552575"/>
            <a:ext cx="11277600" cy="4438650"/>
          </a:xfrm>
        </p:spPr>
        <p:txBody>
          <a:bodyPr/>
          <a:lstStyle/>
          <a:p>
            <a:r>
              <a:rPr lang="en-US" sz="2600" dirty="0" err="1">
                <a:latin typeface="Calibri" panose="020F0502020204030204" pitchFamily="34" charset="0"/>
                <a:ea typeface="Calibri" panose="020F0502020204030204" pitchFamily="34" charset="0"/>
                <a:cs typeface="Calibri" panose="020F0502020204030204" pitchFamily="34" charset="0"/>
              </a:rPr>
              <a:t>SoundFisher</a:t>
            </a:r>
            <a:r>
              <a:rPr lang="en-US" sz="2600" dirty="0">
                <a:latin typeface="Calibri" panose="020F0502020204030204" pitchFamily="34" charset="0"/>
                <a:ea typeface="Calibri" panose="020F0502020204030204" pitchFamily="34" charset="0"/>
                <a:cs typeface="Calibri" panose="020F0502020204030204" pitchFamily="34" charset="0"/>
              </a:rPr>
              <a:t> System Overview</a:t>
            </a:r>
          </a:p>
          <a:p>
            <a:pPr lvl="1"/>
            <a:r>
              <a:rPr lang="en-US" sz="2600" dirty="0" err="1">
                <a:latin typeface="Calibri" panose="020F0502020204030204" pitchFamily="34" charset="0"/>
                <a:ea typeface="Calibri" panose="020F0502020204030204" pitchFamily="34" charset="0"/>
                <a:cs typeface="Calibri" panose="020F0502020204030204" pitchFamily="34" charset="0"/>
              </a:rPr>
              <a:t>SoundFisher</a:t>
            </a:r>
            <a:r>
              <a:rPr lang="en-US" sz="2600" dirty="0">
                <a:latin typeface="Calibri" panose="020F0502020204030204" pitchFamily="34" charset="0"/>
                <a:ea typeface="Calibri" panose="020F0502020204030204" pitchFamily="34" charset="0"/>
                <a:cs typeface="Calibri" panose="020F0502020204030204" pitchFamily="34" charset="0"/>
              </a:rPr>
              <a:t> uses techniques from signal processing, psychoacoustics, speech recognition, computer music, and multimedia databases to index and retrieve sounds. Instead of words (as in text retrieval), it indexes sounds using a vector of acoustic features:</a:t>
            </a:r>
          </a:p>
          <a:p>
            <a:pPr lvl="1"/>
            <a:endParaRPr lang="en-US" sz="2600" dirty="0">
              <a:latin typeface="Calibri" panose="020F0502020204030204" pitchFamily="34" charset="0"/>
              <a:ea typeface="Calibri" panose="020F0502020204030204" pitchFamily="34" charset="0"/>
              <a:cs typeface="Calibri" panose="020F0502020204030204" pitchFamily="34" charset="0"/>
            </a:endParaRPr>
          </a:p>
          <a:p>
            <a:pPr lvl="1"/>
            <a:r>
              <a:rPr lang="en-US" sz="2600" dirty="0">
                <a:latin typeface="Calibri" panose="020F0502020204030204" pitchFamily="34" charset="0"/>
                <a:ea typeface="Calibri" panose="020F0502020204030204" pitchFamily="34" charset="0"/>
                <a:cs typeface="Calibri" panose="020F0502020204030204" pitchFamily="34" charset="0"/>
              </a:rPr>
              <a:t>Directly measurable: duration, loudness, pitch, brightness.</a:t>
            </a:r>
          </a:p>
          <a:p>
            <a:pPr lvl="1"/>
            <a:r>
              <a:rPr lang="en-US" sz="2600" dirty="0">
                <a:latin typeface="Calibri" panose="020F0502020204030204" pitchFamily="34" charset="0"/>
                <a:ea typeface="Calibri" panose="020F0502020204030204" pitchFamily="34" charset="0"/>
                <a:cs typeface="Calibri" panose="020F0502020204030204" pitchFamily="34" charset="0"/>
              </a:rPr>
              <a:t>These features allow users to search for sounds within specific ranges.</a:t>
            </a:r>
          </a:p>
        </p:txBody>
      </p:sp>
    </p:spTree>
    <p:extLst>
      <p:ext uri="{BB962C8B-B14F-4D97-AF65-F5344CB8AC3E}">
        <p14:creationId xmlns:p14="http://schemas.microsoft.com/office/powerpoint/2010/main" val="1667186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Non-Speech Audio Retrieval</a:t>
            </a:r>
          </a:p>
        </p:txBody>
      </p:sp>
      <p:pic>
        <p:nvPicPr>
          <p:cNvPr id="7" name="Content Placeholder 6">
            <a:extLst>
              <a:ext uri="{FF2B5EF4-FFF2-40B4-BE49-F238E27FC236}">
                <a16:creationId xmlns:a16="http://schemas.microsoft.com/office/drawing/2014/main" id="{B5AEDCD6-D8E2-B06C-44CD-1B566AEB5142}"/>
              </a:ext>
            </a:extLst>
          </p:cNvPr>
          <p:cNvPicPr>
            <a:picLocks noGrp="1" noChangeAspect="1"/>
          </p:cNvPicPr>
          <p:nvPr>
            <p:ph sz="quarter" idx="13"/>
          </p:nvPr>
        </p:nvPicPr>
        <p:blipFill>
          <a:blip r:embed="rId2"/>
          <a:stretch>
            <a:fillRect/>
          </a:stretch>
        </p:blipFill>
        <p:spPr>
          <a:xfrm>
            <a:off x="526112" y="1421945"/>
            <a:ext cx="5406116" cy="4569279"/>
          </a:xfrm>
        </p:spPr>
      </p:pic>
      <p:sp>
        <p:nvSpPr>
          <p:cNvPr id="3" name="Content Placeholder 2">
            <a:extLst>
              <a:ext uri="{FF2B5EF4-FFF2-40B4-BE49-F238E27FC236}">
                <a16:creationId xmlns:a16="http://schemas.microsoft.com/office/drawing/2014/main" id="{5597A615-0329-8843-E916-829BEF9A5448}"/>
              </a:ext>
            </a:extLst>
          </p:cNvPr>
          <p:cNvSpPr>
            <a:spLocks noGrp="1"/>
          </p:cNvSpPr>
          <p:nvPr>
            <p:ph sz="quarter" idx="14"/>
          </p:nvPr>
        </p:nvSpPr>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Non-speech audio retrieval, such as noises or sounds, which is crucial for fields like music and video production. </a:t>
            </a:r>
          </a:p>
          <a:p>
            <a:r>
              <a:rPr lang="en-US" sz="2600" dirty="0">
                <a:effectLst/>
                <a:latin typeface="Calibri" panose="020F0502020204030204" pitchFamily="34" charset="0"/>
                <a:ea typeface="Calibri" panose="020F0502020204030204" pitchFamily="34" charset="0"/>
                <a:cs typeface="Calibri" panose="020F0502020204030204" pitchFamily="34" charset="0"/>
              </a:rPr>
              <a:t>It focuses on the </a:t>
            </a:r>
            <a:r>
              <a:rPr lang="en-US" sz="2600" dirty="0" err="1">
                <a:effectLst/>
                <a:latin typeface="Calibri" panose="020F0502020204030204" pitchFamily="34" charset="0"/>
                <a:ea typeface="Calibri" panose="020F0502020204030204" pitchFamily="34" charset="0"/>
                <a:cs typeface="Calibri" panose="020F0502020204030204" pitchFamily="34" charset="0"/>
              </a:rPr>
              <a:t>soundfisher</a:t>
            </a:r>
            <a:r>
              <a:rPr lang="en-US" sz="2600" dirty="0">
                <a:effectLst/>
                <a:latin typeface="Calibri" panose="020F0502020204030204" pitchFamily="34" charset="0"/>
                <a:ea typeface="Calibri" panose="020F0502020204030204" pitchFamily="34" charset="0"/>
                <a:cs typeface="Calibri" panose="020F0502020204030204" pitchFamily="34" charset="0"/>
              </a:rPr>
              <a:t> system (developed by thorn </a:t>
            </a:r>
            <a:r>
              <a:rPr lang="en-US" sz="2600" dirty="0" err="1">
                <a:effectLst/>
                <a:latin typeface="Calibri" panose="020F0502020204030204" pitchFamily="34" charset="0"/>
                <a:ea typeface="Calibri" panose="020F0502020204030204" pitchFamily="34" charset="0"/>
                <a:cs typeface="Calibri" panose="020F0502020204030204" pitchFamily="34" charset="0"/>
              </a:rPr>
              <a:t>blum</a:t>
            </a:r>
            <a:r>
              <a:rPr lang="en-US" sz="2600" dirty="0">
                <a:effectLst/>
                <a:latin typeface="Calibri" panose="020F0502020204030204" pitchFamily="34" charset="0"/>
                <a:ea typeface="Calibri" panose="020F0502020204030204" pitchFamily="34" charset="0"/>
                <a:cs typeface="Calibri" panose="020F0502020204030204" pitchFamily="34" charset="0"/>
              </a:rPr>
              <a:t> et al., 1997, at www.Musclefish.Com), a user-extensible tool for sound classification and retrieval.</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47901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609600" y="215372"/>
            <a:ext cx="10972800" cy="651403"/>
          </a:xfrm>
        </p:spPr>
        <p:txBody>
          <a:bodyPr/>
          <a:lstStyle/>
          <a:p>
            <a:r>
              <a:rPr lang="en-US" dirty="0"/>
              <a:t>Non-Speech Audio Retrieval</a:t>
            </a:r>
          </a:p>
        </p:txBody>
      </p:sp>
      <p:pic>
        <p:nvPicPr>
          <p:cNvPr id="7" name="Content Placeholder 6">
            <a:extLst>
              <a:ext uri="{FF2B5EF4-FFF2-40B4-BE49-F238E27FC236}">
                <a16:creationId xmlns:a16="http://schemas.microsoft.com/office/drawing/2014/main" id="{B5AEDCD6-D8E2-B06C-44CD-1B566AEB5142}"/>
              </a:ext>
            </a:extLst>
          </p:cNvPr>
          <p:cNvPicPr>
            <a:picLocks noGrp="1" noChangeAspect="1"/>
          </p:cNvPicPr>
          <p:nvPr>
            <p:ph sz="quarter" idx="13"/>
          </p:nvPr>
        </p:nvPicPr>
        <p:blipFill>
          <a:blip r:embed="rId2"/>
          <a:stretch>
            <a:fillRect/>
          </a:stretch>
        </p:blipFill>
        <p:spPr>
          <a:xfrm>
            <a:off x="384598" y="1305604"/>
            <a:ext cx="5406116" cy="4569279"/>
          </a:xfrm>
        </p:spPr>
      </p:pic>
      <p:sp>
        <p:nvSpPr>
          <p:cNvPr id="3" name="Content Placeholder 2">
            <a:extLst>
              <a:ext uri="{FF2B5EF4-FFF2-40B4-BE49-F238E27FC236}">
                <a16:creationId xmlns:a16="http://schemas.microsoft.com/office/drawing/2014/main" id="{5597A615-0329-8843-E916-829BEF9A5448}"/>
              </a:ext>
            </a:extLst>
          </p:cNvPr>
          <p:cNvSpPr>
            <a:spLocks noGrp="1"/>
          </p:cNvSpPr>
          <p:nvPr>
            <p:ph sz="quarter" idx="14"/>
          </p:nvPr>
        </p:nvSpPr>
        <p:spPr>
          <a:xfrm>
            <a:off x="5790714" y="866774"/>
            <a:ext cx="5791687" cy="5446939"/>
          </a:xfrm>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Analysis of Male Laughter</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a graphical analysis of a male laughter sound across multiple dimensions:</a:t>
            </a:r>
          </a:p>
          <a:p>
            <a:pPr lvl="1"/>
            <a:r>
              <a:rPr lang="en-US" sz="2400" b="1" dirty="0">
                <a:effectLst/>
                <a:latin typeface="Calibri" panose="020F0502020204030204" pitchFamily="34" charset="0"/>
                <a:ea typeface="Calibri" panose="020F0502020204030204" pitchFamily="34" charset="0"/>
                <a:cs typeface="Calibri" panose="020F0502020204030204" pitchFamily="34" charset="0"/>
              </a:rPr>
              <a:t>Amplitude</a:t>
            </a:r>
            <a:r>
              <a:rPr lang="en-US" sz="2400" dirty="0">
                <a:effectLst/>
                <a:latin typeface="Calibri" panose="020F0502020204030204" pitchFamily="34" charset="0"/>
                <a:ea typeface="Calibri" panose="020F0502020204030204" pitchFamily="34" charset="0"/>
                <a:cs typeface="Calibri" panose="020F0502020204030204" pitchFamily="34" charset="0"/>
              </a:rPr>
              <a:t>: Loudness over time.</a:t>
            </a:r>
          </a:p>
          <a:p>
            <a:pPr lvl="1"/>
            <a:r>
              <a:rPr lang="en-US" sz="2400" b="1" dirty="0">
                <a:effectLst/>
                <a:latin typeface="Calibri" panose="020F0502020204030204" pitchFamily="34" charset="0"/>
                <a:ea typeface="Calibri" panose="020F0502020204030204" pitchFamily="34" charset="0"/>
                <a:cs typeface="Calibri" panose="020F0502020204030204" pitchFamily="34" charset="0"/>
              </a:rPr>
              <a:t>Brightness</a:t>
            </a:r>
            <a:r>
              <a:rPr lang="en-US" sz="2400" dirty="0">
                <a:effectLst/>
                <a:latin typeface="Calibri" panose="020F0502020204030204" pitchFamily="34" charset="0"/>
                <a:ea typeface="Calibri" panose="020F0502020204030204" pitchFamily="34" charset="0"/>
                <a:cs typeface="Calibri" panose="020F0502020204030204" pitchFamily="34" charset="0"/>
              </a:rPr>
              <a:t>: The perceived "sharpness" or "clarity" of the sound.</a:t>
            </a:r>
          </a:p>
          <a:p>
            <a:pPr lvl="1"/>
            <a:r>
              <a:rPr lang="en-US" sz="2400" b="1" dirty="0">
                <a:effectLst/>
                <a:latin typeface="Calibri" panose="020F0502020204030204" pitchFamily="34" charset="0"/>
                <a:ea typeface="Calibri" panose="020F0502020204030204" pitchFamily="34" charset="0"/>
                <a:cs typeface="Calibri" panose="020F0502020204030204" pitchFamily="34" charset="0"/>
              </a:rPr>
              <a:t>Bandwidth</a:t>
            </a:r>
            <a:r>
              <a:rPr lang="en-US" sz="2400" dirty="0">
                <a:effectLst/>
                <a:latin typeface="Calibri" panose="020F0502020204030204" pitchFamily="34" charset="0"/>
                <a:ea typeface="Calibri" panose="020F0502020204030204" pitchFamily="34" charset="0"/>
                <a:cs typeface="Calibri" panose="020F0502020204030204" pitchFamily="34" charset="0"/>
              </a:rPr>
              <a:t>: The range of frequencies present.</a:t>
            </a:r>
          </a:p>
          <a:p>
            <a:pPr lvl="1"/>
            <a:r>
              <a:rPr lang="en-US" sz="2400" b="1" dirty="0">
                <a:effectLst/>
                <a:latin typeface="Calibri" panose="020F0502020204030204" pitchFamily="34" charset="0"/>
                <a:ea typeface="Calibri" panose="020F0502020204030204" pitchFamily="34" charset="0"/>
                <a:cs typeface="Calibri" panose="020F0502020204030204" pitchFamily="34" charset="0"/>
              </a:rPr>
              <a:t>Pitch</a:t>
            </a:r>
            <a:r>
              <a:rPr lang="en-US" sz="2400" dirty="0">
                <a:effectLst/>
                <a:latin typeface="Calibri" panose="020F0502020204030204" pitchFamily="34" charset="0"/>
                <a:ea typeface="Calibri" panose="020F0502020204030204" pitchFamily="34" charset="0"/>
                <a:cs typeface="Calibri" panose="020F0502020204030204" pitchFamily="34" charset="0"/>
              </a:rPr>
              <a:t>: The perceived frequency of the sound. The graphs (labeled "LAUGHTER_MALE_BRIL") visualize how these features vary, helping to characterize the sound for indexing.</a:t>
            </a:r>
          </a:p>
        </p:txBody>
      </p:sp>
    </p:spTree>
    <p:extLst>
      <p:ext uri="{BB962C8B-B14F-4D97-AF65-F5344CB8AC3E}">
        <p14:creationId xmlns:p14="http://schemas.microsoft.com/office/powerpoint/2010/main" val="16796423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5AEDCD6-D8E2-B06C-44CD-1B566AEB5142}"/>
              </a:ext>
            </a:extLst>
          </p:cNvPr>
          <p:cNvPicPr>
            <a:picLocks noGrp="1" noChangeAspect="1"/>
          </p:cNvPicPr>
          <p:nvPr>
            <p:ph sz="quarter" idx="13"/>
          </p:nvPr>
        </p:nvPicPr>
        <p:blipFill>
          <a:blip r:embed="rId2"/>
          <a:stretch>
            <a:fillRect/>
          </a:stretch>
        </p:blipFill>
        <p:spPr>
          <a:xfrm>
            <a:off x="199541" y="0"/>
            <a:ext cx="5406116" cy="4569279"/>
          </a:xfrm>
        </p:spPr>
      </p:pic>
      <p:sp>
        <p:nvSpPr>
          <p:cNvPr id="3" name="Content Placeholder 2">
            <a:extLst>
              <a:ext uri="{FF2B5EF4-FFF2-40B4-BE49-F238E27FC236}">
                <a16:creationId xmlns:a16="http://schemas.microsoft.com/office/drawing/2014/main" id="{5597A615-0329-8843-E916-829BEF9A5448}"/>
              </a:ext>
            </a:extLst>
          </p:cNvPr>
          <p:cNvSpPr>
            <a:spLocks noGrp="1"/>
          </p:cNvSpPr>
          <p:nvPr>
            <p:ph sz="quarter" idx="14"/>
          </p:nvPr>
        </p:nvSpPr>
        <p:spPr>
          <a:xfrm>
            <a:off x="5704114" y="97972"/>
            <a:ext cx="5878287" cy="6302828"/>
          </a:xfrm>
        </p:spPr>
        <p:txBody>
          <a:bodyPr/>
          <a:lstStyle/>
          <a:p>
            <a:r>
              <a:rPr lang="en-US" sz="2400" dirty="0">
                <a:effectLst/>
                <a:latin typeface="Calibri" panose="020F0502020204030204" pitchFamily="34" charset="0"/>
                <a:ea typeface="Calibri" panose="020F0502020204030204" pitchFamily="34" charset="0"/>
                <a:cs typeface="Calibri" panose="020F0502020204030204" pitchFamily="34" charset="0"/>
              </a:rPr>
              <a:t>This figure shows </a:t>
            </a:r>
            <a:r>
              <a:rPr lang="en-US" sz="2400" dirty="0" err="1">
                <a:effectLst/>
                <a:latin typeface="Calibri" panose="020F0502020204030204" pitchFamily="34" charset="0"/>
                <a:ea typeface="Calibri" panose="020F0502020204030204" pitchFamily="34" charset="0"/>
                <a:cs typeface="Calibri" panose="020F0502020204030204" pitchFamily="34" charset="0"/>
              </a:rPr>
              <a:t>SoundFisher’s</a:t>
            </a:r>
            <a:r>
              <a:rPr lang="en-US" sz="2400" dirty="0">
                <a:effectLst/>
                <a:latin typeface="Calibri" panose="020F0502020204030204" pitchFamily="34" charset="0"/>
                <a:ea typeface="Calibri" panose="020F0502020204030204" pitchFamily="34" charset="0"/>
                <a:cs typeface="Calibri" panose="020F0502020204030204" pitchFamily="34" charset="0"/>
              </a:rPr>
              <a:t> user interface for browsing and querying a sound database. Features include:</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A list of sound categories (e.g., animals like "chickenCoop.wav," "dogsBark2.wav").</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Options to filter by acoustic properties (e.g., pitch, duration) or perceptual properties (e.g., "scratchy").</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Support for complex queries like finding AIFF-encoded animal or human vocal sounds similar to barking, ignoring duration or amplitude.</a:t>
            </a:r>
          </a:p>
        </p:txBody>
      </p:sp>
    </p:spTree>
    <p:extLst>
      <p:ext uri="{BB962C8B-B14F-4D97-AF65-F5344CB8AC3E}">
        <p14:creationId xmlns:p14="http://schemas.microsoft.com/office/powerpoint/2010/main" val="7720555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a:xfrm>
            <a:off x="609600" y="215372"/>
            <a:ext cx="10972800" cy="1090232"/>
          </a:xfrm>
        </p:spPr>
        <p:txBody>
          <a:bodyPr/>
          <a:lstStyle/>
          <a:p>
            <a:r>
              <a:rPr lang="en-US" dirty="0"/>
              <a:t>Non-Speech Audio Retrieval - </a:t>
            </a:r>
            <a:r>
              <a:rPr lang="en-US" sz="3600" dirty="0">
                <a:effectLst/>
                <a:latin typeface="Calibri" panose="020F0502020204030204" pitchFamily="34" charset="0"/>
                <a:ea typeface="Calibri" panose="020F0502020204030204" pitchFamily="34" charset="0"/>
                <a:cs typeface="Calibri" panose="020F0502020204030204" pitchFamily="34" charset="0"/>
              </a:rPr>
              <a:t>System Capabilities and Evaluation</a:t>
            </a:r>
            <a:endParaRPr lang="en-US" dirty="0"/>
          </a:p>
        </p:txBody>
      </p:sp>
      <p:pic>
        <p:nvPicPr>
          <p:cNvPr id="7" name="Content Placeholder 6">
            <a:extLst>
              <a:ext uri="{FF2B5EF4-FFF2-40B4-BE49-F238E27FC236}">
                <a16:creationId xmlns:a16="http://schemas.microsoft.com/office/drawing/2014/main" id="{B5AEDCD6-D8E2-B06C-44CD-1B566AEB5142}"/>
              </a:ext>
            </a:extLst>
          </p:cNvPr>
          <p:cNvPicPr>
            <a:picLocks noGrp="1" noChangeAspect="1"/>
          </p:cNvPicPr>
          <p:nvPr>
            <p:ph sz="quarter" idx="13"/>
          </p:nvPr>
        </p:nvPicPr>
        <p:blipFill>
          <a:blip r:embed="rId2"/>
          <a:stretch>
            <a:fillRect/>
          </a:stretch>
        </p:blipFill>
        <p:spPr>
          <a:xfrm>
            <a:off x="384598" y="1305604"/>
            <a:ext cx="5406116" cy="4569279"/>
          </a:xfrm>
        </p:spPr>
      </p:pic>
      <p:sp>
        <p:nvSpPr>
          <p:cNvPr id="3" name="Content Placeholder 2">
            <a:extLst>
              <a:ext uri="{FF2B5EF4-FFF2-40B4-BE49-F238E27FC236}">
                <a16:creationId xmlns:a16="http://schemas.microsoft.com/office/drawing/2014/main" id="{5597A615-0329-8843-E916-829BEF9A5448}"/>
              </a:ext>
            </a:extLst>
          </p:cNvPr>
          <p:cNvSpPr>
            <a:spLocks noGrp="1"/>
          </p:cNvSpPr>
          <p:nvPr>
            <p:ph sz="quarter" idx="14"/>
          </p:nvPr>
        </p:nvSpPr>
        <p:spPr>
          <a:xfrm>
            <a:off x="5790714" y="1132114"/>
            <a:ext cx="5791687" cy="5246915"/>
          </a:xfrm>
        </p:spPr>
        <p:txBody>
          <a:bodyPr/>
          <a:lstStyle/>
          <a:p>
            <a:r>
              <a:rPr lang="en-US" sz="2400" dirty="0" err="1">
                <a:effectLst/>
                <a:latin typeface="Calibri" panose="020F0502020204030204" pitchFamily="34" charset="0"/>
                <a:ea typeface="Calibri" panose="020F0502020204030204" pitchFamily="34" charset="0"/>
                <a:cs typeface="Calibri" panose="020F0502020204030204" pitchFamily="34" charset="0"/>
              </a:rPr>
              <a:t>SoundFisher</a:t>
            </a:r>
            <a:r>
              <a:rPr lang="en-US" sz="2400" dirty="0">
                <a:effectLst/>
                <a:latin typeface="Calibri" panose="020F0502020204030204" pitchFamily="34" charset="0"/>
                <a:ea typeface="Calibri" panose="020F0502020204030204" pitchFamily="34" charset="0"/>
                <a:cs typeface="Calibri" panose="020F0502020204030204" pitchFamily="34" charset="0"/>
              </a:rPr>
              <a:t> was tested on a database of 400 diverse sound files (e.g., nature, animals, instruments, speech).</a:t>
            </a:r>
          </a:p>
          <a:p>
            <a:r>
              <a:rPr lang="en-US" sz="2400" dirty="0">
                <a:effectLst/>
                <a:latin typeface="Calibri" panose="020F0502020204030204" pitchFamily="34" charset="0"/>
                <a:ea typeface="Calibri" panose="020F0502020204030204" pitchFamily="34" charset="0"/>
                <a:cs typeface="Calibri" panose="020F0502020204030204" pitchFamily="34" charset="0"/>
              </a:rPr>
              <a:t>It supports advanced features like training the system to recognize indirect perceptual properties (e.g., "</a:t>
            </a:r>
            <a:r>
              <a:rPr lang="en-US" sz="2400" dirty="0" err="1">
                <a:effectLst/>
                <a:latin typeface="Calibri" panose="020F0502020204030204" pitchFamily="34" charset="0"/>
                <a:ea typeface="Calibri" panose="020F0502020204030204" pitchFamily="34" charset="0"/>
                <a:cs typeface="Calibri" panose="020F0502020204030204" pitchFamily="34" charset="0"/>
              </a:rPr>
              <a:t>buzziness</a:t>
            </a:r>
            <a:r>
              <a:rPr lang="en-US" sz="2400" dirty="0">
                <a:effectLst/>
                <a:latin typeface="Calibri" panose="020F0502020204030204" pitchFamily="34" charset="0"/>
                <a:ea typeface="Calibri" panose="020F0502020204030204" pitchFamily="34" charset="0"/>
                <a:cs typeface="Calibri" panose="020F0502020204030204" pitchFamily="34" charset="0"/>
              </a:rPr>
              <a:t>").</a:t>
            </a:r>
          </a:p>
          <a:p>
            <a:r>
              <a:rPr lang="en-US" sz="2400" dirty="0">
                <a:effectLst/>
                <a:latin typeface="Calibri" panose="020F0502020204030204" pitchFamily="34" charset="0"/>
                <a:ea typeface="Calibri" panose="020F0502020204030204" pitchFamily="34" charset="0"/>
                <a:cs typeface="Calibri" panose="020F0502020204030204" pitchFamily="34" charset="0"/>
              </a:rPr>
              <a:t>Identified needs for improvement include:</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Better sound displays.</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Sound synthesis for query refinement.</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Sound separation.</a:t>
            </a:r>
          </a:p>
          <a:p>
            <a:pPr lvl="1"/>
            <a:r>
              <a:rPr lang="en-US" sz="2400" dirty="0">
                <a:effectLst/>
                <a:latin typeface="Calibri" panose="020F0502020204030204" pitchFamily="34" charset="0"/>
                <a:ea typeface="Calibri" panose="020F0502020204030204" pitchFamily="34" charset="0"/>
                <a:cs typeface="Calibri" panose="020F0502020204030204" pitchFamily="34" charset="0"/>
              </a:rPr>
              <a:t>Matching feature trajectories over time.</a:t>
            </a:r>
          </a:p>
        </p:txBody>
      </p:sp>
    </p:spTree>
    <p:extLst>
      <p:ext uri="{BB962C8B-B14F-4D97-AF65-F5344CB8AC3E}">
        <p14:creationId xmlns:p14="http://schemas.microsoft.com/office/powerpoint/2010/main" val="19718809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a:xfrm>
            <a:off x="609600" y="215372"/>
            <a:ext cx="3810000" cy="651403"/>
          </a:xfrm>
        </p:spPr>
        <p:txBody>
          <a:bodyPr/>
          <a:lstStyle/>
          <a:p>
            <a:r>
              <a:rPr lang="en-US" dirty="0"/>
              <a:t>Graph Retrieval</a:t>
            </a:r>
          </a:p>
        </p:txBody>
      </p:sp>
      <p:pic>
        <p:nvPicPr>
          <p:cNvPr id="7" name="Content Placeholder 6">
            <a:extLst>
              <a:ext uri="{FF2B5EF4-FFF2-40B4-BE49-F238E27FC236}">
                <a16:creationId xmlns:a16="http://schemas.microsoft.com/office/drawing/2014/main" id="{475BE570-BD07-FC17-1680-0F549B11226B}"/>
              </a:ext>
            </a:extLst>
          </p:cNvPr>
          <p:cNvPicPr>
            <a:picLocks noGrp="1" noChangeAspect="1"/>
          </p:cNvPicPr>
          <p:nvPr>
            <p:ph sz="quarter" idx="13"/>
          </p:nvPr>
        </p:nvPicPr>
        <p:blipFill>
          <a:blip r:embed="rId2"/>
          <a:stretch>
            <a:fillRect/>
          </a:stretch>
        </p:blipFill>
        <p:spPr>
          <a:xfrm>
            <a:off x="234892" y="947057"/>
            <a:ext cx="6328707" cy="5044168"/>
          </a:xfrm>
        </p:spPr>
      </p:pic>
      <p:sp>
        <p:nvSpPr>
          <p:cNvPr id="3" name="Content Placeholder 2">
            <a:extLst>
              <a:ext uri="{FF2B5EF4-FFF2-40B4-BE49-F238E27FC236}">
                <a16:creationId xmlns:a16="http://schemas.microsoft.com/office/drawing/2014/main" id="{D2F33D92-1C0F-CB6B-CD82-36B7A5AD209E}"/>
              </a:ext>
            </a:extLst>
          </p:cNvPr>
          <p:cNvSpPr>
            <a:spLocks noGrp="1"/>
          </p:cNvSpPr>
          <p:nvPr>
            <p:ph sz="quarter" idx="14"/>
          </p:nvPr>
        </p:nvSpPr>
        <p:spPr>
          <a:xfrm>
            <a:off x="6563599" y="215372"/>
            <a:ext cx="5018801" cy="6098341"/>
          </a:xfrm>
        </p:spPr>
        <p:txBody>
          <a:bodyPr/>
          <a:lstStyle/>
          <a:p>
            <a:r>
              <a:rPr lang="en-US" sz="2600" dirty="0" err="1">
                <a:effectLst/>
                <a:latin typeface="Calibri" panose="020F0502020204030204" pitchFamily="34" charset="0"/>
                <a:ea typeface="Calibri" panose="020F0502020204030204" pitchFamily="34" charset="0"/>
                <a:cs typeface="Calibri" panose="020F0502020204030204" pitchFamily="34" charset="0"/>
              </a:rPr>
              <a:t>SageBook</a:t>
            </a:r>
            <a:r>
              <a:rPr lang="en-US" sz="2600" dirty="0">
                <a:effectLst/>
                <a:latin typeface="Calibri" panose="020F0502020204030204" pitchFamily="34" charset="0"/>
                <a:ea typeface="Calibri" panose="020F0502020204030204" pitchFamily="34" charset="0"/>
                <a:cs typeface="Calibri" panose="020F0502020204030204" pitchFamily="34" charset="0"/>
              </a:rPr>
              <a:t> is a system for retrieving and adapting data graphics </a:t>
            </a:r>
            <a:r>
              <a:rPr lang="en-US" sz="2600" b="1" dirty="0">
                <a:effectLst/>
                <a:latin typeface="Calibri" panose="020F0502020204030204" pitchFamily="34" charset="0"/>
                <a:ea typeface="Calibri" panose="020F0502020204030204" pitchFamily="34" charset="0"/>
                <a:cs typeface="Calibri" panose="020F0502020204030204" pitchFamily="34" charset="0"/>
              </a:rPr>
              <a:t>(e.g., bar charts, line graphs, scatter plots) </a:t>
            </a:r>
            <a:r>
              <a:rPr lang="en-US" sz="2600" dirty="0">
                <a:effectLst/>
                <a:latin typeface="Calibri" panose="020F0502020204030204" pitchFamily="34" charset="0"/>
                <a:ea typeface="Calibri" panose="020F0502020204030204" pitchFamily="34" charset="0"/>
                <a:cs typeface="Calibri" panose="020F0502020204030204" pitchFamily="34" charset="0"/>
              </a:rPr>
              <a:t>based on their content and properties. </a:t>
            </a:r>
          </a:p>
          <a:p>
            <a:r>
              <a:rPr lang="en-US" sz="2600" dirty="0">
                <a:effectLst/>
                <a:latin typeface="Calibri" panose="020F0502020204030204" pitchFamily="34" charset="0"/>
                <a:ea typeface="Calibri" panose="020F0502020204030204" pitchFamily="34" charset="0"/>
                <a:cs typeface="Calibri" panose="020F0502020204030204" pitchFamily="34" charset="0"/>
              </a:rPr>
              <a:t>It supports querying, indexing, and </a:t>
            </a:r>
            <a:r>
              <a:rPr lang="en-US" sz="2600" b="1" dirty="0">
                <a:effectLst/>
                <a:latin typeface="Calibri" panose="020F0502020204030204" pitchFamily="34" charset="0"/>
                <a:ea typeface="Calibri" panose="020F0502020204030204" pitchFamily="34" charset="0"/>
                <a:cs typeface="Calibri" panose="020F0502020204030204" pitchFamily="34" charset="0"/>
              </a:rPr>
              <a:t>modifying graphics, similar to how text or audio retrieval systems</a:t>
            </a:r>
            <a:r>
              <a:rPr lang="en-US" sz="2600" dirty="0">
                <a:effectLst/>
                <a:latin typeface="Calibri" panose="020F0502020204030204" pitchFamily="34" charset="0"/>
                <a:ea typeface="Calibri" panose="020F0502020204030204" pitchFamily="34" charset="0"/>
                <a:cs typeface="Calibri" panose="020F0502020204030204" pitchFamily="34" charset="0"/>
              </a:rPr>
              <a:t> work but tailored for visual data representations.</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88957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a:xfrm>
            <a:off x="609600" y="215372"/>
            <a:ext cx="3810000" cy="651403"/>
          </a:xfrm>
        </p:spPr>
        <p:txBody>
          <a:bodyPr/>
          <a:lstStyle/>
          <a:p>
            <a:r>
              <a:rPr lang="en-US" dirty="0"/>
              <a:t>Graph Retrieval</a:t>
            </a:r>
          </a:p>
        </p:txBody>
      </p:sp>
      <p:pic>
        <p:nvPicPr>
          <p:cNvPr id="7" name="Content Placeholder 6">
            <a:extLst>
              <a:ext uri="{FF2B5EF4-FFF2-40B4-BE49-F238E27FC236}">
                <a16:creationId xmlns:a16="http://schemas.microsoft.com/office/drawing/2014/main" id="{475BE570-BD07-FC17-1680-0F549B11226B}"/>
              </a:ext>
            </a:extLst>
          </p:cNvPr>
          <p:cNvPicPr>
            <a:picLocks noGrp="1" noChangeAspect="1"/>
          </p:cNvPicPr>
          <p:nvPr>
            <p:ph sz="quarter" idx="13"/>
          </p:nvPr>
        </p:nvPicPr>
        <p:blipFill>
          <a:blip r:embed="rId2"/>
          <a:stretch>
            <a:fillRect/>
          </a:stretch>
        </p:blipFill>
        <p:spPr>
          <a:xfrm>
            <a:off x="234892" y="947057"/>
            <a:ext cx="6328707" cy="5044168"/>
          </a:xfrm>
        </p:spPr>
      </p:pic>
      <p:sp>
        <p:nvSpPr>
          <p:cNvPr id="3" name="Content Placeholder 2">
            <a:extLst>
              <a:ext uri="{FF2B5EF4-FFF2-40B4-BE49-F238E27FC236}">
                <a16:creationId xmlns:a16="http://schemas.microsoft.com/office/drawing/2014/main" id="{D2F33D92-1C0F-CB6B-CD82-36B7A5AD209E}"/>
              </a:ext>
            </a:extLst>
          </p:cNvPr>
          <p:cNvSpPr>
            <a:spLocks noGrp="1"/>
          </p:cNvSpPr>
          <p:nvPr>
            <p:ph sz="quarter" idx="14"/>
          </p:nvPr>
        </p:nvSpPr>
        <p:spPr>
          <a:xfrm>
            <a:off x="6563599" y="215372"/>
            <a:ext cx="5018801" cy="6098341"/>
          </a:xfrm>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Left Side</a:t>
            </a:r>
            <a:r>
              <a:rPr lang="en-US" sz="2600" dirty="0">
                <a:latin typeface="Calibri" panose="020F0502020204030204" pitchFamily="34" charset="0"/>
                <a:ea typeface="Calibri" panose="020F0502020204030204" pitchFamily="34" charset="0"/>
                <a:cs typeface="Calibri" panose="020F0502020204030204" pitchFamily="34" charset="0"/>
              </a:rPr>
              <a:t>: The </a:t>
            </a:r>
            <a:r>
              <a:rPr lang="en-US" sz="2600" dirty="0" err="1">
                <a:latin typeface="Calibri" panose="020F0502020204030204" pitchFamily="34" charset="0"/>
                <a:ea typeface="Calibri" panose="020F0502020204030204" pitchFamily="34" charset="0"/>
                <a:cs typeface="Calibri" panose="020F0502020204030204" pitchFamily="34" charset="0"/>
              </a:rPr>
              <a:t>SageBrush</a:t>
            </a:r>
            <a:r>
              <a:rPr lang="en-US" sz="2600" dirty="0">
                <a:latin typeface="Calibri" panose="020F0502020204030204" pitchFamily="34" charset="0"/>
                <a:ea typeface="Calibri" panose="020F0502020204030204" pitchFamily="34" charset="0"/>
                <a:cs typeface="Calibri" panose="020F0502020204030204" pitchFamily="34" charset="0"/>
              </a:rPr>
              <a:t> interface shows a query being built for a chart with horizontal interval bars.</a:t>
            </a:r>
          </a:p>
          <a:p>
            <a:r>
              <a:rPr lang="en-US" sz="2600" b="1" dirty="0">
                <a:latin typeface="Calibri" panose="020F0502020204030204" pitchFamily="34" charset="0"/>
                <a:ea typeface="Calibri" panose="020F0502020204030204" pitchFamily="34" charset="0"/>
                <a:cs typeface="Calibri" panose="020F0502020204030204" pitchFamily="34" charset="0"/>
              </a:rPr>
              <a:t>Right Side</a:t>
            </a:r>
            <a:r>
              <a:rPr lang="en-US" sz="2600" dirty="0">
                <a:latin typeface="Calibri" panose="020F0502020204030204" pitchFamily="34" charset="0"/>
                <a:ea typeface="Calibri" panose="020F0502020204030204" pitchFamily="34" charset="0"/>
                <a:cs typeface="Calibri" panose="020F0502020204030204" pitchFamily="34" charset="0"/>
              </a:rPr>
              <a:t>: The retrieved graphics are charts with similar properties (one space, horizontal interval bars), highlighted to show they match the query using a “close graphics matching strategy.”</a:t>
            </a:r>
          </a:p>
        </p:txBody>
      </p:sp>
    </p:spTree>
    <p:extLst>
      <p:ext uri="{BB962C8B-B14F-4D97-AF65-F5344CB8AC3E}">
        <p14:creationId xmlns:p14="http://schemas.microsoft.com/office/powerpoint/2010/main" val="25188763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Graph Retrieval - How Does It Work?</a:t>
            </a:r>
          </a:p>
        </p:txBody>
      </p:sp>
      <p:sp>
        <p:nvSpPr>
          <p:cNvPr id="5" name="Content Placeholder 4">
            <a:extLst>
              <a:ext uri="{FF2B5EF4-FFF2-40B4-BE49-F238E27FC236}">
                <a16:creationId xmlns:a16="http://schemas.microsoft.com/office/drawing/2014/main" id="{0B5E9E20-2342-87FB-6BD1-63BCD1777BFE}"/>
              </a:ext>
            </a:extLst>
          </p:cNvPr>
          <p:cNvSpPr>
            <a:spLocks noGrp="1"/>
          </p:cNvSpPr>
          <p:nvPr>
            <p:ph sz="quarter" idx="13"/>
          </p:nvPr>
        </p:nvSpPr>
        <p:spPr/>
        <p:txBody>
          <a:bodyPr/>
          <a:lstStyle/>
          <a:p>
            <a:pPr marL="615950" indent="-514350">
              <a:buFont typeface="+mj-lt"/>
              <a:buAutoNum type="arabicPeriod"/>
            </a:pPr>
            <a:r>
              <a:rPr lang="en-US" sz="2600" b="1" dirty="0">
                <a:latin typeface="Calibri" panose="020F0502020204030204" pitchFamily="34" charset="0"/>
                <a:ea typeface="Calibri" panose="020F0502020204030204" pitchFamily="34" charset="0"/>
                <a:cs typeface="Calibri" panose="020F0502020204030204" pitchFamily="34" charset="0"/>
              </a:rPr>
              <a:t>Query Interface </a:t>
            </a:r>
            <a:r>
              <a:rPr lang="en-US" sz="2600" dirty="0">
                <a:latin typeface="Calibri" panose="020F0502020204030204" pitchFamily="34" charset="0"/>
                <a:ea typeface="Calibri" panose="020F0502020204030204" pitchFamily="34" charset="0"/>
                <a:cs typeface="Calibri" panose="020F0502020204030204" pitchFamily="34" charset="0"/>
              </a:rPr>
              <a:t>(</a:t>
            </a:r>
            <a:r>
              <a:rPr lang="en-US" sz="2600" dirty="0" err="1">
                <a:latin typeface="Calibri" panose="020F0502020204030204" pitchFamily="34" charset="0"/>
                <a:ea typeface="Calibri" panose="020F0502020204030204" pitchFamily="34" charset="0"/>
                <a:cs typeface="Calibri" panose="020F0502020204030204" pitchFamily="34" charset="0"/>
              </a:rPr>
              <a:t>SageBrush</a:t>
            </a:r>
            <a:r>
              <a:rPr lang="en-US" sz="2600" dirty="0">
                <a:latin typeface="Calibri" panose="020F0502020204030204" pitchFamily="34" charset="0"/>
                <a:ea typeface="Calibri" panose="020F0502020204030204" pitchFamily="34" charset="0"/>
                <a:cs typeface="Calibri" panose="020F0502020204030204" pitchFamily="34" charset="0"/>
              </a:rPr>
              <a:t>):</a:t>
            </a:r>
          </a:p>
          <a:p>
            <a:pPr lvl="1"/>
            <a:r>
              <a:rPr lang="en-US" sz="2600" dirty="0">
                <a:latin typeface="Calibri" panose="020F0502020204030204" pitchFamily="34" charset="0"/>
                <a:ea typeface="Calibri" panose="020F0502020204030204" pitchFamily="34" charset="0"/>
                <a:cs typeface="Calibri" panose="020F0502020204030204" pitchFamily="34" charset="0"/>
              </a:rPr>
              <a:t>The left side of Figure 10.3 shows the </a:t>
            </a:r>
            <a:r>
              <a:rPr lang="en-US" sz="2600" dirty="0" err="1">
                <a:latin typeface="Calibri" panose="020F0502020204030204" pitchFamily="34" charset="0"/>
                <a:ea typeface="Calibri" panose="020F0502020204030204" pitchFamily="34" charset="0"/>
                <a:cs typeface="Calibri" panose="020F0502020204030204" pitchFamily="34" charset="0"/>
              </a:rPr>
              <a:t>SageBrush</a:t>
            </a:r>
            <a:r>
              <a:rPr lang="en-US" sz="2600" dirty="0">
                <a:latin typeface="Calibri" panose="020F0502020204030204" pitchFamily="34" charset="0"/>
                <a:ea typeface="Calibri" panose="020F0502020204030204" pitchFamily="34" charset="0"/>
                <a:cs typeface="Calibri" panose="020F0502020204030204" pitchFamily="34" charset="0"/>
              </a:rPr>
              <a:t> interface, where users create a query using a graphical drag-and-drop method.</a:t>
            </a:r>
          </a:p>
          <a:p>
            <a:pPr lvl="1"/>
            <a:r>
              <a:rPr lang="en-US" sz="2600" dirty="0">
                <a:latin typeface="Calibri" panose="020F0502020204030204" pitchFamily="34" charset="0"/>
                <a:ea typeface="Calibri" panose="020F0502020204030204" pitchFamily="34" charset="0"/>
                <a:cs typeface="Calibri" panose="020F0502020204030204" pitchFamily="34" charset="0"/>
              </a:rPr>
              <a:t>Users select and arrange elements like spaces (e.g., a chart area), objects (e.g., bars, lines, marks), and their properties (e.g., color, size, shape).</a:t>
            </a:r>
          </a:p>
          <a:p>
            <a:pPr lvl="1"/>
            <a:r>
              <a:rPr lang="en-US" sz="2600" dirty="0">
                <a:latin typeface="Calibri" panose="020F0502020204030204" pitchFamily="34" charset="0"/>
                <a:ea typeface="Calibri" panose="020F0502020204030204" pitchFamily="34" charset="0"/>
                <a:cs typeface="Calibri" panose="020F0502020204030204" pitchFamily="34" charset="0"/>
              </a:rPr>
              <a:t>For example, you can specify a chart with horizontal interval bars in a certain color.</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51756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Graph Retrieval - How Does It Work?</a:t>
            </a:r>
          </a:p>
        </p:txBody>
      </p:sp>
      <p:sp>
        <p:nvSpPr>
          <p:cNvPr id="5" name="Content Placeholder 4">
            <a:extLst>
              <a:ext uri="{FF2B5EF4-FFF2-40B4-BE49-F238E27FC236}">
                <a16:creationId xmlns:a16="http://schemas.microsoft.com/office/drawing/2014/main" id="{3C6E0EBB-D294-E4AE-FB0A-C246988DC335}"/>
              </a:ext>
            </a:extLst>
          </p:cNvPr>
          <p:cNvSpPr>
            <a:spLocks noGrp="1"/>
          </p:cNvSpPr>
          <p:nvPr>
            <p:ph sz="quarter" idx="13"/>
          </p:nvPr>
        </p:nvSpPr>
        <p:spPr/>
        <p:txBody>
          <a:bodyPr/>
          <a:lstStyle/>
          <a:p>
            <a:pPr marL="615950" indent="-514350">
              <a:buFont typeface="+mj-lt"/>
              <a:buAutoNum type="arabicPeriod" startAt="2"/>
            </a:pPr>
            <a:r>
              <a:rPr lang="en-US" sz="2600" dirty="0">
                <a:latin typeface="Calibri" panose="020F0502020204030204" pitchFamily="34" charset="0"/>
                <a:ea typeface="Calibri" panose="020F0502020204030204" pitchFamily="34" charset="0"/>
                <a:cs typeface="Calibri" panose="020F0502020204030204" pitchFamily="34" charset="0"/>
              </a:rPr>
              <a:t>Search and Matching:</a:t>
            </a:r>
          </a:p>
          <a:p>
            <a:pPr lvl="1"/>
            <a:r>
              <a:rPr lang="en-US" sz="2600" dirty="0" err="1">
                <a:latin typeface="Calibri" panose="020F0502020204030204" pitchFamily="34" charset="0"/>
                <a:ea typeface="Calibri" panose="020F0502020204030204" pitchFamily="34" charset="0"/>
                <a:cs typeface="Calibri" panose="020F0502020204030204" pitchFamily="34" charset="0"/>
              </a:rPr>
              <a:t>SageBook</a:t>
            </a:r>
            <a:r>
              <a:rPr lang="en-US" sz="2600" dirty="0">
                <a:latin typeface="Calibri" panose="020F0502020204030204" pitchFamily="34" charset="0"/>
                <a:ea typeface="Calibri" panose="020F0502020204030204" pitchFamily="34" charset="0"/>
                <a:cs typeface="Calibri" panose="020F0502020204030204" pitchFamily="34" charset="0"/>
              </a:rPr>
              <a:t> searches a library of stored graphics by matching the query’s graphical elements (called graphemes) and their properties (e.g., bars must match in type, color, shape, etc.).</a:t>
            </a:r>
          </a:p>
          <a:p>
            <a:pPr lvl="1"/>
            <a:r>
              <a:rPr lang="en-US" sz="2600" dirty="0">
                <a:latin typeface="Calibri" panose="020F0502020204030204" pitchFamily="34" charset="0"/>
                <a:ea typeface="Calibri" panose="020F0502020204030204" pitchFamily="34" charset="0"/>
                <a:cs typeface="Calibri" panose="020F0502020204030204" pitchFamily="34" charset="0"/>
              </a:rPr>
              <a:t>It also matches the underlying data represented by the graphic (e.g., numerical values or categories).</a:t>
            </a:r>
          </a:p>
          <a:p>
            <a:pPr lvl="1"/>
            <a:r>
              <a:rPr lang="en-US" sz="2600" dirty="0">
                <a:latin typeface="Calibri" panose="020F0502020204030204" pitchFamily="34" charset="0"/>
                <a:ea typeface="Calibri" panose="020F0502020204030204" pitchFamily="34" charset="0"/>
                <a:cs typeface="Calibri" panose="020F0502020204030204" pitchFamily="34" charset="0"/>
              </a:rPr>
              <a:t>The system uses both exact matching (identical properties) and similarity-based matching (close but not identical).</a:t>
            </a:r>
          </a:p>
          <a:p>
            <a:pPr lvl="1"/>
            <a:r>
              <a:rPr lang="en-US" sz="2600" dirty="0">
                <a:latin typeface="Calibri" panose="020F0502020204030204" pitchFamily="34" charset="0"/>
                <a:ea typeface="Calibri" panose="020F0502020204030204" pitchFamily="34" charset="0"/>
                <a:cs typeface="Calibri" panose="020F0502020204030204" pitchFamily="34" charset="0"/>
              </a:rPr>
              <a:t>In Figure 10.3, the query specifies a chart with one space and horizontal interval bars. The right side of the figure shows retrieved graphics that match this criteria, ranked by similarity.</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9204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Graph Retrieval - How Does It Work?</a:t>
            </a:r>
          </a:p>
        </p:txBody>
      </p:sp>
      <p:sp>
        <p:nvSpPr>
          <p:cNvPr id="5" name="Content Placeholder 4">
            <a:extLst>
              <a:ext uri="{FF2B5EF4-FFF2-40B4-BE49-F238E27FC236}">
                <a16:creationId xmlns:a16="http://schemas.microsoft.com/office/drawing/2014/main" id="{3C6E0EBB-D294-E4AE-FB0A-C246988DC335}"/>
              </a:ext>
            </a:extLst>
          </p:cNvPr>
          <p:cNvSpPr>
            <a:spLocks noGrp="1"/>
          </p:cNvSpPr>
          <p:nvPr>
            <p:ph sz="quarter" idx="13"/>
          </p:nvPr>
        </p:nvSpPr>
        <p:spPr/>
        <p:txBody>
          <a:bodyPr/>
          <a:lstStyle/>
          <a:p>
            <a:pPr marL="615950" indent="-514350">
              <a:buFont typeface="+mj-lt"/>
              <a:buAutoNum type="arabicPeriod" startAt="3"/>
            </a:pPr>
            <a:r>
              <a:rPr lang="en-US" sz="2600" b="1" dirty="0">
                <a:latin typeface="Calibri" panose="020F0502020204030204" pitchFamily="34" charset="0"/>
                <a:ea typeface="Calibri" panose="020F0502020204030204" pitchFamily="34" charset="0"/>
                <a:cs typeface="Calibri" panose="020F0502020204030204" pitchFamily="34" charset="0"/>
              </a:rPr>
              <a:t>Adaptation:</a:t>
            </a:r>
          </a:p>
          <a:p>
            <a:pPr lvl="1"/>
            <a:r>
              <a:rPr lang="en-US" sz="2600" dirty="0">
                <a:latin typeface="Calibri" panose="020F0502020204030204" pitchFamily="34" charset="0"/>
                <a:ea typeface="Calibri" panose="020F0502020204030204" pitchFamily="34" charset="0"/>
                <a:cs typeface="Calibri" panose="020F0502020204030204" pitchFamily="34" charset="0"/>
              </a:rPr>
              <a:t>Retrieved graphics can be modified. </a:t>
            </a:r>
            <a:r>
              <a:rPr lang="en-US" sz="2600" dirty="0" err="1">
                <a:latin typeface="Calibri" panose="020F0502020204030204" pitchFamily="34" charset="0"/>
                <a:ea typeface="Calibri" panose="020F0502020204030204" pitchFamily="34" charset="0"/>
                <a:cs typeface="Calibri" panose="020F0502020204030204" pitchFamily="34" charset="0"/>
              </a:rPr>
              <a:t>SageBook</a:t>
            </a:r>
            <a:r>
              <a:rPr lang="en-US" sz="2600" dirty="0">
                <a:latin typeface="Calibri" panose="020F0502020204030204" pitchFamily="34" charset="0"/>
                <a:ea typeface="Calibri" panose="020F0502020204030204" pitchFamily="34" charset="0"/>
                <a:cs typeface="Calibri" panose="020F0502020204030204" pitchFamily="34" charset="0"/>
              </a:rPr>
              <a:t> understands the syntax and semantics of graphics, including spatial relationships, data domains (e.g., 2D coordinates), and attributes.</a:t>
            </a:r>
          </a:p>
          <a:p>
            <a:pPr lvl="1"/>
            <a:r>
              <a:rPr lang="en-US" sz="2600" dirty="0">
                <a:latin typeface="Calibri" panose="020F0502020204030204" pitchFamily="34" charset="0"/>
                <a:ea typeface="Calibri" panose="020F0502020204030204" pitchFamily="34" charset="0"/>
                <a:cs typeface="Calibri" panose="020F0502020204030204" pitchFamily="34" charset="0"/>
              </a:rPr>
              <a:t>Users can manually adapt graphics, or </a:t>
            </a:r>
            <a:r>
              <a:rPr lang="en-US" sz="2600" dirty="0" err="1">
                <a:latin typeface="Calibri" panose="020F0502020204030204" pitchFamily="34" charset="0"/>
                <a:ea typeface="Calibri" panose="020F0502020204030204" pitchFamily="34" charset="0"/>
                <a:cs typeface="Calibri" panose="020F0502020204030204" pitchFamily="34" charset="0"/>
              </a:rPr>
              <a:t>SageBook</a:t>
            </a:r>
            <a:r>
              <a:rPr lang="en-US" sz="2600" dirty="0">
                <a:latin typeface="Calibri" panose="020F0502020204030204" pitchFamily="34" charset="0"/>
                <a:ea typeface="Calibri" panose="020F0502020204030204" pitchFamily="34" charset="0"/>
                <a:cs typeface="Calibri" panose="020F0502020204030204" pitchFamily="34" charset="0"/>
              </a:rPr>
              <a:t> can automatically adjust them (e.g., removing unmatched elements).</a:t>
            </a:r>
          </a:p>
        </p:txBody>
      </p:sp>
    </p:spTree>
    <p:extLst>
      <p:ext uri="{BB962C8B-B14F-4D97-AF65-F5344CB8AC3E}">
        <p14:creationId xmlns:p14="http://schemas.microsoft.com/office/powerpoint/2010/main" val="18010562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Graph Retrieval - How Does It Work?</a:t>
            </a:r>
          </a:p>
        </p:txBody>
      </p:sp>
      <p:sp>
        <p:nvSpPr>
          <p:cNvPr id="5" name="Content Placeholder 4">
            <a:extLst>
              <a:ext uri="{FF2B5EF4-FFF2-40B4-BE49-F238E27FC236}">
                <a16:creationId xmlns:a16="http://schemas.microsoft.com/office/drawing/2014/main" id="{3C6E0EBB-D294-E4AE-FB0A-C246988DC335}"/>
              </a:ext>
            </a:extLst>
          </p:cNvPr>
          <p:cNvSpPr>
            <a:spLocks noGrp="1"/>
          </p:cNvSpPr>
          <p:nvPr>
            <p:ph sz="quarter" idx="13"/>
          </p:nvPr>
        </p:nvSpPr>
        <p:spPr/>
        <p:txBody>
          <a:bodyPr/>
          <a:lstStyle/>
          <a:p>
            <a:endParaRPr lang="en-US" sz="2600" dirty="0">
              <a:latin typeface="Calibri" panose="020F0502020204030204" pitchFamily="34" charset="0"/>
              <a:ea typeface="Calibri" panose="020F0502020204030204" pitchFamily="34" charset="0"/>
              <a:cs typeface="Calibri" panose="020F0502020204030204" pitchFamily="34" charset="0"/>
            </a:endParaRPr>
          </a:p>
          <a:p>
            <a:pPr marL="615950" indent="-514350">
              <a:buFont typeface="+mj-lt"/>
              <a:buAutoNum type="arabicPeriod" startAt="4"/>
            </a:pPr>
            <a:r>
              <a:rPr lang="en-US" sz="2600" b="1" dirty="0">
                <a:latin typeface="Calibri" panose="020F0502020204030204" pitchFamily="34" charset="0"/>
                <a:ea typeface="Calibri" panose="020F0502020204030204" pitchFamily="34" charset="0"/>
                <a:cs typeface="Calibri" panose="020F0502020204030204" pitchFamily="34" charset="0"/>
              </a:rPr>
              <a:t>Search Strategies:</a:t>
            </a:r>
          </a:p>
          <a:p>
            <a:pPr lvl="1"/>
            <a:r>
              <a:rPr lang="en-US" sz="2600" dirty="0" err="1">
                <a:latin typeface="Calibri" panose="020F0502020204030204" pitchFamily="34" charset="0"/>
                <a:ea typeface="Calibri" panose="020F0502020204030204" pitchFamily="34" charset="0"/>
                <a:cs typeface="Calibri" panose="020F0502020204030204" pitchFamily="34" charset="0"/>
              </a:rPr>
              <a:t>SageBook</a:t>
            </a:r>
            <a:r>
              <a:rPr lang="en-US" sz="2600" dirty="0">
                <a:latin typeface="Calibri" panose="020F0502020204030204" pitchFamily="34" charset="0"/>
                <a:ea typeface="Calibri" panose="020F0502020204030204" pitchFamily="34" charset="0"/>
                <a:cs typeface="Calibri" panose="020F0502020204030204" pitchFamily="34" charset="0"/>
              </a:rPr>
              <a:t> offers multiple search strategies (three for graphical properties, four for data properties) with varying levels of strictness.</a:t>
            </a:r>
          </a:p>
          <a:p>
            <a:pPr lvl="1"/>
            <a:r>
              <a:rPr lang="en-US" sz="2600" dirty="0">
                <a:latin typeface="Calibri" panose="020F0502020204030204" pitchFamily="34" charset="0"/>
                <a:ea typeface="Calibri" panose="020F0502020204030204" pitchFamily="34" charset="0"/>
                <a:cs typeface="Calibri" panose="020F0502020204030204" pitchFamily="34" charset="0"/>
              </a:rPr>
              <a:t>It also supports clustering techniques to organize large collections of graphics for easier browsing.</a:t>
            </a:r>
          </a:p>
        </p:txBody>
      </p:sp>
    </p:spTree>
    <p:extLst>
      <p:ext uri="{BB962C8B-B14F-4D97-AF65-F5344CB8AC3E}">
        <p14:creationId xmlns:p14="http://schemas.microsoft.com/office/powerpoint/2010/main" val="24786876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t>Applications</a:t>
            </a:r>
            <a:br>
              <a:rPr lang="en-US" dirty="0"/>
            </a:br>
            <a:endParaRPr lang="en-US" dirty="0"/>
          </a:p>
        </p:txBody>
      </p:sp>
      <p:sp>
        <p:nvSpPr>
          <p:cNvPr id="5" name="Content Placeholder 4">
            <a:extLst>
              <a:ext uri="{FF2B5EF4-FFF2-40B4-BE49-F238E27FC236}">
                <a16:creationId xmlns:a16="http://schemas.microsoft.com/office/drawing/2014/main" id="{DA7A58E5-AFDB-7B68-E7CE-7B3C0D329E47}"/>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Beyond business graphics, </a:t>
            </a:r>
            <a:r>
              <a:rPr lang="en-US" sz="2600" dirty="0" err="1">
                <a:latin typeface="Calibri" panose="020F0502020204030204" pitchFamily="34" charset="0"/>
                <a:ea typeface="Calibri" panose="020F0502020204030204" pitchFamily="34" charset="0"/>
                <a:cs typeface="Calibri" panose="020F0502020204030204" pitchFamily="34" charset="0"/>
              </a:rPr>
              <a:t>SageBook’s</a:t>
            </a:r>
            <a:r>
              <a:rPr lang="en-US" sz="2600" dirty="0">
                <a:latin typeface="Calibri" panose="020F0502020204030204" pitchFamily="34" charset="0"/>
                <a:ea typeface="Calibri" panose="020F0502020204030204" pitchFamily="34" charset="0"/>
                <a:cs typeface="Calibri" panose="020F0502020204030204" pitchFamily="34" charset="0"/>
              </a:rPr>
              <a:t> approach can be applied to fields like:</a:t>
            </a:r>
          </a:p>
          <a:p>
            <a:endParaRPr lang="en-US" sz="2600" dirty="0">
              <a:latin typeface="Calibri" panose="020F0502020204030204" pitchFamily="34" charset="0"/>
              <a:ea typeface="Calibri" panose="020F0502020204030204" pitchFamily="34" charset="0"/>
              <a:cs typeface="Calibri" panose="020F0502020204030204" pitchFamily="34" charset="0"/>
            </a:endParaRPr>
          </a:p>
          <a:p>
            <a:pPr lvl="1"/>
            <a:r>
              <a:rPr lang="en-US" sz="2600" b="1" dirty="0">
                <a:latin typeface="Calibri" panose="020F0502020204030204" pitchFamily="34" charset="0"/>
                <a:ea typeface="Calibri" panose="020F0502020204030204" pitchFamily="34" charset="0"/>
                <a:cs typeface="Calibri" panose="020F0502020204030204" pitchFamily="34" charset="0"/>
              </a:rPr>
              <a:t>Cartography</a:t>
            </a:r>
            <a:r>
              <a:rPr lang="en-US" sz="2600" dirty="0">
                <a:latin typeface="Calibri" panose="020F0502020204030204" pitchFamily="34" charset="0"/>
                <a:ea typeface="Calibri" panose="020F0502020204030204" pitchFamily="34" charset="0"/>
                <a:cs typeface="Calibri" panose="020F0502020204030204" pitchFamily="34" charset="0"/>
              </a:rPr>
              <a:t>: Maps with terrain or elevation data.</a:t>
            </a:r>
          </a:p>
          <a:p>
            <a:pPr lvl="1"/>
            <a:r>
              <a:rPr lang="en-US" sz="2600" b="1" dirty="0">
                <a:latin typeface="Calibri" panose="020F0502020204030204" pitchFamily="34" charset="0"/>
                <a:ea typeface="Calibri" panose="020F0502020204030204" pitchFamily="34" charset="0"/>
                <a:cs typeface="Calibri" panose="020F0502020204030204" pitchFamily="34" charset="0"/>
              </a:rPr>
              <a:t>Architecture</a:t>
            </a:r>
            <a:r>
              <a:rPr lang="en-US" sz="2600" dirty="0">
                <a:latin typeface="Calibri" panose="020F0502020204030204" pitchFamily="34" charset="0"/>
                <a:ea typeface="Calibri" panose="020F0502020204030204" pitchFamily="34" charset="0"/>
                <a:cs typeface="Calibri" panose="020F0502020204030204" pitchFamily="34" charset="0"/>
              </a:rPr>
              <a:t>: Blueprints.</a:t>
            </a:r>
          </a:p>
          <a:p>
            <a:pPr lvl="1"/>
            <a:r>
              <a:rPr lang="en-US" sz="2600" b="1" dirty="0">
                <a:latin typeface="Calibri" panose="020F0502020204030204" pitchFamily="34" charset="0"/>
                <a:ea typeface="Calibri" panose="020F0502020204030204" pitchFamily="34" charset="0"/>
                <a:cs typeface="Calibri" panose="020F0502020204030204" pitchFamily="34" charset="0"/>
              </a:rPr>
              <a:t>Networking</a:t>
            </a:r>
            <a:r>
              <a:rPr lang="en-US" sz="2600" dirty="0">
                <a:latin typeface="Calibri" panose="020F0502020204030204" pitchFamily="34" charset="0"/>
                <a:ea typeface="Calibri" panose="020F0502020204030204" pitchFamily="34" charset="0"/>
                <a:cs typeface="Calibri" panose="020F0502020204030204" pitchFamily="34" charset="0"/>
              </a:rPr>
              <a:t>: Diagrams of routers and links.</a:t>
            </a:r>
          </a:p>
          <a:p>
            <a:pPr lvl="1"/>
            <a:r>
              <a:rPr lang="en-US" sz="2600" b="1" dirty="0">
                <a:latin typeface="Calibri" panose="020F0502020204030204" pitchFamily="34" charset="0"/>
                <a:ea typeface="Calibri" panose="020F0502020204030204" pitchFamily="34" charset="0"/>
                <a:cs typeface="Calibri" panose="020F0502020204030204" pitchFamily="34" charset="0"/>
              </a:rPr>
              <a:t>Military</a:t>
            </a:r>
            <a:r>
              <a:rPr lang="en-US" sz="2600" dirty="0">
                <a:latin typeface="Calibri" panose="020F0502020204030204" pitchFamily="34" charset="0"/>
                <a:ea typeface="Calibri" panose="020F0502020204030204" pitchFamily="34" charset="0"/>
                <a:cs typeface="Calibri" panose="020F0502020204030204" pitchFamily="34" charset="0"/>
              </a:rPr>
              <a:t> </a:t>
            </a:r>
            <a:r>
              <a:rPr lang="en-US" sz="2600" b="1" dirty="0">
                <a:latin typeface="Calibri" panose="020F0502020204030204" pitchFamily="34" charset="0"/>
                <a:ea typeface="Calibri" panose="020F0502020204030204" pitchFamily="34" charset="0"/>
                <a:cs typeface="Calibri" panose="020F0502020204030204" pitchFamily="34" charset="0"/>
              </a:rPr>
              <a:t>Planning</a:t>
            </a:r>
            <a:r>
              <a:rPr lang="en-US" sz="2600" dirty="0">
                <a:latin typeface="Calibri" panose="020F0502020204030204" pitchFamily="34" charset="0"/>
                <a:ea typeface="Calibri" panose="020F0502020204030204" pitchFamily="34" charset="0"/>
                <a:cs typeface="Calibri" panose="020F0502020204030204" pitchFamily="34" charset="0"/>
              </a:rPr>
              <a:t>: Maps with forces and defenses.</a:t>
            </a:r>
          </a:p>
        </p:txBody>
      </p:sp>
    </p:spTree>
    <p:extLst>
      <p:ext uri="{BB962C8B-B14F-4D97-AF65-F5344CB8AC3E}">
        <p14:creationId xmlns:p14="http://schemas.microsoft.com/office/powerpoint/2010/main" val="26658260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2"/>
            <a:ext cx="10972800" cy="1656971"/>
          </a:xfrm>
        </p:spPr>
        <p:txBody>
          <a:bodyPr/>
          <a:lstStyle/>
          <a:p>
            <a:r>
              <a:rPr lang="en-US" dirty="0"/>
              <a:t>Imagery Retrieval - </a:t>
            </a:r>
            <a:r>
              <a:rPr lang="en-US" dirty="0">
                <a:effectLst/>
              </a:rPr>
              <a:t>content-based image retrieval (CBIR) systems like IBM's Query By Image Content (QBIC) system.</a:t>
            </a:r>
            <a:endParaRPr lang="en-US" dirty="0"/>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a:xfrm>
            <a:off x="659796" y="1948543"/>
            <a:ext cx="10977033" cy="3734789"/>
          </a:xfrm>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Context and Importance</a:t>
            </a:r>
          </a:p>
          <a:p>
            <a:pPr lvl="1"/>
            <a:r>
              <a:rPr lang="en-US" sz="2600" dirty="0">
                <a:latin typeface="Calibri" panose="020F0502020204030204" pitchFamily="34" charset="0"/>
                <a:ea typeface="Calibri" panose="020F0502020204030204" pitchFamily="34" charset="0"/>
                <a:cs typeface="Calibri" panose="020F0502020204030204" pitchFamily="34" charset="0"/>
              </a:rPr>
              <a:t>With the rise of digital imagery (e.g., web images, personal photo collections), there’s a growing need for efficient image search and retrieval. </a:t>
            </a:r>
          </a:p>
          <a:p>
            <a:pPr lvl="1"/>
            <a:r>
              <a:rPr lang="en-US" sz="2600" dirty="0">
                <a:latin typeface="Calibri" panose="020F0502020204030204" pitchFamily="34" charset="0"/>
                <a:ea typeface="Calibri" panose="020F0502020204030204" pitchFamily="34" charset="0"/>
                <a:cs typeface="Calibri" panose="020F0502020204030204" pitchFamily="34" charset="0"/>
              </a:rPr>
              <a:t>Traditional methods rely on metadata (like captions or tags), but these are limited because they require manual annotation, which is time-consuming. </a:t>
            </a:r>
          </a:p>
          <a:p>
            <a:pPr lvl="1"/>
            <a:r>
              <a:rPr lang="en-US" sz="2600" dirty="0">
                <a:latin typeface="Calibri" panose="020F0502020204030204" pitchFamily="34" charset="0"/>
                <a:ea typeface="Calibri" panose="020F0502020204030204" pitchFamily="34" charset="0"/>
                <a:cs typeface="Calibri" panose="020F0502020204030204" pitchFamily="34" charset="0"/>
              </a:rPr>
              <a:t>CBIR systems aim to search images based on their visual content—features like color, texture, shape, or sketches—without needing manual tags.</a:t>
            </a:r>
          </a:p>
        </p:txBody>
      </p:sp>
    </p:spTree>
    <p:extLst>
      <p:ext uri="{BB962C8B-B14F-4D97-AF65-F5344CB8AC3E}">
        <p14:creationId xmlns:p14="http://schemas.microsoft.com/office/powerpoint/2010/main" val="22984220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QBIC System Overview</a:t>
            </a:r>
          </a:p>
        </p:txBody>
      </p:sp>
      <p:sp>
        <p:nvSpPr>
          <p:cNvPr id="6" name="Content Placeholder 5">
            <a:extLst>
              <a:ext uri="{FF2B5EF4-FFF2-40B4-BE49-F238E27FC236}">
                <a16:creationId xmlns:a16="http://schemas.microsoft.com/office/drawing/2014/main" id="{2A903A8D-7B57-1D5B-B8AF-D405228B6951}"/>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a:t>
            </a:r>
            <a:r>
              <a:rPr lang="en-US" sz="2600" b="1" dirty="0">
                <a:latin typeface="Calibri" panose="020F0502020204030204" pitchFamily="34" charset="0"/>
                <a:ea typeface="Calibri" panose="020F0502020204030204" pitchFamily="34" charset="0"/>
                <a:cs typeface="Calibri" panose="020F0502020204030204" pitchFamily="34" charset="0"/>
              </a:rPr>
              <a:t>QBIC</a:t>
            </a:r>
            <a:r>
              <a:rPr lang="en-US" sz="2600" dirty="0">
                <a:latin typeface="Calibri" panose="020F0502020204030204" pitchFamily="34" charset="0"/>
                <a:ea typeface="Calibri" panose="020F0502020204030204" pitchFamily="34" charset="0"/>
                <a:cs typeface="Calibri" panose="020F0502020204030204" pitchFamily="34" charset="0"/>
              </a:rPr>
              <a:t> system, developed by Flicker et al. (1997), is a pioneering example of CBIR. It allows users to query image databases using visual properties instead of keywords. For instance:</a:t>
            </a:r>
          </a:p>
          <a:p>
            <a:r>
              <a:rPr lang="en-US" sz="2600" b="1" dirty="0">
                <a:latin typeface="Calibri" panose="020F0502020204030204" pitchFamily="34" charset="0"/>
                <a:ea typeface="Calibri" panose="020F0502020204030204" pitchFamily="34" charset="0"/>
                <a:cs typeface="Calibri" panose="020F0502020204030204" pitchFamily="34" charset="0"/>
              </a:rPr>
              <a:t>Query by Color</a:t>
            </a:r>
            <a:r>
              <a:rPr lang="en-US" sz="2600" dirty="0">
                <a:latin typeface="Calibri" panose="020F0502020204030204" pitchFamily="34" charset="0"/>
                <a:ea typeface="Calibri" panose="020F0502020204030204" pitchFamily="34" charset="0"/>
                <a:cs typeface="Calibri" panose="020F0502020204030204" pitchFamily="34" charset="0"/>
              </a:rPr>
              <a:t>: A user can search for images dominated by a specific color, like red.</a:t>
            </a:r>
          </a:p>
          <a:p>
            <a:r>
              <a:rPr lang="en-US" sz="2600" b="1" dirty="0">
                <a:latin typeface="Calibri" panose="020F0502020204030204" pitchFamily="34" charset="0"/>
                <a:ea typeface="Calibri" panose="020F0502020204030204" pitchFamily="34" charset="0"/>
                <a:cs typeface="Calibri" panose="020F0502020204030204" pitchFamily="34" charset="0"/>
              </a:rPr>
              <a:t>Query by Shape/Texture</a:t>
            </a:r>
            <a:r>
              <a:rPr lang="en-US" sz="2600" dirty="0">
                <a:latin typeface="Calibri" panose="020F0502020204030204" pitchFamily="34" charset="0"/>
                <a:ea typeface="Calibri" panose="020F0502020204030204" pitchFamily="34" charset="0"/>
                <a:cs typeface="Calibri" panose="020F0502020204030204" pitchFamily="34" charset="0"/>
              </a:rPr>
              <a:t>: Users can draw a shape or select a texture to find similar images.</a:t>
            </a:r>
          </a:p>
          <a:p>
            <a:r>
              <a:rPr lang="en-US" sz="2600" b="1" dirty="0">
                <a:latin typeface="Calibri" panose="020F0502020204030204" pitchFamily="34" charset="0"/>
                <a:ea typeface="Calibri" panose="020F0502020204030204" pitchFamily="34" charset="0"/>
                <a:cs typeface="Calibri" panose="020F0502020204030204" pitchFamily="34" charset="0"/>
              </a:rPr>
              <a:t>Combined Queries</a:t>
            </a:r>
            <a:r>
              <a:rPr lang="en-US" sz="2600" dirty="0">
                <a:latin typeface="Calibri" panose="020F0502020204030204" pitchFamily="34" charset="0"/>
                <a:ea typeface="Calibri" panose="020F0502020204030204" pitchFamily="34" charset="0"/>
                <a:cs typeface="Calibri" panose="020F0502020204030204" pitchFamily="34" charset="0"/>
              </a:rPr>
              <a:t>: Users can refine searches by adding keywords to visual queries (e.g., searching for "red stamps" and then narrowing it to "presidents").</a:t>
            </a:r>
          </a:p>
        </p:txBody>
      </p:sp>
    </p:spTree>
    <p:extLst>
      <p:ext uri="{BB962C8B-B14F-4D97-AF65-F5344CB8AC3E}">
        <p14:creationId xmlns:p14="http://schemas.microsoft.com/office/powerpoint/2010/main" val="19307191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1"/>
            <a:ext cx="10972800" cy="1667857"/>
          </a:xfrm>
        </p:spPr>
        <p:txBody>
          <a:bodyPr/>
          <a:lstStyle/>
          <a:p>
            <a:r>
              <a:rPr lang="en-US" dirty="0"/>
              <a:t>Imagery Retrieval - </a:t>
            </a:r>
            <a:r>
              <a:rPr lang="en-US" dirty="0">
                <a:effectLst/>
              </a:rPr>
              <a:t>content-based image retrieval (CBIR) systems like IBM's Query By Image Content (QBIC) system.</a:t>
            </a:r>
            <a:endParaRPr lang="en-US" dirty="0"/>
          </a:p>
        </p:txBody>
      </p:sp>
      <p:sp>
        <p:nvSpPr>
          <p:cNvPr id="2" name="Content Placeholder 1">
            <a:extLst>
              <a:ext uri="{FF2B5EF4-FFF2-40B4-BE49-F238E27FC236}">
                <a16:creationId xmlns:a16="http://schemas.microsoft.com/office/drawing/2014/main" id="{70E7C0D4-9CCC-E561-2AF7-8D7D70B6CA0E}"/>
              </a:ext>
            </a:extLst>
          </p:cNvPr>
          <p:cNvSpPr>
            <a:spLocks noGrp="1"/>
          </p:cNvSpPr>
          <p:nvPr>
            <p:ph sz="quarter" idx="13"/>
          </p:nvPr>
        </p:nvSpPr>
        <p:spPr/>
        <p:txBody>
          <a:bodyPr/>
          <a:lstStyle/>
          <a:p>
            <a:endParaRPr lang="en-US" sz="2600" dirty="0">
              <a:effectLst/>
              <a:latin typeface="Calibri" panose="020F0502020204030204" pitchFamily="34" charset="0"/>
              <a:ea typeface="Calibri" panose="020F0502020204030204" pitchFamily="34" charset="0"/>
              <a:cs typeface="Calibri" panose="020F0502020204030204" pitchFamily="34" charset="0"/>
            </a:endParaRPr>
          </a:p>
          <a:p>
            <a:r>
              <a:rPr lang="en-US" sz="2600" dirty="0">
                <a:effectLst/>
                <a:latin typeface="Calibri" panose="020F0502020204030204" pitchFamily="34" charset="0"/>
                <a:ea typeface="Calibri" panose="020F0502020204030204" pitchFamily="34" charset="0"/>
                <a:cs typeface="Calibri" panose="020F0502020204030204" pitchFamily="34" charset="0"/>
              </a:rPr>
              <a:t>This shows the QBIC interface where a user queries a database of U.S. stamps (pre-1995) for those that are predominantly red. </a:t>
            </a:r>
          </a:p>
          <a:p>
            <a:r>
              <a:rPr lang="en-US" sz="2600" dirty="0">
                <a:effectLst/>
                <a:latin typeface="Calibri" panose="020F0502020204030204" pitchFamily="34" charset="0"/>
                <a:ea typeface="Calibri" panose="020F0502020204030204" pitchFamily="34" charset="0"/>
                <a:cs typeface="Calibri" panose="020F0502020204030204" pitchFamily="34" charset="0"/>
              </a:rPr>
              <a:t>The interface includes options to specify color percentages and adjust the query.</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12" name="Content Placeholder 11">
            <a:extLst>
              <a:ext uri="{FF2B5EF4-FFF2-40B4-BE49-F238E27FC236}">
                <a16:creationId xmlns:a16="http://schemas.microsoft.com/office/drawing/2014/main" id="{F7397FCD-4DD5-2508-86C0-0EB7CC5E6F0A}"/>
              </a:ext>
            </a:extLst>
          </p:cNvPr>
          <p:cNvPicPr>
            <a:picLocks noGrp="1" noChangeAspect="1"/>
          </p:cNvPicPr>
          <p:nvPr>
            <p:ph sz="quarter" idx="14"/>
          </p:nvPr>
        </p:nvPicPr>
        <p:blipFill>
          <a:blip r:embed="rId2"/>
          <a:stretch>
            <a:fillRect/>
          </a:stretch>
        </p:blipFill>
        <p:spPr>
          <a:xfrm>
            <a:off x="6265034" y="1728404"/>
            <a:ext cx="5317366" cy="4438649"/>
          </a:xfrm>
          <a:prstGeom prst="rect">
            <a:avLst/>
          </a:prstGeom>
        </p:spPr>
      </p:pic>
    </p:spTree>
    <p:extLst>
      <p:ext uri="{BB962C8B-B14F-4D97-AF65-F5344CB8AC3E}">
        <p14:creationId xmlns:p14="http://schemas.microsoft.com/office/powerpoint/2010/main" val="75078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2"/>
            <a:ext cx="10972800" cy="1656971"/>
          </a:xfrm>
        </p:spPr>
        <p:txBody>
          <a:bodyPr/>
          <a:lstStyle/>
          <a:p>
            <a:r>
              <a:rPr lang="en-US" dirty="0"/>
              <a:t>Imagery Retrieval - </a:t>
            </a:r>
            <a:r>
              <a:rPr lang="en-US" dirty="0">
                <a:effectLst/>
              </a:rPr>
              <a:t>content-based image retrieval (CBIR) systems like IBM's Query By Image Content (QBIC) system.</a:t>
            </a:r>
            <a:endParaRPr lang="en-US" dirty="0"/>
          </a:p>
        </p:txBody>
      </p:sp>
      <p:sp>
        <p:nvSpPr>
          <p:cNvPr id="2" name="Content Placeholder 1">
            <a:extLst>
              <a:ext uri="{FF2B5EF4-FFF2-40B4-BE49-F238E27FC236}">
                <a16:creationId xmlns:a16="http://schemas.microsoft.com/office/drawing/2014/main" id="{70E7C0D4-9CCC-E561-2AF7-8D7D70B6CA0E}"/>
              </a:ext>
            </a:extLst>
          </p:cNvPr>
          <p:cNvSpPr>
            <a:spLocks noGrp="1"/>
          </p:cNvSpPr>
          <p:nvPr>
            <p:ph sz="quarter" idx="13"/>
          </p:nvPr>
        </p:nvSpPr>
        <p:spPr/>
        <p:txBody>
          <a:bodyPr/>
          <a:lstStyle/>
          <a:p>
            <a:endParaRPr lang="en-US" sz="2600" dirty="0">
              <a:effectLst/>
              <a:latin typeface="Calibri" panose="020F0502020204030204" pitchFamily="34" charset="0"/>
              <a:ea typeface="Calibri" panose="020F0502020204030204" pitchFamily="34" charset="0"/>
              <a:cs typeface="Calibri" panose="020F0502020204030204" pitchFamily="34" charset="0"/>
            </a:endParaRPr>
          </a:p>
          <a:p>
            <a:r>
              <a:rPr lang="en-US" sz="2600" dirty="0">
                <a:effectLst/>
                <a:latin typeface="Calibri" panose="020F0502020204030204" pitchFamily="34" charset="0"/>
                <a:ea typeface="Calibri" panose="020F0502020204030204" pitchFamily="34" charset="0"/>
                <a:cs typeface="Calibri" panose="020F0502020204030204" pitchFamily="34" charset="0"/>
              </a:rPr>
              <a:t>This displays the results of the red stamp query—a grid of stamps that are primarily red.</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F322D776-7082-D94F-CA30-2DF9A4701CB7}"/>
              </a:ext>
            </a:extLst>
          </p:cNvPr>
          <p:cNvPicPr>
            <a:picLocks noGrp="1" noChangeAspect="1"/>
          </p:cNvPicPr>
          <p:nvPr>
            <p:ph sz="quarter" idx="14"/>
          </p:nvPr>
        </p:nvPicPr>
        <p:blipFill>
          <a:blip r:embed="rId2"/>
          <a:stretch>
            <a:fillRect/>
          </a:stretch>
        </p:blipFill>
        <p:spPr>
          <a:xfrm>
            <a:off x="6442569" y="1697141"/>
            <a:ext cx="5331138" cy="4438649"/>
          </a:xfrm>
        </p:spPr>
      </p:pic>
    </p:spTree>
    <p:extLst>
      <p:ext uri="{BB962C8B-B14F-4D97-AF65-F5344CB8AC3E}">
        <p14:creationId xmlns:p14="http://schemas.microsoft.com/office/powerpoint/2010/main" val="24872307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a:xfrm>
            <a:off x="609600" y="215372"/>
            <a:ext cx="10972800" cy="1530752"/>
          </a:xfrm>
        </p:spPr>
        <p:txBody>
          <a:bodyPr/>
          <a:lstStyle/>
          <a:p>
            <a:r>
              <a:rPr lang="en-US" dirty="0"/>
              <a:t>Imagery Retrieval - </a:t>
            </a:r>
            <a:r>
              <a:rPr lang="en-US" dirty="0">
                <a:effectLst/>
              </a:rPr>
              <a:t>content-based image retrieval (CBIR) systems like IBM's Query By Image Content (QBIC) system.</a:t>
            </a:r>
            <a:endParaRPr lang="en-US" dirty="0"/>
          </a:p>
        </p:txBody>
      </p:sp>
      <p:sp>
        <p:nvSpPr>
          <p:cNvPr id="2" name="Content Placeholder 1">
            <a:extLst>
              <a:ext uri="{FF2B5EF4-FFF2-40B4-BE49-F238E27FC236}">
                <a16:creationId xmlns:a16="http://schemas.microsoft.com/office/drawing/2014/main" id="{70E7C0D4-9CCC-E561-2AF7-8D7D70B6CA0E}"/>
              </a:ext>
            </a:extLst>
          </p:cNvPr>
          <p:cNvSpPr>
            <a:spLocks noGrp="1"/>
          </p:cNvSpPr>
          <p:nvPr>
            <p:ph sz="quarter" idx="13"/>
          </p:nvPr>
        </p:nvSpPr>
        <p:spPr/>
        <p:txBody>
          <a:bodyPr/>
          <a:lstStyle/>
          <a:p>
            <a:endParaRPr lang="en-US" sz="2600" dirty="0">
              <a:effectLst/>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a:p>
            <a:r>
              <a:rPr lang="en-US" sz="2600" dirty="0">
                <a:effectLst/>
                <a:latin typeface="Calibri" panose="020F0502020204030204" pitchFamily="34" charset="0"/>
                <a:ea typeface="Calibri" panose="020F0502020204030204" pitchFamily="34" charset="0"/>
                <a:cs typeface="Calibri" panose="020F0502020204030204" pitchFamily="34" charset="0"/>
              </a:rPr>
              <a:t>This refines the previous query by adding the keyword "president." </a:t>
            </a:r>
          </a:p>
          <a:p>
            <a:r>
              <a:rPr lang="en-US" sz="2600" dirty="0">
                <a:effectLst/>
                <a:latin typeface="Calibri" panose="020F0502020204030204" pitchFamily="34" charset="0"/>
                <a:ea typeface="Calibri" panose="020F0502020204030204" pitchFamily="34" charset="0"/>
                <a:cs typeface="Calibri" panose="020F0502020204030204" pitchFamily="34" charset="0"/>
              </a:rPr>
              <a:t>The results show red stamps featuring U.S. presidents, with one exception: the bottom-right stamp is of Martha Washington, part of the presidential stamp collection.</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7" name="Content Placeholder 2">
            <a:extLst>
              <a:ext uri="{FF2B5EF4-FFF2-40B4-BE49-F238E27FC236}">
                <a16:creationId xmlns:a16="http://schemas.microsoft.com/office/drawing/2014/main" id="{362DEA00-17C6-7C19-0451-2CA26F2EB51D}"/>
              </a:ext>
            </a:extLst>
          </p:cNvPr>
          <p:cNvPicPr>
            <a:picLocks noGrp="1" noChangeAspect="1"/>
          </p:cNvPicPr>
          <p:nvPr>
            <p:ph sz="quarter" idx="14"/>
          </p:nvPr>
        </p:nvPicPr>
        <p:blipFill>
          <a:blip r:embed="rId2"/>
          <a:stretch>
            <a:fillRect/>
          </a:stretch>
        </p:blipFill>
        <p:spPr>
          <a:xfrm>
            <a:off x="6469927" y="1746124"/>
            <a:ext cx="5199560" cy="4438650"/>
          </a:xfrm>
          <a:prstGeom prst="rect">
            <a:avLst/>
          </a:prstGeom>
          <a:noFill/>
          <a:ln>
            <a:noFill/>
          </a:ln>
        </p:spPr>
      </p:pic>
    </p:spTree>
    <p:extLst>
      <p:ext uri="{BB962C8B-B14F-4D97-AF65-F5344CB8AC3E}">
        <p14:creationId xmlns:p14="http://schemas.microsoft.com/office/powerpoint/2010/main" val="17596408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Advanced Features of QBIC</a:t>
            </a:r>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QBIC supports complex queries, such as finding images with specific combinations of visual elements (e.g., "a coarsely textured, red round object and a green square"). To make this possible:</a:t>
            </a:r>
          </a:p>
          <a:p>
            <a:r>
              <a:rPr lang="en-US" sz="2600" dirty="0">
                <a:latin typeface="Calibri" panose="020F0502020204030204" pitchFamily="34" charset="0"/>
                <a:ea typeface="Calibri" panose="020F0502020204030204" pitchFamily="34" charset="0"/>
                <a:cs typeface="Calibri" panose="020F0502020204030204" pitchFamily="34" charset="0"/>
              </a:rPr>
              <a:t>QBIC uses </a:t>
            </a:r>
            <a:r>
              <a:rPr lang="en-US" sz="2600" b="1" dirty="0">
                <a:latin typeface="Calibri" panose="020F0502020204030204" pitchFamily="34" charset="0"/>
                <a:ea typeface="Calibri" panose="020F0502020204030204" pitchFamily="34" charset="0"/>
                <a:cs typeface="Calibri" panose="020F0502020204030204" pitchFamily="34" charset="0"/>
              </a:rPr>
              <a:t>automated and semi-automated </a:t>
            </a:r>
            <a:r>
              <a:rPr lang="en-US" sz="2600" dirty="0">
                <a:latin typeface="Calibri" panose="020F0502020204030204" pitchFamily="34" charset="0"/>
                <a:ea typeface="Calibri" panose="020F0502020204030204" pitchFamily="34" charset="0"/>
                <a:cs typeface="Calibri" panose="020F0502020204030204" pitchFamily="34" charset="0"/>
              </a:rPr>
              <a:t>tools to extract objects from images (e.g., distinguishing foreground from background).</a:t>
            </a:r>
          </a:p>
          <a:p>
            <a:r>
              <a:rPr lang="en-US" sz="2600" dirty="0">
                <a:latin typeface="Calibri" panose="020F0502020204030204" pitchFamily="34" charset="0"/>
                <a:ea typeface="Calibri" panose="020F0502020204030204" pitchFamily="34" charset="0"/>
                <a:cs typeface="Calibri" panose="020F0502020204030204" pitchFamily="34" charset="0"/>
              </a:rPr>
              <a:t>If text captions are available, they can be used to enhance the search (as seen in Figure 10.4c).</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21869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536DA1-4D4F-6A2C-7E09-2611FFE03688}"/>
              </a:ext>
            </a:extLst>
          </p:cNvPr>
          <p:cNvSpPr>
            <a:spLocks noGrp="1"/>
          </p:cNvSpPr>
          <p:nvPr>
            <p:ph type="title"/>
          </p:nvPr>
        </p:nvSpPr>
        <p:spPr/>
        <p:txBody>
          <a:bodyPr/>
          <a:lstStyle/>
          <a:p>
            <a:r>
              <a:rPr lang="en-US" dirty="0"/>
              <a:t>Extending CBIR to video retrieval</a:t>
            </a:r>
          </a:p>
        </p:txBody>
      </p:sp>
      <p:sp>
        <p:nvSpPr>
          <p:cNvPr id="5" name="Content Placeholder 4">
            <a:extLst>
              <a:ext uri="{FF2B5EF4-FFF2-40B4-BE49-F238E27FC236}">
                <a16:creationId xmlns:a16="http://schemas.microsoft.com/office/drawing/2014/main" id="{DA7A58E5-AFDB-7B68-E7CE-7B3C0D329E47}"/>
              </a:ext>
            </a:extLst>
          </p:cNvPr>
          <p:cNvSpPr>
            <a:spLocks noGrp="1"/>
          </p:cNvSpPr>
          <p:nvPr>
            <p:ph sz="quarter" idx="13"/>
          </p:nvPr>
        </p:nvSpPr>
        <p:spPr/>
        <p:txBody>
          <a:bodyPr/>
          <a:lstStyle/>
          <a:p>
            <a:r>
              <a:rPr lang="en-US" sz="2600" b="1" dirty="0">
                <a:latin typeface="Calibri" panose="020F0502020204030204" pitchFamily="34" charset="0"/>
                <a:ea typeface="Calibri" panose="020F0502020204030204" pitchFamily="34" charset="0"/>
                <a:cs typeface="Calibri" panose="020F0502020204030204" pitchFamily="34" charset="0"/>
              </a:rPr>
              <a:t>Shot Detection</a:t>
            </a:r>
            <a:r>
              <a:rPr lang="en-US" sz="2600" dirty="0">
                <a:latin typeface="Calibri" panose="020F0502020204030204" pitchFamily="34" charset="0"/>
                <a:ea typeface="Calibri" panose="020F0502020204030204" pitchFamily="34" charset="0"/>
                <a:cs typeface="Calibri" panose="020F0502020204030204" pitchFamily="34" charset="0"/>
              </a:rPr>
              <a:t>: Videos are broken into shots, and a representative frame (called an r-frame or keyframe) is extracted for each shot.</a:t>
            </a:r>
          </a:p>
          <a:p>
            <a:r>
              <a:rPr lang="en-US" sz="2600" b="1" dirty="0">
                <a:latin typeface="Calibri" panose="020F0502020204030204" pitchFamily="34" charset="0"/>
                <a:ea typeface="Calibri" panose="020F0502020204030204" pitchFamily="34" charset="0"/>
                <a:cs typeface="Calibri" panose="020F0502020204030204" pitchFamily="34" charset="0"/>
              </a:rPr>
              <a:t>Motion Analysis</a:t>
            </a:r>
            <a:r>
              <a:rPr lang="en-US" sz="2600" dirty="0">
                <a:latin typeface="Calibri" panose="020F0502020204030204" pitchFamily="34" charset="0"/>
                <a:ea typeface="Calibri" panose="020F0502020204030204" pitchFamily="34" charset="0"/>
                <a:cs typeface="Calibri" panose="020F0502020204030204" pitchFamily="34" charset="0"/>
              </a:rPr>
              <a:t>: QBIC can analyze motion in videos, enabling queries like "find shots panning left to right." Results are shown as ranked r-frames, which act as thumbnails; clicking one plays the associated video shot.</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20714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ABF8F2-720C-E08B-1CCC-530B6DC82345}"/>
              </a:ext>
            </a:extLst>
          </p:cNvPr>
          <p:cNvSpPr>
            <a:spLocks noGrp="1"/>
          </p:cNvSpPr>
          <p:nvPr>
            <p:ph type="title"/>
          </p:nvPr>
        </p:nvSpPr>
        <p:spPr/>
        <p:txBody>
          <a:bodyPr/>
          <a:lstStyle/>
          <a:p>
            <a:r>
              <a:rPr lang="en-US" dirty="0"/>
              <a:t>Specialized Applications</a:t>
            </a:r>
          </a:p>
        </p:txBody>
      </p:sp>
      <p:sp>
        <p:nvSpPr>
          <p:cNvPr id="5" name="Content Placeholder 4">
            <a:extLst>
              <a:ext uri="{FF2B5EF4-FFF2-40B4-BE49-F238E27FC236}">
                <a16:creationId xmlns:a16="http://schemas.microsoft.com/office/drawing/2014/main" id="{1F3B2CE4-B636-A768-3979-A1A11689BA52}"/>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The text highlights other areas of content-based retrieval:</a:t>
            </a:r>
          </a:p>
          <a:p>
            <a:pPr marL="444500" indent="-342900">
              <a:buFont typeface="+mj-lt"/>
              <a:buAutoNum type="arabicPeriod"/>
            </a:pPr>
            <a:r>
              <a:rPr lang="en-US" sz="2600" dirty="0">
                <a:latin typeface="Calibri" panose="020F0502020204030204" pitchFamily="34" charset="0"/>
                <a:ea typeface="Calibri" panose="020F0502020204030204" pitchFamily="34" charset="0"/>
                <a:cs typeface="Calibri" panose="020F0502020204030204" pitchFamily="34" charset="0"/>
              </a:rPr>
              <a:t>Face Processing:</a:t>
            </a:r>
          </a:p>
          <a:p>
            <a:pPr lvl="1"/>
            <a:r>
              <a:rPr lang="en-US" sz="2600" dirty="0">
                <a:latin typeface="Calibri" panose="020F0502020204030204" pitchFamily="34" charset="0"/>
                <a:ea typeface="Calibri" panose="020F0502020204030204" pitchFamily="34" charset="0"/>
                <a:cs typeface="Calibri" panose="020F0502020204030204" pitchFamily="34" charset="0"/>
              </a:rPr>
              <a:t>Face Detection: Identifying faces in an image.</a:t>
            </a:r>
          </a:p>
          <a:p>
            <a:pPr lvl="1"/>
            <a:r>
              <a:rPr lang="en-US" sz="2600" dirty="0">
                <a:latin typeface="Calibri" panose="020F0502020204030204" pitchFamily="34" charset="0"/>
                <a:ea typeface="Calibri" panose="020F0502020204030204" pitchFamily="34" charset="0"/>
                <a:cs typeface="Calibri" panose="020F0502020204030204" pitchFamily="34" charset="0"/>
              </a:rPr>
              <a:t>Face Recognition: Verifying a face’s identity (e.g., the U.S. Immigration Service uses </a:t>
            </a:r>
            <a:r>
              <a:rPr lang="en-US" sz="2600" dirty="0" err="1">
                <a:latin typeface="Calibri" panose="020F0502020204030204" pitchFamily="34" charset="0"/>
                <a:ea typeface="Calibri" panose="020F0502020204030204" pitchFamily="34" charset="0"/>
                <a:cs typeface="Calibri" panose="020F0502020204030204" pitchFamily="34" charset="0"/>
              </a:rPr>
              <a:t>FaceIt</a:t>
            </a:r>
            <a:r>
              <a:rPr lang="en-US" sz="2600" dirty="0">
                <a:latin typeface="Calibri" panose="020F0502020204030204" pitchFamily="34" charset="0"/>
                <a:ea typeface="Calibri" panose="020F0502020204030204" pitchFamily="34" charset="0"/>
                <a:cs typeface="Calibri" panose="020F0502020204030204" pitchFamily="34" charset="0"/>
              </a:rPr>
              <a:t>® at the </a:t>
            </a:r>
            <a:r>
              <a:rPr lang="en-US" sz="2600" dirty="0" err="1">
                <a:latin typeface="Calibri" panose="020F0502020204030204" pitchFamily="34" charset="0"/>
                <a:ea typeface="Calibri" panose="020F0502020204030204" pitchFamily="34" charset="0"/>
                <a:cs typeface="Calibri" panose="020F0502020204030204" pitchFamily="34" charset="0"/>
              </a:rPr>
              <a:t>Otay</a:t>
            </a:r>
            <a:r>
              <a:rPr lang="en-US" sz="2600" dirty="0">
                <a:latin typeface="Calibri" panose="020F0502020204030204" pitchFamily="34" charset="0"/>
                <a:ea typeface="Calibri" panose="020F0502020204030204" pitchFamily="34" charset="0"/>
                <a:cs typeface="Calibri" panose="020F0502020204030204" pitchFamily="34" charset="0"/>
              </a:rPr>
              <a:t> Mesa border to match drivers’ faces with registered photos for fast-lane access).</a:t>
            </a:r>
          </a:p>
          <a:p>
            <a:pPr lvl="1"/>
            <a:r>
              <a:rPr lang="en-US" sz="2600" dirty="0">
                <a:latin typeface="Calibri" panose="020F0502020204030204" pitchFamily="34" charset="0"/>
                <a:ea typeface="Calibri" panose="020F0502020204030204" pitchFamily="34" charset="0"/>
                <a:cs typeface="Calibri" panose="020F0502020204030204" pitchFamily="34" charset="0"/>
              </a:rPr>
              <a:t>Face Retrieval: Finding matching faces in a database.</a:t>
            </a:r>
          </a:p>
          <a:p>
            <a:pPr lvl="1"/>
            <a:r>
              <a:rPr lang="en-US" sz="2600" dirty="0" err="1">
                <a:latin typeface="Calibri" panose="020F0502020204030204" pitchFamily="34" charset="0"/>
                <a:ea typeface="Calibri" panose="020F0502020204030204" pitchFamily="34" charset="0"/>
                <a:cs typeface="Calibri" panose="020F0502020204030204" pitchFamily="34" charset="0"/>
              </a:rPr>
              <a:t>FaceIt</a:t>
            </a:r>
            <a:r>
              <a:rPr lang="en-US" sz="2600" dirty="0">
                <a:latin typeface="Calibri" panose="020F0502020204030204" pitchFamily="34" charset="0"/>
                <a:ea typeface="Calibri" panose="020F0502020204030204" pitchFamily="34" charset="0"/>
                <a:cs typeface="Calibri" panose="020F0502020204030204" pitchFamily="34" charset="0"/>
              </a:rPr>
              <a:t>® uses real-time imaging and RF tags to verify identities, improving border security and efficiency.</a:t>
            </a:r>
          </a:p>
          <a:p>
            <a:pPr lvl="1"/>
            <a:endParaRPr lang="en-US" sz="2600" dirty="0">
              <a:latin typeface="Calibri" panose="020F0502020204030204" pitchFamily="34" charset="0"/>
              <a:ea typeface="Calibri" panose="020F0502020204030204" pitchFamily="34" charset="0"/>
              <a:cs typeface="Calibri" panose="020F0502020204030204" pitchFamily="34" charset="0"/>
            </a:endParaRP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20071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Specialized Applications</a:t>
            </a:r>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pPr marL="444500" indent="-342900">
              <a:buFont typeface="+mj-lt"/>
              <a:buAutoNum type="arabicPeriod" startAt="2"/>
            </a:pPr>
            <a:r>
              <a:rPr lang="en-US" sz="2600" dirty="0">
                <a:latin typeface="Calibri" panose="020F0502020204030204" pitchFamily="34" charset="0"/>
                <a:ea typeface="Calibri" panose="020F0502020204030204" pitchFamily="34" charset="0"/>
                <a:cs typeface="Calibri" panose="020F0502020204030204" pitchFamily="34" charset="0"/>
              </a:rPr>
              <a:t>Human Movement and Expression Recognition:</a:t>
            </a:r>
          </a:p>
          <a:p>
            <a:pPr lvl="1"/>
            <a:r>
              <a:rPr lang="en-US" sz="2600" dirty="0">
                <a:latin typeface="Calibri" panose="020F0502020204030204" pitchFamily="34" charset="0"/>
                <a:ea typeface="Calibri" panose="020F0502020204030204" pitchFamily="34" charset="0"/>
                <a:cs typeface="Calibri" panose="020F0502020204030204" pitchFamily="34" charset="0"/>
              </a:rPr>
              <a:t>Systems can track movements (e.g., of heads, hands) or recognize expressions like smiles or anger (Pentland, 1997).</a:t>
            </a:r>
          </a:p>
          <a:p>
            <a:pPr lvl="1"/>
            <a:r>
              <a:rPr lang="en-US" sz="2600" dirty="0">
                <a:latin typeface="Calibri" panose="020F0502020204030204" pitchFamily="34" charset="0"/>
                <a:ea typeface="Calibri" panose="020F0502020204030204" pitchFamily="34" charset="0"/>
                <a:cs typeface="Calibri" panose="020F0502020204030204" pitchFamily="34" charset="0"/>
              </a:rPr>
              <a:t>This ties into emotion recognition (Picard, 1997) for better human-computer interaction.</a:t>
            </a:r>
          </a:p>
          <a:p>
            <a:pPr marL="444500" indent="-342900">
              <a:buFont typeface="+mj-lt"/>
              <a:buAutoNum type="arabicPeriod" startAt="3"/>
            </a:pPr>
            <a:r>
              <a:rPr lang="en-US" sz="2600" dirty="0">
                <a:latin typeface="Calibri" panose="020F0502020204030204" pitchFamily="34" charset="0"/>
                <a:ea typeface="Calibri" panose="020F0502020204030204" pitchFamily="34" charset="0"/>
                <a:cs typeface="Calibri" panose="020F0502020204030204" pitchFamily="34" charset="0"/>
              </a:rPr>
              <a:t>Video Search with Named Faces:</a:t>
            </a:r>
          </a:p>
          <a:p>
            <a:pPr marL="931418" lvl="1" indent="-342900"/>
            <a:r>
              <a:rPr lang="en-US" sz="2600" dirty="0">
                <a:latin typeface="Calibri" panose="020F0502020204030204" pitchFamily="34" charset="0"/>
                <a:ea typeface="Calibri" panose="020F0502020204030204" pitchFamily="34" charset="0"/>
                <a:cs typeface="Calibri" panose="020F0502020204030204" pitchFamily="34" charset="0"/>
              </a:rPr>
              <a:t>The </a:t>
            </a:r>
            <a:r>
              <a:rPr lang="en-US" sz="2600" dirty="0" err="1">
                <a:latin typeface="Calibri" panose="020F0502020204030204" pitchFamily="34" charset="0"/>
                <a:ea typeface="Calibri" panose="020F0502020204030204" pitchFamily="34" charset="0"/>
                <a:cs typeface="Calibri" panose="020F0502020204030204" pitchFamily="34" charset="0"/>
              </a:rPr>
              <a:t>Informedia</a:t>
            </a:r>
            <a:r>
              <a:rPr lang="en-US" sz="2600" dirty="0">
                <a:latin typeface="Calibri" panose="020F0502020204030204" pitchFamily="34" charset="0"/>
                <a:ea typeface="Calibri" panose="020F0502020204030204" pitchFamily="34" charset="0"/>
                <a:cs typeface="Calibri" panose="020F0502020204030204" pitchFamily="34" charset="0"/>
              </a:rPr>
              <a:t> Digital Video Library (</a:t>
            </a:r>
            <a:r>
              <a:rPr lang="en-US" sz="2600" dirty="0" err="1">
                <a:latin typeface="Calibri" panose="020F0502020204030204" pitchFamily="34" charset="0"/>
                <a:ea typeface="Calibri" panose="020F0502020204030204" pitchFamily="34" charset="0"/>
                <a:cs typeface="Calibri" panose="020F0502020204030204" pitchFamily="34" charset="0"/>
              </a:rPr>
              <a:t>Wactlar</a:t>
            </a:r>
            <a:r>
              <a:rPr lang="en-US" sz="2600" dirty="0">
                <a:latin typeface="Calibri" panose="020F0502020204030204" pitchFamily="34" charset="0"/>
                <a:ea typeface="Calibri" panose="020F0502020204030204" pitchFamily="34" charset="0"/>
                <a:cs typeface="Calibri" panose="020F0502020204030204" pitchFamily="34" charset="0"/>
              </a:rPr>
              <a:t> et al., 2000) extracts data from video/audio and supports full-content search.</a:t>
            </a:r>
          </a:p>
          <a:p>
            <a:pPr marL="931418" lvl="1" indent="-342900"/>
            <a:r>
              <a:rPr lang="en-US" sz="2600" dirty="0">
                <a:latin typeface="Calibri" panose="020F0502020204030204" pitchFamily="34" charset="0"/>
                <a:ea typeface="Calibri" panose="020F0502020204030204" pitchFamily="34" charset="0"/>
                <a:cs typeface="Calibri" panose="020F0502020204030204" pitchFamily="34" charset="0"/>
              </a:rPr>
              <a:t>Its "named face" feature links names to faces, allowing searches like "find videos with this person."</a:t>
            </a:r>
          </a:p>
          <a:p>
            <a:pPr marL="444500" indent="-342900">
              <a:buFont typeface="+mj-lt"/>
              <a:buAutoNum type="arabicPeriod" startAt="3"/>
            </a:pPr>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82666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Performance Metrics</a:t>
            </a:r>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Systems like QBIC and </a:t>
            </a:r>
            <a:r>
              <a:rPr lang="en-US" sz="2600" dirty="0" err="1">
                <a:latin typeface="Calibri" panose="020F0502020204030204" pitchFamily="34" charset="0"/>
                <a:ea typeface="Calibri" panose="020F0502020204030204" pitchFamily="34" charset="0"/>
                <a:cs typeface="Calibri" panose="020F0502020204030204" pitchFamily="34" charset="0"/>
              </a:rPr>
              <a:t>FaceIt</a:t>
            </a:r>
            <a:r>
              <a:rPr lang="en-US" sz="2600" dirty="0">
                <a:latin typeface="Calibri" panose="020F0502020204030204" pitchFamily="34" charset="0"/>
                <a:ea typeface="Calibri" panose="020F0502020204030204" pitchFamily="34" charset="0"/>
                <a:cs typeface="Calibri" panose="020F0502020204030204" pitchFamily="34" charset="0"/>
              </a:rPr>
              <a:t>® are evaluated using precision (how many retrieved items are relevant) and recall (how many relevant items were retrieved), metrics borrowed from text retrieval.</a:t>
            </a:r>
          </a:p>
          <a:p>
            <a:r>
              <a:rPr lang="en-US" sz="2600" dirty="0">
                <a:latin typeface="Calibri" panose="020F0502020204030204" pitchFamily="34" charset="0"/>
                <a:ea typeface="Calibri" panose="020F0502020204030204" pitchFamily="34" charset="0"/>
                <a:cs typeface="Calibri" panose="020F0502020204030204" pitchFamily="34" charset="0"/>
              </a:rPr>
              <a:t>Challenges and Future Goals</a:t>
            </a:r>
          </a:p>
          <a:p>
            <a:pPr lvl="1"/>
            <a:r>
              <a:rPr lang="en-US" sz="2600" dirty="0">
                <a:latin typeface="Calibri" panose="020F0502020204030204" pitchFamily="34" charset="0"/>
                <a:ea typeface="Calibri" panose="020F0502020204030204" pitchFamily="34" charset="0"/>
                <a:cs typeface="Calibri" panose="020F0502020204030204" pitchFamily="34" charset="0"/>
              </a:rPr>
              <a:t>Object Identification: Fully automatic, domain-independent object recognition is still difficult, so manual or semi-automated annotation tools are used.</a:t>
            </a:r>
          </a:p>
          <a:p>
            <a:pPr lvl="1"/>
            <a:r>
              <a:rPr lang="en-US" sz="2600" dirty="0">
                <a:latin typeface="Calibri" panose="020F0502020204030204" pitchFamily="34" charset="0"/>
                <a:ea typeface="Calibri" panose="020F0502020204030204" pitchFamily="34" charset="0"/>
                <a:cs typeface="Calibri" panose="020F0502020204030204" pitchFamily="34" charset="0"/>
              </a:rPr>
              <a:t>Semantic Access: The ultimate goal is to enable semantic-based retrieval (e.g., "find images of happy people at a beach") rather than just visual feature matching.</a:t>
            </a:r>
          </a:p>
        </p:txBody>
      </p:sp>
    </p:spTree>
    <p:extLst>
      <p:ext uri="{BB962C8B-B14F-4D97-AF65-F5344CB8AC3E}">
        <p14:creationId xmlns:p14="http://schemas.microsoft.com/office/powerpoint/2010/main" val="31320404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9ADF51-D4B7-781A-22CC-6B092272C845}"/>
              </a:ext>
            </a:extLst>
          </p:cNvPr>
          <p:cNvSpPr>
            <a:spLocks noGrp="1"/>
          </p:cNvSpPr>
          <p:nvPr>
            <p:ph type="title"/>
          </p:nvPr>
        </p:nvSpPr>
        <p:spPr/>
        <p:txBody>
          <a:bodyPr/>
          <a:lstStyle/>
          <a:p>
            <a:r>
              <a:rPr lang="en-US" dirty="0"/>
              <a:t>Video Retrieval</a:t>
            </a:r>
          </a:p>
        </p:txBody>
      </p:sp>
      <p:sp>
        <p:nvSpPr>
          <p:cNvPr id="5" name="Content Placeholder 4">
            <a:extLst>
              <a:ext uri="{FF2B5EF4-FFF2-40B4-BE49-F238E27FC236}">
                <a16:creationId xmlns:a16="http://schemas.microsoft.com/office/drawing/2014/main" id="{BAD9DB0F-7B33-A524-A924-2A7B466C27E0}"/>
              </a:ext>
            </a:extLst>
          </p:cNvPr>
          <p:cNvSpPr>
            <a:spLocks noGrp="1"/>
          </p:cNvSpPr>
          <p:nvPr>
            <p:ph sz="quarter" idx="13"/>
          </p:nvPr>
        </p:nvSpPr>
        <p:spPr/>
        <p:txBody>
          <a:bodyPr/>
          <a:lstStyle/>
          <a:p>
            <a:r>
              <a:rPr lang="en-US" sz="2600" b="1" dirty="0">
                <a:effectLst/>
                <a:latin typeface="Calibri" panose="020F0502020204030204" pitchFamily="34" charset="0"/>
                <a:ea typeface="Calibri" panose="020F0502020204030204" pitchFamily="34" charset="0"/>
                <a:cs typeface="Calibri" panose="020F0502020204030204" pitchFamily="34" charset="0"/>
              </a:rPr>
              <a:t>Broadcast News Navigator (BNN)</a:t>
            </a:r>
          </a:p>
          <a:p>
            <a:r>
              <a:rPr lang="en-US" sz="2600" dirty="0">
                <a:effectLst/>
                <a:latin typeface="Calibri" panose="020F0502020204030204" pitchFamily="34" charset="0"/>
                <a:ea typeface="Calibri" panose="020F0502020204030204" pitchFamily="34" charset="0"/>
                <a:cs typeface="Calibri" panose="020F0502020204030204" pitchFamily="34" charset="0"/>
              </a:rPr>
              <a:t>BNN is a web-based tool that automates the capture, annotation, segmentation, summarization, and visualization of broadcast news video. It integrates text, speech, and image processing to enable content-based search and retrieval, addressing the inefficiencies of manual video annotation.</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02185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A031F-CAB5-8AB5-B085-08D6C97DFA56}"/>
              </a:ext>
            </a:extLst>
          </p:cNvPr>
          <p:cNvSpPr>
            <a:spLocks noGrp="1"/>
          </p:cNvSpPr>
          <p:nvPr>
            <p:ph type="title"/>
          </p:nvPr>
        </p:nvSpPr>
        <p:spPr/>
        <p:txBody>
          <a:bodyPr/>
          <a:lstStyle/>
          <a:p>
            <a:r>
              <a:rPr lang="en-US" dirty="0">
                <a:effectLst/>
              </a:rPr>
              <a:t>Query Interface</a:t>
            </a:r>
            <a:endParaRPr lang="en-US" dirty="0"/>
          </a:p>
        </p:txBody>
      </p:sp>
      <p:sp>
        <p:nvSpPr>
          <p:cNvPr id="3" name="Content Placeholder 2">
            <a:extLst>
              <a:ext uri="{FF2B5EF4-FFF2-40B4-BE49-F238E27FC236}">
                <a16:creationId xmlns:a16="http://schemas.microsoft.com/office/drawing/2014/main" id="{72E68F2F-3FA2-BA3F-944E-EF67E8D4ECAB}"/>
              </a:ext>
            </a:extLst>
          </p:cNvPr>
          <p:cNvSpPr>
            <a:spLocks noGrp="1"/>
          </p:cNvSpPr>
          <p:nvPr>
            <p:ph sz="quarter" idx="13"/>
          </p:nvPr>
        </p:nvSpPr>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Users can search across 30 news sources, select date ranges (e.g., Feb 27 to Mar 12, 2000), and search using keywords, closed captions, speech transcriptions, or named entities (people, locations, organizations).</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7677553A-3D35-165E-13D7-5EFA64633AF1}"/>
              </a:ext>
            </a:extLst>
          </p:cNvPr>
          <p:cNvPicPr>
            <a:picLocks noGrp="1" noChangeAspect="1"/>
          </p:cNvPicPr>
          <p:nvPr>
            <p:ph sz="quarter" idx="14"/>
          </p:nvPr>
        </p:nvPicPr>
        <p:blipFill>
          <a:blip r:embed="rId2"/>
          <a:stretch>
            <a:fillRect/>
          </a:stretch>
        </p:blipFill>
        <p:spPr>
          <a:xfrm>
            <a:off x="5932227" y="1447801"/>
            <a:ext cx="5682047" cy="4724400"/>
          </a:xfrm>
        </p:spPr>
      </p:pic>
    </p:spTree>
    <p:extLst>
      <p:ext uri="{BB962C8B-B14F-4D97-AF65-F5344CB8AC3E}">
        <p14:creationId xmlns:p14="http://schemas.microsoft.com/office/powerpoint/2010/main" val="29210076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387984D-5CC8-2BAE-D7B5-AE38CBF79D92}"/>
              </a:ext>
            </a:extLst>
          </p:cNvPr>
          <p:cNvSpPr>
            <a:spLocks noGrp="1"/>
          </p:cNvSpPr>
          <p:nvPr>
            <p:ph type="title"/>
          </p:nvPr>
        </p:nvSpPr>
        <p:spPr/>
        <p:txBody>
          <a:bodyPr/>
          <a:lstStyle/>
          <a:p>
            <a:r>
              <a:rPr lang="en-US" dirty="0">
                <a:effectLst/>
              </a:rPr>
              <a:t>Detailed Query</a:t>
            </a:r>
            <a:endParaRPr lang="en-US" dirty="0"/>
          </a:p>
        </p:txBody>
      </p:sp>
      <p:sp>
        <p:nvSpPr>
          <p:cNvPr id="9" name="Content Placeholder 8">
            <a:extLst>
              <a:ext uri="{FF2B5EF4-FFF2-40B4-BE49-F238E27FC236}">
                <a16:creationId xmlns:a16="http://schemas.microsoft.com/office/drawing/2014/main" id="{043B6668-F46E-70A6-C548-A002CFA9E975}"/>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BNN generates a custom query page with menus of extracted entities (e.g., "George Bush," "New York") and keywords ("presidential primary") to refine searches.</a:t>
            </a:r>
          </a:p>
        </p:txBody>
      </p:sp>
      <p:pic>
        <p:nvPicPr>
          <p:cNvPr id="12" name="Content Placeholder 11">
            <a:extLst>
              <a:ext uri="{FF2B5EF4-FFF2-40B4-BE49-F238E27FC236}">
                <a16:creationId xmlns:a16="http://schemas.microsoft.com/office/drawing/2014/main" id="{50E73EBA-51D0-6AD7-E319-EFFDCC053C91}"/>
              </a:ext>
            </a:extLst>
          </p:cNvPr>
          <p:cNvPicPr>
            <a:picLocks noGrp="1" noChangeAspect="1"/>
          </p:cNvPicPr>
          <p:nvPr>
            <p:ph sz="quarter" idx="14"/>
          </p:nvPr>
        </p:nvPicPr>
        <p:blipFill>
          <a:blip r:embed="rId2"/>
          <a:stretch>
            <a:fillRect/>
          </a:stretch>
        </p:blipFill>
        <p:spPr>
          <a:xfrm>
            <a:off x="6183086" y="1437245"/>
            <a:ext cx="5399313" cy="4888443"/>
          </a:xfrm>
        </p:spPr>
      </p:pic>
    </p:spTree>
    <p:extLst>
      <p:ext uri="{BB962C8B-B14F-4D97-AF65-F5344CB8AC3E}">
        <p14:creationId xmlns:p14="http://schemas.microsoft.com/office/powerpoint/2010/main" val="40569053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0FA340-193F-8C48-7277-76A62CF23F63}"/>
              </a:ext>
            </a:extLst>
          </p:cNvPr>
          <p:cNvSpPr>
            <a:spLocks noGrp="1"/>
          </p:cNvSpPr>
          <p:nvPr>
            <p:ph sz="quarter" idx="13"/>
          </p:nvPr>
        </p:nvSpPr>
        <p:spPr>
          <a:xfrm>
            <a:off x="727262" y="5040085"/>
            <a:ext cx="11408228" cy="1349829"/>
          </a:xfrm>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BNN displays "story skims" with keyframes and the three most frequent named entities for each story. Fig. 10.6a shows stories about "George Bush," while 10.6b shows "Al Gore" stories.</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37CE69BF-6A73-EF00-8AE9-D46A134C9AA9}"/>
              </a:ext>
            </a:extLst>
          </p:cNvPr>
          <p:cNvPicPr>
            <a:picLocks noGrp="1" noChangeAspect="1"/>
          </p:cNvPicPr>
          <p:nvPr>
            <p:ph sz="quarter" idx="14"/>
          </p:nvPr>
        </p:nvPicPr>
        <p:blipFill>
          <a:blip r:embed="rId2"/>
          <a:stretch>
            <a:fillRect/>
          </a:stretch>
        </p:blipFill>
        <p:spPr>
          <a:xfrm>
            <a:off x="6096000" y="0"/>
            <a:ext cx="5821775" cy="5040085"/>
          </a:xfrm>
        </p:spPr>
      </p:pic>
      <p:pic>
        <p:nvPicPr>
          <p:cNvPr id="10" name="Picture 9">
            <a:extLst>
              <a:ext uri="{FF2B5EF4-FFF2-40B4-BE49-F238E27FC236}">
                <a16:creationId xmlns:a16="http://schemas.microsoft.com/office/drawing/2014/main" id="{2ED4AAF9-DFEC-0FB8-4BDC-8F53F3D4B859}"/>
              </a:ext>
            </a:extLst>
          </p:cNvPr>
          <p:cNvPicPr>
            <a:picLocks noChangeAspect="1"/>
          </p:cNvPicPr>
          <p:nvPr/>
        </p:nvPicPr>
        <p:blipFill>
          <a:blip r:embed="rId3"/>
          <a:stretch>
            <a:fillRect/>
          </a:stretch>
        </p:blipFill>
        <p:spPr>
          <a:xfrm>
            <a:off x="435428" y="0"/>
            <a:ext cx="5560518" cy="4820815"/>
          </a:xfrm>
          <a:prstGeom prst="rect">
            <a:avLst/>
          </a:prstGeom>
        </p:spPr>
      </p:pic>
    </p:spTree>
    <p:extLst>
      <p:ext uri="{BB962C8B-B14F-4D97-AF65-F5344CB8AC3E}">
        <p14:creationId xmlns:p14="http://schemas.microsoft.com/office/powerpoint/2010/main" val="8142006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AAA3-B582-A838-2C00-4C7671097676}"/>
              </a:ext>
            </a:extLst>
          </p:cNvPr>
          <p:cNvSpPr>
            <a:spLocks noGrp="1"/>
          </p:cNvSpPr>
          <p:nvPr>
            <p:ph type="title"/>
          </p:nvPr>
        </p:nvSpPr>
        <p:spPr/>
        <p:txBody>
          <a:bodyPr/>
          <a:lstStyle/>
          <a:p>
            <a:r>
              <a:rPr lang="en-US" dirty="0">
                <a:effectLst/>
              </a:rPr>
              <a:t>Story Details</a:t>
            </a:r>
            <a:endParaRPr lang="en-US" dirty="0"/>
          </a:p>
        </p:txBody>
      </p:sp>
      <p:sp>
        <p:nvSpPr>
          <p:cNvPr id="7" name="Content Placeholder 6">
            <a:extLst>
              <a:ext uri="{FF2B5EF4-FFF2-40B4-BE49-F238E27FC236}">
                <a16:creationId xmlns:a16="http://schemas.microsoft.com/office/drawing/2014/main" id="{C5CC0714-2C38-6460-7B8B-BDD0E8B640B1}"/>
              </a:ext>
            </a:extLst>
          </p:cNvPr>
          <p:cNvSpPr>
            <a:spLocks noGrp="1"/>
          </p:cNvSpPr>
          <p:nvPr>
            <p:ph sz="quarter" idx="13"/>
          </p:nvPr>
        </p:nvSpPr>
        <p:spPr>
          <a:xfrm>
            <a:off x="609601" y="1552575"/>
            <a:ext cx="4713514" cy="4438650"/>
          </a:xfrm>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Selecting a story (e.g., a March 5 story about Al Gore) shows detailed closed captions, including delegate counts from the presidential primary.</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Content Placeholder 9">
            <a:extLst>
              <a:ext uri="{FF2B5EF4-FFF2-40B4-BE49-F238E27FC236}">
                <a16:creationId xmlns:a16="http://schemas.microsoft.com/office/drawing/2014/main" id="{2E078F60-53AD-F958-4B4D-C0AF2699F09E}"/>
              </a:ext>
            </a:extLst>
          </p:cNvPr>
          <p:cNvPicPr>
            <a:picLocks noGrp="1" noChangeAspect="1"/>
          </p:cNvPicPr>
          <p:nvPr>
            <p:ph sz="quarter" idx="14"/>
          </p:nvPr>
        </p:nvPicPr>
        <p:blipFill>
          <a:blip r:embed="rId2"/>
          <a:stretch>
            <a:fillRect/>
          </a:stretch>
        </p:blipFill>
        <p:spPr>
          <a:xfrm>
            <a:off x="5595007" y="544286"/>
            <a:ext cx="5987393" cy="5446939"/>
          </a:xfrm>
        </p:spPr>
      </p:pic>
    </p:spTree>
    <p:extLst>
      <p:ext uri="{BB962C8B-B14F-4D97-AF65-F5344CB8AC3E}">
        <p14:creationId xmlns:p14="http://schemas.microsoft.com/office/powerpoint/2010/main" val="24431378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831DA-1358-2E21-5B39-CC8E731F8C10}"/>
              </a:ext>
            </a:extLst>
          </p:cNvPr>
          <p:cNvSpPr>
            <a:spLocks noGrp="1"/>
          </p:cNvSpPr>
          <p:nvPr>
            <p:ph type="title"/>
          </p:nvPr>
        </p:nvSpPr>
        <p:spPr/>
        <p:txBody>
          <a:bodyPr/>
          <a:lstStyle/>
          <a:p>
            <a:r>
              <a:rPr lang="en-US" b="1" dirty="0" err="1"/>
              <a:t>GeoNODE</a:t>
            </a:r>
            <a:r>
              <a:rPr lang="en-US" b="1" dirty="0"/>
              <a:t> (Geospatial News on Demand Environment)</a:t>
            </a:r>
            <a:endParaRPr lang="en-US" dirty="0"/>
          </a:p>
        </p:txBody>
      </p:sp>
      <p:sp>
        <p:nvSpPr>
          <p:cNvPr id="9" name="Content Placeholder 8">
            <a:extLst>
              <a:ext uri="{FF2B5EF4-FFF2-40B4-BE49-F238E27FC236}">
                <a16:creationId xmlns:a16="http://schemas.microsoft.com/office/drawing/2014/main" id="{E81B27B6-D7C9-CD02-F461-2C213475A471}"/>
              </a:ext>
            </a:extLst>
          </p:cNvPr>
          <p:cNvSpPr>
            <a:spLocks noGrp="1"/>
          </p:cNvSpPr>
          <p:nvPr>
            <p:ph sz="quarter" idx="15"/>
          </p:nvPr>
        </p:nvSpPr>
        <p:spPr>
          <a:xfrm>
            <a:off x="609601" y="2724602"/>
            <a:ext cx="4847167" cy="3589948"/>
          </a:xfrm>
        </p:spPr>
        <p:txBody>
          <a:bodyPr/>
          <a:lstStyle/>
          <a:p>
            <a:r>
              <a:rPr lang="en-US" sz="2400" dirty="0">
                <a:effectLst/>
                <a:latin typeface="Calibri" panose="020F0502020204030204" pitchFamily="34" charset="0"/>
                <a:ea typeface="Calibri" panose="020F0502020204030204" pitchFamily="34" charset="0"/>
                <a:cs typeface="Calibri" panose="020F0502020204030204" pitchFamily="34" charset="0"/>
              </a:rPr>
              <a:t>Functionality</a:t>
            </a:r>
          </a:p>
          <a:p>
            <a:pPr lvl="1"/>
            <a:r>
              <a:rPr lang="en-US" sz="2400" dirty="0">
                <a:latin typeface="Calibri" panose="020F0502020204030204" pitchFamily="34" charset="0"/>
                <a:ea typeface="Calibri" panose="020F0502020204030204" pitchFamily="34" charset="0"/>
                <a:cs typeface="Calibri" panose="020F0502020204030204" pitchFamily="34" charset="0"/>
              </a:rPr>
              <a:t>Timeline View (Fig. 10.7): </a:t>
            </a:r>
            <a:r>
              <a:rPr lang="en-US" sz="2400" dirty="0" err="1">
                <a:latin typeface="Calibri" panose="020F0502020204030204" pitchFamily="34" charset="0"/>
                <a:ea typeface="Calibri" panose="020F0502020204030204" pitchFamily="34" charset="0"/>
                <a:cs typeface="Calibri" panose="020F0502020204030204" pitchFamily="34" charset="0"/>
              </a:rPr>
              <a:t>GeoNODE</a:t>
            </a:r>
            <a:r>
              <a:rPr lang="en-US" sz="2400" dirty="0">
                <a:latin typeface="Calibri" panose="020F0502020204030204" pitchFamily="34" charset="0"/>
                <a:ea typeface="Calibri" panose="020F0502020204030204" pitchFamily="34" charset="0"/>
                <a:cs typeface="Calibri" panose="020F0502020204030204" pitchFamily="34" charset="0"/>
              </a:rPr>
              <a:t> displays a timeline of stories from sources like CNN and MSNBC, showing the frequency of named entities (e.g., "George W. Bush," "Al Gore") over time. Peaks indicate high coverage periods.</a:t>
            </a:r>
          </a:p>
          <a:p>
            <a:endParaRPr lang="en-US" sz="2400" dirty="0"/>
          </a:p>
        </p:txBody>
      </p:sp>
      <p:sp>
        <p:nvSpPr>
          <p:cNvPr id="3" name="Content Placeholder 2">
            <a:extLst>
              <a:ext uri="{FF2B5EF4-FFF2-40B4-BE49-F238E27FC236}">
                <a16:creationId xmlns:a16="http://schemas.microsoft.com/office/drawing/2014/main" id="{51350A30-1762-FEFE-284E-D00F0ECCFDC3}"/>
              </a:ext>
            </a:extLst>
          </p:cNvPr>
          <p:cNvSpPr>
            <a:spLocks noGrp="1"/>
          </p:cNvSpPr>
          <p:nvPr>
            <p:ph sz="quarter" idx="13"/>
          </p:nvPr>
        </p:nvSpPr>
        <p:spPr>
          <a:xfrm>
            <a:off x="538843" y="1434489"/>
            <a:ext cx="11114314" cy="1290113"/>
          </a:xfrm>
        </p:spPr>
        <p:txBody>
          <a:bodyPr/>
          <a:lstStyle/>
          <a:p>
            <a:r>
              <a:rPr lang="en-US" sz="2600" dirty="0" err="1">
                <a:effectLst/>
                <a:latin typeface="Calibri" panose="020F0502020204030204" pitchFamily="34" charset="0"/>
                <a:ea typeface="Calibri" panose="020F0502020204030204" pitchFamily="34" charset="0"/>
                <a:cs typeface="Calibri" panose="020F0502020204030204" pitchFamily="34" charset="0"/>
              </a:rPr>
              <a:t>GeoNODE</a:t>
            </a:r>
            <a:r>
              <a:rPr lang="en-US" sz="2600" dirty="0">
                <a:effectLst/>
                <a:latin typeface="Calibri" panose="020F0502020204030204" pitchFamily="34" charset="0"/>
                <a:ea typeface="Calibri" panose="020F0502020204030204" pitchFamily="34" charset="0"/>
                <a:cs typeface="Calibri" panose="020F0502020204030204" pitchFamily="34" charset="0"/>
              </a:rPr>
              <a:t> builds on BNN by adding geospatial and temporal context to news analysis, focusing on topic detection and tracking (TDT) for broadcast news and other sources.</a:t>
            </a:r>
          </a:p>
        </p:txBody>
      </p:sp>
      <p:pic>
        <p:nvPicPr>
          <p:cNvPr id="8" name="Content Placeholder 7">
            <a:extLst>
              <a:ext uri="{FF2B5EF4-FFF2-40B4-BE49-F238E27FC236}">
                <a16:creationId xmlns:a16="http://schemas.microsoft.com/office/drawing/2014/main" id="{5C97D7B2-7F1B-3730-F18B-0D421FC50DF2}"/>
              </a:ext>
            </a:extLst>
          </p:cNvPr>
          <p:cNvPicPr>
            <a:picLocks noGrp="1" noChangeAspect="1"/>
          </p:cNvPicPr>
          <p:nvPr>
            <p:ph sz="quarter" idx="14"/>
          </p:nvPr>
        </p:nvPicPr>
        <p:blipFill>
          <a:blip r:embed="rId2"/>
          <a:stretch>
            <a:fillRect/>
          </a:stretch>
        </p:blipFill>
        <p:spPr>
          <a:xfrm>
            <a:off x="5720352" y="2590800"/>
            <a:ext cx="5979499" cy="3723750"/>
          </a:xfrm>
        </p:spPr>
      </p:pic>
    </p:spTree>
    <p:extLst>
      <p:ext uri="{BB962C8B-B14F-4D97-AF65-F5344CB8AC3E}">
        <p14:creationId xmlns:p14="http://schemas.microsoft.com/office/powerpoint/2010/main" val="22881716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64CAD-22AA-C090-C2D5-CF49851C1B8F}"/>
              </a:ext>
            </a:extLst>
          </p:cNvPr>
          <p:cNvSpPr>
            <a:spLocks noGrp="1"/>
          </p:cNvSpPr>
          <p:nvPr>
            <p:ph type="title"/>
          </p:nvPr>
        </p:nvSpPr>
        <p:spPr/>
        <p:txBody>
          <a:bodyPr/>
          <a:lstStyle/>
          <a:p>
            <a:r>
              <a:rPr lang="en-US">
                <a:effectLst/>
              </a:rPr>
              <a:t>Map Display</a:t>
            </a:r>
            <a:endParaRPr lang="en-US" dirty="0"/>
          </a:p>
        </p:txBody>
      </p:sp>
      <p:sp>
        <p:nvSpPr>
          <p:cNvPr id="3" name="Content Placeholder 2">
            <a:extLst>
              <a:ext uri="{FF2B5EF4-FFF2-40B4-BE49-F238E27FC236}">
                <a16:creationId xmlns:a16="http://schemas.microsoft.com/office/drawing/2014/main" id="{88293DF5-1F33-1B05-720B-091214B2147C}"/>
              </a:ext>
            </a:extLst>
          </p:cNvPr>
          <p:cNvSpPr>
            <a:spLocks noGrp="1"/>
          </p:cNvSpPr>
          <p:nvPr>
            <p:ph sz="quarter" idx="13"/>
          </p:nvPr>
        </p:nvSpPr>
        <p:spPr>
          <a:xfrm>
            <a:off x="609601" y="1552575"/>
            <a:ext cx="4332514" cy="4438650"/>
          </a:xfrm>
        </p:spPr>
        <p:txBody>
          <a:bodyPr/>
          <a:lstStyle/>
          <a:p>
            <a:r>
              <a:rPr lang="en-US" sz="2600" dirty="0">
                <a:effectLst/>
                <a:latin typeface="Calibri" panose="020F0502020204030204" pitchFamily="34" charset="0"/>
                <a:ea typeface="Calibri" panose="020F0502020204030204" pitchFamily="34" charset="0"/>
                <a:cs typeface="Calibri" panose="020F0502020204030204" pitchFamily="34" charset="0"/>
              </a:rPr>
              <a:t>It visualizes the frequency of location mentions on a world map. Countries with more mentions are darker (e.g., North and South America are dark brown), and yellow circles indicate specific locations (larger circles for more mentions, e.g., South American capitals).</a:t>
            </a:r>
          </a:p>
          <a:p>
            <a:endParaRPr lang="en-US" sz="2600" dirty="0">
              <a:latin typeface="Calibri" panose="020F0502020204030204" pitchFamily="34" charset="0"/>
              <a:ea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10A9AE85-8862-D07A-5867-D3720C08C781}"/>
              </a:ext>
            </a:extLst>
          </p:cNvPr>
          <p:cNvPicPr>
            <a:picLocks noGrp="1" noChangeAspect="1"/>
          </p:cNvPicPr>
          <p:nvPr>
            <p:ph sz="quarter" idx="14"/>
          </p:nvPr>
        </p:nvPicPr>
        <p:blipFill>
          <a:blip r:embed="rId2"/>
          <a:stretch>
            <a:fillRect/>
          </a:stretch>
        </p:blipFill>
        <p:spPr>
          <a:xfrm>
            <a:off x="5048920" y="1312652"/>
            <a:ext cx="6623954" cy="5132754"/>
          </a:xfrm>
        </p:spPr>
      </p:pic>
    </p:spTree>
    <p:extLst>
      <p:ext uri="{BB962C8B-B14F-4D97-AF65-F5344CB8AC3E}">
        <p14:creationId xmlns:p14="http://schemas.microsoft.com/office/powerpoint/2010/main" val="26122958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effectLst/>
              </a:rPr>
              <a:t>Map Display (Fig. 10.8)</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Performance:</a:t>
            </a:r>
          </a:p>
          <a:p>
            <a:pPr lvl="1"/>
            <a:r>
              <a:rPr lang="en-US" sz="2600" dirty="0">
                <a:latin typeface="Calibri" panose="020F0502020204030204" pitchFamily="34" charset="0"/>
                <a:ea typeface="Calibri" panose="020F0502020204030204" pitchFamily="34" charset="0"/>
                <a:cs typeface="Calibri" panose="020F0502020204030204" pitchFamily="34" charset="0"/>
              </a:rPr>
              <a:t>In tests with 65,000 documents and 100 manually identified topics, </a:t>
            </a:r>
            <a:r>
              <a:rPr lang="en-US" sz="2600" dirty="0" err="1">
                <a:latin typeface="Calibri" panose="020F0502020204030204" pitchFamily="34" charset="0"/>
                <a:ea typeface="Calibri" panose="020F0502020204030204" pitchFamily="34" charset="0"/>
                <a:cs typeface="Calibri" panose="020F0502020204030204" pitchFamily="34" charset="0"/>
              </a:rPr>
              <a:t>GeoNODE</a:t>
            </a:r>
            <a:r>
              <a:rPr lang="en-US" sz="2600" dirty="0">
                <a:latin typeface="Calibri" panose="020F0502020204030204" pitchFamily="34" charset="0"/>
                <a:ea typeface="Calibri" panose="020F0502020204030204" pitchFamily="34" charset="0"/>
                <a:cs typeface="Calibri" panose="020F0502020204030204" pitchFamily="34" charset="0"/>
              </a:rPr>
              <a:t> identified over 80% of human-defined topics and detected 83% of stories within topics, with a 0.2% misclassification error—comparable to TDT initiative results.</a:t>
            </a:r>
          </a:p>
          <a:p>
            <a:r>
              <a:rPr lang="en-US" sz="2600" dirty="0">
                <a:latin typeface="Calibri" panose="020F0502020204030204" pitchFamily="34" charset="0"/>
                <a:ea typeface="Calibri" panose="020F0502020204030204" pitchFamily="34" charset="0"/>
                <a:cs typeface="Calibri" panose="020F0502020204030204" pitchFamily="34" charset="0"/>
              </a:rPr>
              <a:t>Applications:</a:t>
            </a:r>
          </a:p>
          <a:p>
            <a:pPr lvl="1"/>
            <a:r>
              <a:rPr lang="en-US" sz="2600" dirty="0" err="1">
                <a:latin typeface="Calibri" panose="020F0502020204030204" pitchFamily="34" charset="0"/>
                <a:ea typeface="Calibri" panose="020F0502020204030204" pitchFamily="34" charset="0"/>
                <a:cs typeface="Calibri" panose="020F0502020204030204" pitchFamily="34" charset="0"/>
              </a:rPr>
              <a:t>GeoNODE</a:t>
            </a:r>
            <a:r>
              <a:rPr lang="en-US" sz="2600" dirty="0">
                <a:latin typeface="Calibri" panose="020F0502020204030204" pitchFamily="34" charset="0"/>
                <a:ea typeface="Calibri" panose="020F0502020204030204" pitchFamily="34" charset="0"/>
                <a:cs typeface="Calibri" panose="020F0502020204030204" pitchFamily="34" charset="0"/>
              </a:rPr>
              <a:t> helps analysts navigate news by topic, time, and place, using data from diverse sources like broadcast video and online newspapers.</a:t>
            </a:r>
          </a:p>
        </p:txBody>
      </p:sp>
    </p:spTree>
    <p:extLst>
      <p:ext uri="{BB962C8B-B14F-4D97-AF65-F5344CB8AC3E}">
        <p14:creationId xmlns:p14="http://schemas.microsoft.com/office/powerpoint/2010/main" val="19135322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C877F8-C12C-D465-3754-D853ED60EC74}"/>
              </a:ext>
            </a:extLst>
          </p:cNvPr>
          <p:cNvSpPr>
            <a:spLocks noGrp="1"/>
          </p:cNvSpPr>
          <p:nvPr>
            <p:ph type="title"/>
          </p:nvPr>
        </p:nvSpPr>
        <p:spPr/>
        <p:txBody>
          <a:bodyPr/>
          <a:lstStyle/>
          <a:p>
            <a:r>
              <a:rPr lang="en-US" dirty="0"/>
              <a:t>BNN and </a:t>
            </a:r>
            <a:r>
              <a:rPr lang="en-US" dirty="0" err="1"/>
              <a:t>GeoNODE</a:t>
            </a:r>
            <a:endParaRPr lang="en-US" dirty="0"/>
          </a:p>
        </p:txBody>
      </p:sp>
      <p:sp>
        <p:nvSpPr>
          <p:cNvPr id="5" name="Content Placeholder 4">
            <a:extLst>
              <a:ext uri="{FF2B5EF4-FFF2-40B4-BE49-F238E27FC236}">
                <a16:creationId xmlns:a16="http://schemas.microsoft.com/office/drawing/2014/main" id="{34A1DB20-7BD9-1A8D-962C-D2B649A97648}"/>
              </a:ext>
            </a:extLst>
          </p:cNvPr>
          <p:cNvSpPr>
            <a:spLocks noGrp="1"/>
          </p:cNvSpPr>
          <p:nvPr>
            <p:ph sz="quarter" idx="13"/>
          </p:nvPr>
        </p:nvSpPr>
        <p:spPr/>
        <p:txBody>
          <a:bodyPr/>
          <a:lstStyle/>
          <a:p>
            <a:r>
              <a:rPr lang="en-US" sz="2600" dirty="0">
                <a:latin typeface="Calibri" panose="020F0502020204030204" pitchFamily="34" charset="0"/>
                <a:ea typeface="Calibri" panose="020F0502020204030204" pitchFamily="34" charset="0"/>
                <a:cs typeface="Calibri" panose="020F0502020204030204" pitchFamily="34" charset="0"/>
              </a:rPr>
              <a:t>Both systems highlight advancements in multimedia analysis:</a:t>
            </a:r>
          </a:p>
          <a:p>
            <a:endParaRPr lang="en-US" sz="2600" dirty="0">
              <a:latin typeface="Calibri" panose="020F0502020204030204" pitchFamily="34" charset="0"/>
              <a:ea typeface="Calibri" panose="020F0502020204030204" pitchFamily="34" charset="0"/>
              <a:cs typeface="Calibri" panose="020F0502020204030204" pitchFamily="34" charset="0"/>
            </a:endParaRPr>
          </a:p>
          <a:p>
            <a:pPr lvl="1"/>
            <a:r>
              <a:rPr lang="en-US" sz="2600" dirty="0">
                <a:latin typeface="Calibri" panose="020F0502020204030204" pitchFamily="34" charset="0"/>
                <a:ea typeface="Calibri" panose="020F0502020204030204" pitchFamily="34" charset="0"/>
                <a:cs typeface="Calibri" panose="020F0502020204030204" pitchFamily="34" charset="0"/>
              </a:rPr>
              <a:t>BNN focuses on story segmentation and content-based retrieval, improving speed and accuracy over manual methods.</a:t>
            </a:r>
          </a:p>
          <a:p>
            <a:pPr lvl="1"/>
            <a:r>
              <a:rPr lang="en-US" sz="2600" dirty="0" err="1">
                <a:latin typeface="Calibri" panose="020F0502020204030204" pitchFamily="34" charset="0"/>
                <a:ea typeface="Calibri" panose="020F0502020204030204" pitchFamily="34" charset="0"/>
                <a:cs typeface="Calibri" panose="020F0502020204030204" pitchFamily="34" charset="0"/>
              </a:rPr>
              <a:t>GeoNODE</a:t>
            </a:r>
            <a:r>
              <a:rPr lang="en-US" sz="2600" dirty="0">
                <a:latin typeface="Calibri" panose="020F0502020204030204" pitchFamily="34" charset="0"/>
                <a:ea typeface="Calibri" panose="020F0502020204030204" pitchFamily="34" charset="0"/>
                <a:cs typeface="Calibri" panose="020F0502020204030204" pitchFamily="34" charset="0"/>
              </a:rPr>
              <a:t> extends this with topic detection, tracking, and geospatial visualization, enabling deeper analysis of news trends.</a:t>
            </a:r>
          </a:p>
          <a:p>
            <a:pPr lvl="1"/>
            <a:r>
              <a:rPr lang="en-US" sz="2600" dirty="0">
                <a:latin typeface="Calibri" panose="020F0502020204030204" pitchFamily="34" charset="0"/>
                <a:ea typeface="Calibri" panose="020F0502020204030204" pitchFamily="34" charset="0"/>
                <a:cs typeface="Calibri" panose="020F0502020204030204" pitchFamily="34" charset="0"/>
              </a:rPr>
              <a:t>Future progress depends on multimedia corpora, standardized evaluation tasks, and machine learning to enhance extraction and analysis.</a:t>
            </a:r>
          </a:p>
        </p:txBody>
      </p:sp>
    </p:spTree>
    <p:extLst>
      <p:ext uri="{BB962C8B-B14F-4D97-AF65-F5344CB8AC3E}">
        <p14:creationId xmlns:p14="http://schemas.microsoft.com/office/powerpoint/2010/main" val="4068178682"/>
      </p:ext>
    </p:extLst>
  </p:cSld>
  <p:clrMapOvr>
    <a:masterClrMapping/>
  </p:clrMapOvr>
</p:sld>
</file>

<file path=ppt/theme/theme1.xml><?xml version="1.0" encoding="utf-8"?>
<a:theme xmlns:a="http://schemas.openxmlformats.org/drawingml/2006/main" name="Theme1">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85657D8B-285D-4C50-B385-9AC3AACB2766}" vid="{C5ED46CE-E51D-436F-8DE7-E0B859C0C593}"/>
    </a:ext>
  </a:ext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CE_PPT_TEMPLATE" id="{7685A1A2-185D-4A1C-8D9D-E042126D3D3B}" vid="{07DB275E-617F-44DD-850C-25F4BEA05830}"/>
    </a:ext>
  </a:extLst>
</a:theme>
</file>

<file path=docProps/app.xml><?xml version="1.0" encoding="utf-8"?>
<Properties xmlns="http://schemas.openxmlformats.org/officeDocument/2006/extended-properties" xmlns:vt="http://schemas.openxmlformats.org/officeDocument/2006/docPropsVTypes">
  <Template>Theme1</Template>
  <TotalTime>3405</TotalTime>
  <Words>4911</Words>
  <Application>Microsoft Office PowerPoint</Application>
  <PresentationFormat>Widescreen</PresentationFormat>
  <Paragraphs>354</Paragraphs>
  <Slides>85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85</vt:i4>
      </vt:variant>
    </vt:vector>
  </HeadingPairs>
  <TitlesOfParts>
    <vt:vector size="91" baseType="lpstr">
      <vt:lpstr>Arial</vt:lpstr>
      <vt:lpstr>Book Antiqua</vt:lpstr>
      <vt:lpstr>Calibri</vt:lpstr>
      <vt:lpstr>Times New Roman</vt:lpstr>
      <vt:lpstr>Theme1</vt:lpstr>
      <vt:lpstr>USHE_slide options</vt:lpstr>
      <vt:lpstr>Information Retrieval Systems</vt:lpstr>
      <vt:lpstr>AGENDA</vt:lpstr>
      <vt:lpstr>Introduction to Text Search Techniques</vt:lpstr>
      <vt:lpstr>Text Streaming Architecture</vt:lpstr>
      <vt:lpstr>Text Streaming Architecture</vt:lpstr>
      <vt:lpstr>How it works:</vt:lpstr>
      <vt:lpstr>PowerPoint Presentation</vt:lpstr>
      <vt:lpstr>Finite State Automata(FSA) in Text Search</vt:lpstr>
      <vt:lpstr>Automata Definition</vt:lpstr>
      <vt:lpstr>Finite State Automata Diagram - How it works</vt:lpstr>
      <vt:lpstr>Finite State Automata Diagram - How it works</vt:lpstr>
      <vt:lpstr>Finite State Automata Diagram</vt:lpstr>
      <vt:lpstr>Software Text Search Algorithms</vt:lpstr>
      <vt:lpstr>Brute Force Approach</vt:lpstr>
      <vt:lpstr>Brute Force Approach – Explanation of Formula</vt:lpstr>
      <vt:lpstr>Brute Force Approach - Example</vt:lpstr>
      <vt:lpstr>Knuth-Morris-Pratt (KMP)</vt:lpstr>
      <vt:lpstr>Knuth-Morris-Pratt (KMP) - Example</vt:lpstr>
      <vt:lpstr>Knuth-Morris-Pratt (KMP) - Example</vt:lpstr>
      <vt:lpstr>Knuth-Morris-Pratt (KMP) - Steps</vt:lpstr>
      <vt:lpstr>Knuth-Morris-Pratt (KMP) - Steps</vt:lpstr>
      <vt:lpstr>Boyer-Moore Algorithm</vt:lpstr>
      <vt:lpstr>Boyer-Moore Algorithm</vt:lpstr>
      <vt:lpstr>Boyer-Moore Algorithm</vt:lpstr>
      <vt:lpstr>Boyer-Moore Algorithm</vt:lpstr>
      <vt:lpstr>Aho-Corasick Algorithm</vt:lpstr>
      <vt:lpstr>Aho-Corasick Algorithm - GOTO Function</vt:lpstr>
      <vt:lpstr>Aho-Corasick Algorithm - Failure Function</vt:lpstr>
      <vt:lpstr>Aho-Corasick Algorithm - Output Function</vt:lpstr>
      <vt:lpstr>Shift-Add Algorithm</vt:lpstr>
      <vt:lpstr>Shift-Add Algorithm - Example</vt:lpstr>
      <vt:lpstr>Shift-Add Algorithm</vt:lpstr>
      <vt:lpstr>Shift-Add Algorithm</vt:lpstr>
      <vt:lpstr>Shift-Add Algorithm</vt:lpstr>
      <vt:lpstr>Hardware Text Search Systems - Introduction</vt:lpstr>
      <vt:lpstr>Hardware Text Search Systems - issues</vt:lpstr>
      <vt:lpstr>Hardware Text Search Systems - Architecture</vt:lpstr>
      <vt:lpstr>Hardware Text Search Systems - Architecture</vt:lpstr>
      <vt:lpstr>Hardware Text Search Systems - Term Detector Implementations</vt:lpstr>
      <vt:lpstr>Term Detector -  Parallel Comparators or Associative Memory</vt:lpstr>
      <vt:lpstr>Term Detector -  Cellular Structure</vt:lpstr>
      <vt:lpstr>Term Detector - Universal Finite State Automata (FSA)</vt:lpstr>
      <vt:lpstr>Term Detector - Universal Finite State Automata (FSA)</vt:lpstr>
      <vt:lpstr>Historical Development of Hardware Text Search Systems</vt:lpstr>
      <vt:lpstr>Historical Development of Hardware Text Search Systems</vt:lpstr>
      <vt:lpstr>Advantages of Hardware Text Search Systems</vt:lpstr>
      <vt:lpstr>Limitations</vt:lpstr>
      <vt:lpstr>Modern Applications</vt:lpstr>
      <vt:lpstr>Modern Applications</vt:lpstr>
      <vt:lpstr>Modern Applications</vt:lpstr>
      <vt:lpstr>Multimedia Information Retrieval</vt:lpstr>
      <vt:lpstr>Spoken Language Audio Retrieval</vt:lpstr>
      <vt:lpstr>Non-Speech Audio Retrieval</vt:lpstr>
      <vt:lpstr>Non-Speech Audio Retrieval</vt:lpstr>
      <vt:lpstr>Non-Speech Audio Retrieval</vt:lpstr>
      <vt:lpstr>Non-Speech Audio Retrieval</vt:lpstr>
      <vt:lpstr>Non-Speech Audio Retrieval</vt:lpstr>
      <vt:lpstr>PowerPoint Presentation</vt:lpstr>
      <vt:lpstr>Non-Speech Audio Retrieval - System Capabilities and Evaluation</vt:lpstr>
      <vt:lpstr>Graph Retrieval</vt:lpstr>
      <vt:lpstr>Graph Retrieval</vt:lpstr>
      <vt:lpstr>Graph Retrieval - How Does It Work?</vt:lpstr>
      <vt:lpstr>Graph Retrieval - How Does It Work?</vt:lpstr>
      <vt:lpstr>Graph Retrieval - How Does It Work?</vt:lpstr>
      <vt:lpstr>Graph Retrieval - How Does It Work?</vt:lpstr>
      <vt:lpstr>Applications </vt:lpstr>
      <vt:lpstr>Imagery Retrieval - content-based image retrieval (CBIR) systems like IBM's Query By Image Content (QBIC) system.</vt:lpstr>
      <vt:lpstr>QBIC System Overview</vt:lpstr>
      <vt:lpstr>Imagery Retrieval - content-based image retrieval (CBIR) systems like IBM's Query By Image Content (QBIC) system.</vt:lpstr>
      <vt:lpstr>Imagery Retrieval - content-based image retrieval (CBIR) systems like IBM's Query By Image Content (QBIC) system.</vt:lpstr>
      <vt:lpstr>Imagery Retrieval - content-based image retrieval (CBIR) systems like IBM's Query By Image Content (QBIC) system.</vt:lpstr>
      <vt:lpstr>Advanced Features of QBIC</vt:lpstr>
      <vt:lpstr>Extending CBIR to video retrieval</vt:lpstr>
      <vt:lpstr>Specialized Applications</vt:lpstr>
      <vt:lpstr>Specialized Applications</vt:lpstr>
      <vt:lpstr>Performance Metrics</vt:lpstr>
      <vt:lpstr>Video Retrieval</vt:lpstr>
      <vt:lpstr>Query Interface</vt:lpstr>
      <vt:lpstr>Detailed Query</vt:lpstr>
      <vt:lpstr>PowerPoint Presentation</vt:lpstr>
      <vt:lpstr>Story Details</vt:lpstr>
      <vt:lpstr>GeoNODE (Geospatial News on Demand Environment)</vt:lpstr>
      <vt:lpstr>Map Display</vt:lpstr>
      <vt:lpstr>Map Display (Fig. 10.8)</vt:lpstr>
      <vt:lpstr>BNN and GeoNODE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kalluri lakshmisri sai</dc:creator>
  <cp:lastModifiedBy>kalluri lakshmisri sai</cp:lastModifiedBy>
  <cp:revision>356</cp:revision>
  <dcterms:created xsi:type="dcterms:W3CDTF">2025-05-26T06:46:00Z</dcterms:created>
  <dcterms:modified xsi:type="dcterms:W3CDTF">2025-06-15T18:14:07Z</dcterms:modified>
</cp:coreProperties>
</file>